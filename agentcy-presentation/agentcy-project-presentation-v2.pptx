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9a1eac07464b8b" /><Relationship Type="http://schemas.openxmlformats.org/officeDocument/2006/relationships/extended-properties" Target="/docProps/app.xml" Id="Rc6cdc49882154937" /><Relationship Type="http://schemas.openxmlformats.org/officeDocument/2006/relationships/officeDocument" Target="/ppt/presentation.xml" Id="R176e0e279c9245ff" /></Relationships>
</file>

<file path=ppt/presentation.xml><?xml version="1.0" encoding="utf-8"?>
<p:presentation xmlns:p="http://schemas.openxmlformats.org/presentationml/2006/main">
  <p:sldMasterIdLst>
    <p:sldMasterId xmlns:r="http://schemas.openxmlformats.org/officeDocument/2006/relationships" id="2147483648" r:id="Rebada6f13da647f5"/>
  </p:sldMasterIdLst>
  <p:notesMasterIdLst>
    <p:notesMasterId xmlns:r="http://schemas.openxmlformats.org/officeDocument/2006/relationships" r:id="Rf88cbf67c20442a5"/>
  </p:notesMasterIdLst>
  <p:sldIdLst>
    <p:sldId xmlns:r="http://schemas.openxmlformats.org/officeDocument/2006/relationships" id="256" r:id="R03616bdeae6d419a"/>
    <p:sldId xmlns:r="http://schemas.openxmlformats.org/officeDocument/2006/relationships" id="257" r:id="R72bee8ae0920464e"/>
    <p:sldId xmlns:r="http://schemas.openxmlformats.org/officeDocument/2006/relationships" id="258" r:id="Rbd256a9427614731"/>
    <p:sldId xmlns:r="http://schemas.openxmlformats.org/officeDocument/2006/relationships" id="259" r:id="R84fe88e06d824927"/>
    <p:sldId xmlns:r="http://schemas.openxmlformats.org/officeDocument/2006/relationships" id="260" r:id="Raf7560daca7a462a"/>
    <p:sldId xmlns:r="http://schemas.openxmlformats.org/officeDocument/2006/relationships" id="261" r:id="R8242d22632d74424"/>
    <p:sldId xmlns:r="http://schemas.openxmlformats.org/officeDocument/2006/relationships" id="262" r:id="Rd3d5b9d315a74beb"/>
    <p:sldId xmlns:r="http://schemas.openxmlformats.org/officeDocument/2006/relationships" id="263" r:id="R4404fa7ecbf943f3"/>
    <p:sldId xmlns:r="http://schemas.openxmlformats.org/officeDocument/2006/relationships" id="264" r:id="R349d37df99944df3"/>
    <p:sldId xmlns:r="http://schemas.openxmlformats.org/officeDocument/2006/relationships" id="265" r:id="Rb386560ffd5347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2cde98463548bd" /><Relationship Type="http://schemas.openxmlformats.org/officeDocument/2006/relationships/slideMaster" Target="/ppt/slideMasters/slideMaster1.xml" Id="Rebada6f13da647f5" /><Relationship Type="http://schemas.openxmlformats.org/officeDocument/2006/relationships/notesMaster" Target="/ppt/notesMasters/notesMaster1.xml" Id="Rf88cbf67c20442a5" /><Relationship Type="http://schemas.openxmlformats.org/officeDocument/2006/relationships/presProps" Target="/ppt/presProps.xml" Id="R0e2862f3c0844193" /><Relationship Type="http://schemas.openxmlformats.org/officeDocument/2006/relationships/tableStyles" Target="/ppt/tableStyles.xml" Id="R9ff5fa2bb16340ff" /><Relationship Type="http://schemas.openxmlformats.org/officeDocument/2006/relationships/slide" Target="/ppt/slides/slide1.xml" Id="R03616bdeae6d419a" /><Relationship Type="http://schemas.openxmlformats.org/officeDocument/2006/relationships/slide" Target="/ppt/slides/slide2.xml" Id="R72bee8ae0920464e" /><Relationship Type="http://schemas.openxmlformats.org/officeDocument/2006/relationships/slide" Target="/ppt/slides/slide3.xml" Id="Rbd256a9427614731" /><Relationship Type="http://schemas.openxmlformats.org/officeDocument/2006/relationships/slide" Target="/ppt/slides/slide4.xml" Id="R84fe88e06d824927" /><Relationship Type="http://schemas.openxmlformats.org/officeDocument/2006/relationships/slide" Target="/ppt/slides/slide5.xml" Id="Raf7560daca7a462a" /><Relationship Type="http://schemas.openxmlformats.org/officeDocument/2006/relationships/slide" Target="/ppt/slides/slide6.xml" Id="R8242d22632d74424" /><Relationship Type="http://schemas.openxmlformats.org/officeDocument/2006/relationships/slide" Target="/ppt/slides/slide7.xml" Id="Rd3d5b9d315a74beb" /><Relationship Type="http://schemas.openxmlformats.org/officeDocument/2006/relationships/slide" Target="/ppt/slides/slide8.xml" Id="R4404fa7ecbf943f3" /><Relationship Type="http://schemas.openxmlformats.org/officeDocument/2006/relationships/slide" Target="/ppt/slides/slide9.xml" Id="R349d37df99944df3" /><Relationship Type="http://schemas.openxmlformats.org/officeDocument/2006/relationships/slide" Target="/ppt/slides/slide10.xml" Id="Rb386560ffd5347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4ca0b4e94642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fd784d118f4fd9" /><Relationship Type="http://schemas.openxmlformats.org/officeDocument/2006/relationships/notesMaster" Target="/ppt/notesMasters/notesMaster1.xml" Id="R7860d17c261245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75de46b4604ec0" /><Relationship Type="http://schemas.openxmlformats.org/officeDocument/2006/relationships/notesMaster" Target="/ppt/notesMasters/notesMaster1.xml" Id="R94244606c00f48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9e1cc2bb234635" /><Relationship Type="http://schemas.openxmlformats.org/officeDocument/2006/relationships/notesMaster" Target="/ppt/notesMasters/notesMaster1.xml" Id="Rcd1a85c68da047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e51ab0c2e04379" /><Relationship Type="http://schemas.openxmlformats.org/officeDocument/2006/relationships/notesMaster" Target="/ppt/notesMasters/notesMaster1.xml" Id="R66bd8b62846845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eb9afa037c4aac" /><Relationship Type="http://schemas.openxmlformats.org/officeDocument/2006/relationships/notesMaster" Target="/ppt/notesMasters/notesMaster1.xml" Id="R6ba3f661e2274b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45896c84aa43f2" /><Relationship Type="http://schemas.openxmlformats.org/officeDocument/2006/relationships/notesMaster" Target="/ppt/notesMasters/notesMaster1.xml" Id="Rbf891a267fce48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9f23bb907a4fae" /><Relationship Type="http://schemas.openxmlformats.org/officeDocument/2006/relationships/notesMaster" Target="/ppt/notesMasters/notesMaster1.xml" Id="R9e6e3c0286cc4d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ee3c3846e24c65" /><Relationship Type="http://schemas.openxmlformats.org/officeDocument/2006/relationships/notesMaster" Target="/ppt/notesMasters/notesMaster1.xml" Id="R9109773073c944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8c207671af4105" /><Relationship Type="http://schemas.openxmlformats.org/officeDocument/2006/relationships/notesMaster" Target="/ppt/notesMasters/notesMaster1.xml" Id="R33980677166543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f0c9bef01945c8" /><Relationship Type="http://schemas.openxmlformats.org/officeDocument/2006/relationships/notesMaster" Target="/ppt/notesMasters/notesMaster1.xml" Id="R151e1b8987cd40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(project description); frontend/src/assets/hero.png (original project 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frontend/README.md. The problem framing summarizes the project's stated product claim and product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frontend/README.md; image-studio.png (original project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backend/app/agents/planner.py; backend/app/rag/store.py; backend/README.md. The ordering and rationale requirements come from the planner's documented source hierarchy.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backend/app/domain.py; frontend/src/components/os/StudioShell.tsx; frontend/src/components/os/GateShell.tsx; hub.png (original project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backend/app/agents/crew.py; backend/app/domain.py; README.md; seed/assets/aef9984d06024e29953322308de8ffe7.png (included project seed creative). No commercial performance claim is implied by this example 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'Video studio' and 'Cinematic trailer' descriptions; seed/assets/3cb31ef9189d462fa10a141793967f52.png (included project trailer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frontend/README.md; frontend/src/components/os/AgentStation.tsx; frontend/src/components/os/GateShell.tsx; history-work.png (original project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backend/README.md; backend/app/domain.py; backend/app/agents/crew.py; backend/app/rag/store.py.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frontend/README.md; frontend/src/assets/hero.png. The final evaluation proposal is a recommendation, not a completed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7e648289a64e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c1de8bbbdd4ca1" /><Relationship Type="http://schemas.openxmlformats.org/officeDocument/2006/relationships/slideLayout" Target="/ppt/slideLayouts/slideLayout1.xml" Id="R9cfffad60cc641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fffad60cc641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ffa66e1ba3b4891" /><Relationship Type="http://schemas.openxmlformats.org/officeDocument/2006/relationships/image" Target="/ppt/media/image.png" Id="Rb5d77db99a244cc9" /><Relationship Type="http://schemas.openxmlformats.org/officeDocument/2006/relationships/notesSlide" Target="/ppt/notesSlides/notesSlide1.xml" Id="R1626995ecf3642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cf0d668c2d4831" /><Relationship Type="http://schemas.openxmlformats.org/officeDocument/2006/relationships/notesSlide" Target="/ppt/notesSlides/notesSlide2.xml" Id="Rc0d0b9467cdb43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171f14009a4e74" /><Relationship Type="http://schemas.openxmlformats.org/officeDocument/2006/relationships/image" Target="/ppt/media/image2.png" Id="R42d327ba5a744d95" /><Relationship Type="http://schemas.openxmlformats.org/officeDocument/2006/relationships/notesSlide" Target="/ppt/notesSlides/notesSlide3.xml" Id="R7fa2c7fa5d2740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db7f3db1394d1f" /><Relationship Type="http://schemas.openxmlformats.org/officeDocument/2006/relationships/notesSlide" Target="/ppt/notesSlides/notesSlide4.xml" Id="R7431a2aac41f47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8097e29ec4948cb" /><Relationship Type="http://schemas.openxmlformats.org/officeDocument/2006/relationships/image" Target="/ppt/media/image3.png" Id="R9b8a177d5c0f4f11" /><Relationship Type="http://schemas.openxmlformats.org/officeDocument/2006/relationships/notesSlide" Target="/ppt/notesSlides/notesSlide5.xml" Id="Rf12b2014bc4b48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ef324e818434588" /><Relationship Type="http://schemas.openxmlformats.org/officeDocument/2006/relationships/image" Target="/ppt/media/image4.png" Id="R52dbd5f0e8b84ae6" /><Relationship Type="http://schemas.openxmlformats.org/officeDocument/2006/relationships/notesSlide" Target="/ppt/notesSlides/notesSlide6.xml" Id="R8895165e794243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25deaad17e4b26" /><Relationship Type="http://schemas.openxmlformats.org/officeDocument/2006/relationships/image" Target="/ppt/media/image5.png" Id="R0ef8cfc16587403c" /><Relationship Type="http://schemas.openxmlformats.org/officeDocument/2006/relationships/notesSlide" Target="/ppt/notesSlides/notesSlide7.xml" Id="R2a5f3a7221f94b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b1286cb6e154e67" /><Relationship Type="http://schemas.openxmlformats.org/officeDocument/2006/relationships/image" Target="/ppt/media/image6.png" Id="Ra1558b9672994926" /><Relationship Type="http://schemas.openxmlformats.org/officeDocument/2006/relationships/notesSlide" Target="/ppt/notesSlides/notesSlide8.xml" Id="R0e2eb50bc2034e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a959814b24145ef" /><Relationship Type="http://schemas.openxmlformats.org/officeDocument/2006/relationships/notesSlide" Target="/ppt/notesSlides/notesSlide9.xml" Id="R94c580f7bbdb42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734e689b0d46c5" /><Relationship Type="http://schemas.openxmlformats.org/officeDocument/2006/relationships/image" Target="/ppt/media/image7.png" Id="R3d5fb03bbb4e4657" /><Relationship Type="http://schemas.openxmlformats.org/officeDocument/2006/relationships/notesSlide" Target="/ppt/notesSlides/notesSlide10.xml" Id="R33c8dcbd41e349b8" /></Relationships>
</file>

<file path=ppt/slides/slide1.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878389-16AA-458A-B1A2-9947660E855E}"/>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B08C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4D0572A-BF3B-43F7-8477-21F8C111EA0E}"/>
              </a:ext>
            </a:extLst>
          </p:cNvPr>
          <p:cNvSpPr>
            <a:spLocks xmlns:a="http://schemas.openxmlformats.org/drawingml/2006/main" noGrp="1"/>
          </p:cNvSpPr>
          <p:nvPr/>
        </p:nvSpPr>
        <p:spPr>
          <a:xfrm xmlns:a="http://schemas.openxmlformats.org/drawingml/2006/main">
            <a:off x="685800" y="7048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B08CFF"/>
                </a:solidFill>
                <a:latin typeface="Helvetica Neue"/>
                <a:ea typeface="Helvetica Neue"/>
                <a:cs typeface="Helvetica Neue"/>
              </a:defRPr>
            </a:pPr>
            <a:r>
              <a:rPr sz="900" b="1">
                <a:solidFill>
                  <a:srgbClr val="B08CFF"/>
                </a:solidFill>
                <a:latin typeface="Helvetica Neue"/>
                <a:ea typeface="Helvetica Neue"/>
                <a:cs typeface="Helvetica Neue"/>
              </a:rPr>
              <a:t>PROJECT PRESENTATION</a:t>
            </a:r>
          </a:p>
        </p:txBody>
      </p:sp>
      <p:sp>
        <p:nvSpPr>
          <p:cNvPr id="3" name="">
            <a:extLst xmlns:a="http://schemas.openxmlformats.org/drawingml/2006/main">
              <a:ext uri="{FF2B5EF4-FFF2-40B4-BE49-F238E27FC236}">
                <a16:creationId xmlns:a16="http://schemas.microsoft.com/office/drawing/2014/main" id="{DFE7C700-B791-4840-B887-7CB492659901}"/>
              </a:ext>
            </a:extLst>
          </p:cNvPr>
          <p:cNvSpPr>
            <a:spLocks xmlns:a="http://schemas.openxmlformats.org/drawingml/2006/main" noGrp="1"/>
          </p:cNvSpPr>
          <p:nvPr/>
        </p:nvSpPr>
        <p:spPr>
          <a:xfrm xmlns:a="http://schemas.openxmlformats.org/drawingml/2006/main">
            <a:off x="685800" y="1257300"/>
            <a:ext cx="54768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800" b="1">
                <a:solidFill>
                  <a:srgbClr val="F1F3F8"/>
                </a:solidFill>
                <a:latin typeface="Helvetica Neue"/>
                <a:ea typeface="Helvetica Neue"/>
                <a:cs typeface="Helvetica Neue"/>
              </a:defRPr>
            </a:pPr>
            <a:r>
              <a:rPr sz="4800" b="1">
                <a:solidFill>
                  <a:srgbClr val="F1F3F8"/>
                </a:solidFill>
                <a:latin typeface="Helvetica Neue"/>
                <a:ea typeface="Helvetica Neue"/>
                <a:cs typeface="Helvetica Neue"/>
              </a:rPr>
              <a:t>Agentcy</a:t>
            </a:r>
          </a:p>
        </p:txBody>
      </p:sp>
      <p:sp>
        <p:nvSpPr>
          <p:cNvPr id="4" name="">
            <a:extLst xmlns:a="http://schemas.openxmlformats.org/drawingml/2006/main">
              <a:ext uri="{FF2B5EF4-FFF2-40B4-BE49-F238E27FC236}">
                <a16:creationId xmlns:a16="http://schemas.microsoft.com/office/drawing/2014/main" id="{C5B679A7-1B11-4F58-AA28-182C6D968ECC}"/>
              </a:ext>
            </a:extLst>
          </p:cNvPr>
          <p:cNvSpPr>
            <a:spLocks xmlns:a="http://schemas.openxmlformats.org/drawingml/2006/main" noGrp="1"/>
          </p:cNvSpPr>
          <p:nvPr/>
        </p:nvSpPr>
        <p:spPr>
          <a:xfrm xmlns:a="http://schemas.openxmlformats.org/drawingml/2006/main">
            <a:off x="685800" y="2286000"/>
            <a:ext cx="542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72"/>
          </a:bodyPr>
          <a:lstStyle xmlns:a="http://schemas.openxmlformats.org/drawingml/2006/main"/>
          <a:p xmlns:a="http://schemas.openxmlformats.org/drawingml/2006/main">
            <a:pPr algn="l">
              <a:lnSpc>
                <a:spcPct val="104000"/>
              </a:lnSpc>
              <a:buNone/>
              <a:defRPr sz="2250" b="0">
                <a:solidFill>
                  <a:srgbClr val="A5ACB9"/>
                </a:solidFill>
                <a:latin typeface="Helvetica Neue"/>
                <a:ea typeface="Helvetica Neue"/>
                <a:cs typeface="Helvetica Neue"/>
              </a:defRPr>
            </a:pPr>
            <a:r>
              <a:rPr sz="2250" b="0">
                <a:solidFill>
                  <a:srgbClr val="A5ACB9"/>
                </a:solidFill>
                <a:latin typeface="Helvetica Neue"/>
                <a:ea typeface="Helvetica Neue"/>
                <a:cs typeface="Helvetica Neue"/>
              </a:rPr>
              <a:t>AI campaign production for Malaysian SMEs</a:t>
            </a:r>
          </a:p>
        </p:txBody>
      </p:sp>
      <p:sp>
        <p:nvSpPr>
          <p:cNvPr id="5" name="">
            <a:extLst xmlns:a="http://schemas.openxmlformats.org/drawingml/2006/main">
              <a:ext uri="{FF2B5EF4-FFF2-40B4-BE49-F238E27FC236}">
                <a16:creationId xmlns:a16="http://schemas.microsoft.com/office/drawing/2014/main" id="{E4E1990C-2D2F-4CFB-9C75-3B3E043B39B5}"/>
              </a:ext>
            </a:extLst>
          </p:cNvPr>
          <p:cNvSpPr>
            <a:spLocks xmlns:a="http://schemas.openxmlformats.org/drawingml/2006/main" noGrp="1"/>
          </p:cNvSpPr>
          <p:nvPr/>
        </p:nvSpPr>
        <p:spPr>
          <a:xfrm xmlns:a="http://schemas.openxmlformats.org/drawingml/2006/main">
            <a:off x="685800" y="3181350"/>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575" b="0">
                <a:solidFill>
                  <a:srgbClr val="F1F3F8"/>
                </a:solidFill>
                <a:latin typeface="Helvetica Neue"/>
                <a:ea typeface="Helvetica Neue"/>
                <a:cs typeface="Helvetica Neue"/>
              </a:defRPr>
            </a:pPr>
            <a:r>
              <a:rPr sz="1575" b="0">
                <a:solidFill>
                  <a:srgbClr val="F1F3F8"/>
                </a:solidFill>
                <a:latin typeface="Helvetica Neue"/>
                <a:ea typeface="Helvetica Neue"/>
                <a:cs typeface="Helvetica Neue"/>
              </a:rPr>
              <a:t>A visible workflow for ideas, imagery and video, with human approval at the points that matter.</a:t>
            </a:r>
          </a:p>
        </p:txBody>
      </p:sp>
      <p:sp>
        <p:nvSpPr>
          <p:cNvPr id="6" name="">
            <a:extLst xmlns:a="http://schemas.openxmlformats.org/drawingml/2006/main">
              <a:ext uri="{FF2B5EF4-FFF2-40B4-BE49-F238E27FC236}">
                <a16:creationId xmlns:a16="http://schemas.microsoft.com/office/drawing/2014/main" id="{149F197B-C51A-49D3-90F8-EFAC2DF0E0E1}"/>
              </a:ext>
            </a:extLst>
          </p:cNvPr>
          <p:cNvSpPr>
            <a:spLocks xmlns:a="http://schemas.openxmlformats.org/drawingml/2006/main" noGrp="1"/>
          </p:cNvSpPr>
          <p:nvPr/>
        </p:nvSpPr>
        <p:spPr>
          <a:xfrm xmlns:a="http://schemas.openxmlformats.org/drawingml/2006/main">
            <a:off x="685800" y="4591050"/>
            <a:ext cx="3143250" cy="28575"/>
          </a:xfrm>
          <a:prstGeom xmlns:a="http://schemas.openxmlformats.org/drawingml/2006/main" prst="rect">
            <a:avLst/>
          </a:prstGeom>
          <a:solidFill xmlns:a="http://schemas.openxmlformats.org/drawingml/2006/main">
            <a:srgbClr val="B08C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E72A076-FF6E-4B3B-9D07-9C17DE4CA165}"/>
              </a:ext>
            </a:extLst>
          </p:cNvPr>
          <p:cNvSpPr>
            <a:spLocks xmlns:a="http://schemas.openxmlformats.org/drawingml/2006/main" noGrp="1"/>
          </p:cNvSpPr>
          <p:nvPr/>
        </p:nvSpPr>
        <p:spPr>
          <a:xfrm xmlns:a="http://schemas.openxmlformats.org/drawingml/2006/main">
            <a:off x="685800" y="481965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687080"/>
                </a:solidFill>
                <a:latin typeface="Helvetica Neue"/>
                <a:ea typeface="Helvetica Neue"/>
                <a:cs typeface="Helvetica Neue"/>
              </a:defRPr>
            </a:pPr>
            <a:r>
              <a:rPr sz="1050" b="0">
                <a:solidFill>
                  <a:srgbClr val="687080"/>
                </a:solidFill>
                <a:latin typeface="Helvetica Neue"/>
                <a:ea typeface="Helvetica Neue"/>
                <a:cs typeface="Helvetica Neue"/>
              </a:rPr>
              <a:t>September 2026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5d77db99a244cc9"/>
          <a:stretch xmlns:a="http://schemas.openxmlformats.org/drawingml/2006/main"/>
        </p:blipFill>
        <p:spPr>
          <a:xfrm xmlns:a="http://schemas.openxmlformats.org/drawingml/2006/main">
            <a:off x="7000875" y="1548326"/>
            <a:ext cx="3429000" cy="3608948"/>
          </a:xfrm>
          <a:prstGeom xmlns:a="http://schemas.openxmlformats.org/drawingml/2006/main" prst="roundRect">
            <a:avLst>
              <a:gd name="adj" fmla="val 4444"/>
            </a:avLst>
          </a:prstGeom>
        </p:spPr>
      </p:pic>
    </p:spTree>
    <p:extLst>
      <p:ext uri="{BB962C8B-B14F-4D97-AF65-F5344CB8AC3E}">
        <p14:creationId xmlns:p14="http://schemas.microsoft.com/office/powerpoint/2010/main" val="1983372380"/>
      </p:ext>
    </p:extLst>
  </p:cSld>
</p:sld>
</file>

<file path=ppt/slides/slide2.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91DEA64-270B-46ED-8D00-D7792F660D90}"/>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BE6A"/>
                </a:solidFill>
                <a:latin typeface="Helvetica Neue"/>
                <a:ea typeface="Helvetica Neue"/>
                <a:cs typeface="Helvetica Neue"/>
              </a:defRPr>
            </a:pPr>
            <a:r>
              <a:rPr sz="900" b="1">
                <a:solidFill>
                  <a:srgbClr val="FFBE6A"/>
                </a:solidFill>
                <a:latin typeface="Helvetica Neue"/>
                <a:ea typeface="Helvetica Neue"/>
                <a:cs typeface="Helvetica Neue"/>
              </a:rPr>
              <a:t>02</a:t>
            </a:r>
          </a:p>
        </p:txBody>
      </p:sp>
      <p:sp>
        <p:nvSpPr>
          <p:cNvPr id="2" name="">
            <a:extLst xmlns:a="http://schemas.openxmlformats.org/drawingml/2006/main">
              <a:ext uri="{FF2B5EF4-FFF2-40B4-BE49-F238E27FC236}">
                <a16:creationId xmlns:a16="http://schemas.microsoft.com/office/drawing/2014/main" id="{A7845B02-645B-4FC3-9FE7-E26AFBBB3286}"/>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The campaign-production gap</a:t>
            </a:r>
          </a:p>
        </p:txBody>
      </p:sp>
      <p:sp>
        <p:nvSpPr>
          <p:cNvPr id="3" name="">
            <a:extLst xmlns:a="http://schemas.openxmlformats.org/drawingml/2006/main">
              <a:ext uri="{FF2B5EF4-FFF2-40B4-BE49-F238E27FC236}">
                <a16:creationId xmlns:a16="http://schemas.microsoft.com/office/drawing/2014/main" id="{0B4ECE95-41EF-4577-9D86-891544DF5F67}"/>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25"/>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SMEs want the speed of generative tools without giving up their brand truth or publishing decisions.</a:t>
            </a:r>
          </a:p>
        </p:txBody>
      </p:sp>
      <p:sp>
        <p:nvSpPr>
          <p:cNvPr id="4" name="">
            <a:extLst xmlns:a="http://schemas.openxmlformats.org/drawingml/2006/main">
              <a:ext uri="{FF2B5EF4-FFF2-40B4-BE49-F238E27FC236}">
                <a16:creationId xmlns:a16="http://schemas.microsoft.com/office/drawing/2014/main" id="{176D2696-3214-4434-8D75-E8D08FF23699}"/>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E96F6C5-3490-425C-A663-0968F58645DD}"/>
              </a:ext>
            </a:extLst>
          </p:cNvPr>
          <p:cNvSpPr>
            <a:spLocks xmlns:a="http://schemas.openxmlformats.org/drawingml/2006/main" noGrp="1"/>
          </p:cNvSpPr>
          <p:nvPr/>
        </p:nvSpPr>
        <p:spPr>
          <a:xfrm xmlns:a="http://schemas.openxmlformats.org/drawingml/2006/main">
            <a:off x="685800" y="2638425"/>
            <a:ext cx="6572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930"/>
          </a:bodyPr>
          <a:lstStyle xmlns:a="http://schemas.openxmlformats.org/drawingml/2006/main"/>
          <a:p xmlns:a="http://schemas.openxmlformats.org/drawingml/2006/main">
            <a:pPr algn="l">
              <a:lnSpc>
                <a:spcPct val="106000"/>
              </a:lnSpc>
              <a:buNone/>
              <a:defRPr sz="2325" b="1">
                <a:solidFill>
                  <a:srgbClr val="F1F3F8"/>
                </a:solidFill>
                <a:latin typeface="Helvetica Neue"/>
                <a:ea typeface="Helvetica Neue"/>
                <a:cs typeface="Helvetica Neue"/>
              </a:defRPr>
            </a:pPr>
            <a:r>
              <a:rPr sz="2325" b="1">
                <a:solidFill>
                  <a:srgbClr val="F1F3F8"/>
                </a:solidFill>
                <a:latin typeface="Helvetica Neue"/>
                <a:ea typeface="Helvetica Neue"/>
                <a:cs typeface="Helvetica Neue"/>
              </a:rPr>
              <a:t>The hard part is not generating a first draft. It is keeping product claims, campaign context and human judgment attached to the work as it moves toward publication.</a:t>
            </a:r>
          </a:p>
        </p:txBody>
      </p:sp>
      <p:sp>
        <p:nvSpPr>
          <p:cNvPr id="6" name="">
            <a:extLst xmlns:a="http://schemas.openxmlformats.org/drawingml/2006/main">
              <a:ext uri="{FF2B5EF4-FFF2-40B4-BE49-F238E27FC236}">
                <a16:creationId xmlns:a16="http://schemas.microsoft.com/office/drawing/2014/main" id="{0EF7DC73-17A8-4BE5-B1CE-3DF8B3775C52}"/>
              </a:ext>
            </a:extLst>
          </p:cNvPr>
          <p:cNvSpPr>
            <a:spLocks xmlns:a="http://schemas.openxmlformats.org/drawingml/2006/main" noGrp="1"/>
          </p:cNvSpPr>
          <p:nvPr/>
        </p:nvSpPr>
        <p:spPr>
          <a:xfrm xmlns:a="http://schemas.openxmlformats.org/drawingml/2006/main">
            <a:off x="7981950" y="2733675"/>
            <a:ext cx="47625" cy="723900"/>
          </a:xfrm>
          <a:prstGeom xmlns:a="http://schemas.openxmlformats.org/drawingml/2006/main" prst="rect">
            <a:avLst/>
          </a:prstGeom>
          <a:solidFill xmlns:a="http://schemas.openxmlformats.org/drawingml/2006/main">
            <a:srgbClr val="FFBE6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DAE9563-A64F-4B73-BE05-483E798C8E1E}"/>
              </a:ext>
            </a:extLst>
          </p:cNvPr>
          <p:cNvSpPr>
            <a:spLocks xmlns:a="http://schemas.openxmlformats.org/drawingml/2006/main" noGrp="1"/>
          </p:cNvSpPr>
          <p:nvPr/>
        </p:nvSpPr>
        <p:spPr>
          <a:xfrm xmlns:a="http://schemas.openxmlformats.org/drawingml/2006/main">
            <a:off x="8229600" y="27051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1F3F8"/>
                </a:solidFill>
                <a:latin typeface="Helvetica Neue"/>
                <a:ea typeface="Helvetica Neue"/>
                <a:cs typeface="Helvetica Neue"/>
              </a:defRPr>
            </a:pPr>
            <a:r>
              <a:rPr sz="1425" b="1">
                <a:solidFill>
                  <a:srgbClr val="F1F3F8"/>
                </a:solidFill>
                <a:latin typeface="Helvetica Neue"/>
                <a:ea typeface="Helvetica Neue"/>
                <a:cs typeface="Helvetica Neue"/>
              </a:rPr>
              <a:t>Brand truth</a:t>
            </a:r>
          </a:p>
        </p:txBody>
      </p:sp>
      <p:sp>
        <p:nvSpPr>
          <p:cNvPr id="8" name="">
            <a:extLst xmlns:a="http://schemas.openxmlformats.org/drawingml/2006/main">
              <a:ext uri="{FF2B5EF4-FFF2-40B4-BE49-F238E27FC236}">
                <a16:creationId xmlns:a16="http://schemas.microsoft.com/office/drawing/2014/main" id="{7B974545-1A4B-4389-A617-F855208E3901}"/>
              </a:ext>
            </a:extLst>
          </p:cNvPr>
          <p:cNvSpPr>
            <a:spLocks xmlns:a="http://schemas.openxmlformats.org/drawingml/2006/main" noGrp="1"/>
          </p:cNvSpPr>
          <p:nvPr/>
        </p:nvSpPr>
        <p:spPr>
          <a:xfrm xmlns:a="http://schemas.openxmlformats.org/drawingml/2006/main">
            <a:off x="8229600" y="3038475"/>
            <a:ext cx="3000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a:solidFill>
                  <a:srgbClr val="A5ACB9"/>
                </a:solidFill>
                <a:latin typeface="Helvetica Neue"/>
                <a:ea typeface="Helvetica Neue"/>
                <a:cs typeface="Helvetica Neue"/>
              </a:defRPr>
            </a:pPr>
            <a:r>
              <a:rPr sz="1200" b="0">
                <a:solidFill>
                  <a:srgbClr val="A5ACB9"/>
                </a:solidFill>
                <a:latin typeface="Helvetica Neue"/>
                <a:ea typeface="Helvetica Neue"/>
                <a:cs typeface="Helvetica Neue"/>
              </a:rPr>
              <a:t>Product facts and restrictions must govern every concept.</a:t>
            </a:r>
          </a:p>
        </p:txBody>
      </p:sp>
      <p:sp>
        <p:nvSpPr>
          <p:cNvPr id="9" name="">
            <a:extLst xmlns:a="http://schemas.openxmlformats.org/drawingml/2006/main">
              <a:ext uri="{FF2B5EF4-FFF2-40B4-BE49-F238E27FC236}">
                <a16:creationId xmlns:a16="http://schemas.microsoft.com/office/drawing/2014/main" id="{1687C9C6-03E0-43CC-BE9C-510D33F577EA}"/>
              </a:ext>
            </a:extLst>
          </p:cNvPr>
          <p:cNvSpPr>
            <a:spLocks xmlns:a="http://schemas.openxmlformats.org/drawingml/2006/main" noGrp="1"/>
          </p:cNvSpPr>
          <p:nvPr/>
        </p:nvSpPr>
        <p:spPr>
          <a:xfrm xmlns:a="http://schemas.openxmlformats.org/drawingml/2006/main">
            <a:off x="7981950" y="3781425"/>
            <a:ext cx="47625" cy="723900"/>
          </a:xfrm>
          <a:prstGeom xmlns:a="http://schemas.openxmlformats.org/drawingml/2006/main" prst="rect">
            <a:avLst/>
          </a:prstGeom>
          <a:solidFill xmlns:a="http://schemas.openxmlformats.org/drawingml/2006/main">
            <a:srgbClr val="FFBE6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E45C276-9E68-45AA-AD4E-FB6E6E216D9A}"/>
              </a:ext>
            </a:extLst>
          </p:cNvPr>
          <p:cNvSpPr>
            <a:spLocks xmlns:a="http://schemas.openxmlformats.org/drawingml/2006/main" noGrp="1"/>
          </p:cNvSpPr>
          <p:nvPr/>
        </p:nvSpPr>
        <p:spPr>
          <a:xfrm xmlns:a="http://schemas.openxmlformats.org/drawingml/2006/main">
            <a:off x="8229600" y="3752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1F3F8"/>
                </a:solidFill>
                <a:latin typeface="Helvetica Neue"/>
                <a:ea typeface="Helvetica Neue"/>
                <a:cs typeface="Helvetica Neue"/>
              </a:defRPr>
            </a:pPr>
            <a:r>
              <a:rPr sz="1425" b="1">
                <a:solidFill>
                  <a:srgbClr val="F1F3F8"/>
                </a:solidFill>
                <a:latin typeface="Helvetica Neue"/>
                <a:ea typeface="Helvetica Neue"/>
                <a:cs typeface="Helvetica Neue"/>
              </a:rPr>
              <a:t>Local context</a:t>
            </a:r>
          </a:p>
        </p:txBody>
      </p:sp>
      <p:sp>
        <p:nvSpPr>
          <p:cNvPr id="11" name="">
            <a:extLst xmlns:a="http://schemas.openxmlformats.org/drawingml/2006/main">
              <a:ext uri="{FF2B5EF4-FFF2-40B4-BE49-F238E27FC236}">
                <a16:creationId xmlns:a16="http://schemas.microsoft.com/office/drawing/2014/main" id="{885C03F2-3D3F-4EB5-ABEB-021FD5326723}"/>
              </a:ext>
            </a:extLst>
          </p:cNvPr>
          <p:cNvSpPr>
            <a:spLocks xmlns:a="http://schemas.openxmlformats.org/drawingml/2006/main" noGrp="1"/>
          </p:cNvSpPr>
          <p:nvPr/>
        </p:nvSpPr>
        <p:spPr>
          <a:xfrm xmlns:a="http://schemas.openxmlformats.org/drawingml/2006/main">
            <a:off x="8229600" y="4086225"/>
            <a:ext cx="3000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a:solidFill>
                  <a:srgbClr val="A5ACB9"/>
                </a:solidFill>
                <a:latin typeface="Helvetica Neue"/>
                <a:ea typeface="Helvetica Neue"/>
                <a:cs typeface="Helvetica Neue"/>
              </a:defRPr>
            </a:pPr>
            <a:r>
              <a:rPr sz="1200" b="0">
                <a:solidFill>
                  <a:srgbClr val="A5ACB9"/>
                </a:solidFill>
                <a:latin typeface="Helvetica Neue"/>
                <a:ea typeface="Helvetica Neue"/>
                <a:cs typeface="Helvetica Neue"/>
              </a:rPr>
              <a:t>Trend signals can inspire an angle, but they cannot become a product claim.</a:t>
            </a:r>
          </a:p>
        </p:txBody>
      </p:sp>
      <p:sp>
        <p:nvSpPr>
          <p:cNvPr id="12" name="">
            <a:extLst xmlns:a="http://schemas.openxmlformats.org/drawingml/2006/main">
              <a:ext uri="{FF2B5EF4-FFF2-40B4-BE49-F238E27FC236}">
                <a16:creationId xmlns:a16="http://schemas.microsoft.com/office/drawing/2014/main" id="{4BAA5B6C-B75A-437E-A8CD-702F9368D917}"/>
              </a:ext>
            </a:extLst>
          </p:cNvPr>
          <p:cNvSpPr>
            <a:spLocks xmlns:a="http://schemas.openxmlformats.org/drawingml/2006/main" noGrp="1"/>
          </p:cNvSpPr>
          <p:nvPr/>
        </p:nvSpPr>
        <p:spPr>
          <a:xfrm xmlns:a="http://schemas.openxmlformats.org/drawingml/2006/main">
            <a:off x="7981950" y="4829175"/>
            <a:ext cx="47625" cy="723900"/>
          </a:xfrm>
          <a:prstGeom xmlns:a="http://schemas.openxmlformats.org/drawingml/2006/main" prst="rect">
            <a:avLst/>
          </a:prstGeom>
          <a:solidFill xmlns:a="http://schemas.openxmlformats.org/drawingml/2006/main">
            <a:srgbClr val="FFBE6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368FDF6-4580-4077-AB07-ED44FAA856F1}"/>
              </a:ext>
            </a:extLst>
          </p:cNvPr>
          <p:cNvSpPr>
            <a:spLocks xmlns:a="http://schemas.openxmlformats.org/drawingml/2006/main" noGrp="1"/>
          </p:cNvSpPr>
          <p:nvPr/>
        </p:nvSpPr>
        <p:spPr>
          <a:xfrm xmlns:a="http://schemas.openxmlformats.org/drawingml/2006/main">
            <a:off x="8229600" y="48006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1F3F8"/>
                </a:solidFill>
                <a:latin typeface="Helvetica Neue"/>
                <a:ea typeface="Helvetica Neue"/>
                <a:cs typeface="Helvetica Neue"/>
              </a:defRPr>
            </a:pPr>
            <a:r>
              <a:rPr sz="1425" b="1">
                <a:solidFill>
                  <a:srgbClr val="F1F3F8"/>
                </a:solidFill>
                <a:latin typeface="Helvetica Neue"/>
                <a:ea typeface="Helvetica Neue"/>
                <a:cs typeface="Helvetica Neue"/>
              </a:rPr>
              <a:t>Final control</a:t>
            </a:r>
          </a:p>
        </p:txBody>
      </p:sp>
      <p:sp>
        <p:nvSpPr>
          <p:cNvPr id="14" name="">
            <a:extLst xmlns:a="http://schemas.openxmlformats.org/drawingml/2006/main">
              <a:ext uri="{FF2B5EF4-FFF2-40B4-BE49-F238E27FC236}">
                <a16:creationId xmlns:a16="http://schemas.microsoft.com/office/drawing/2014/main" id="{9EDB7C05-6F80-47F1-8221-69BC64B17621}"/>
              </a:ext>
            </a:extLst>
          </p:cNvPr>
          <p:cNvSpPr>
            <a:spLocks xmlns:a="http://schemas.openxmlformats.org/drawingml/2006/main" noGrp="1"/>
          </p:cNvSpPr>
          <p:nvPr/>
        </p:nvSpPr>
        <p:spPr>
          <a:xfrm xmlns:a="http://schemas.openxmlformats.org/drawingml/2006/main">
            <a:off x="8229600" y="5133975"/>
            <a:ext cx="3000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a:solidFill>
                  <a:srgbClr val="A5ACB9"/>
                </a:solidFill>
                <a:latin typeface="Helvetica Neue"/>
                <a:ea typeface="Helvetica Neue"/>
                <a:cs typeface="Helvetica Neue"/>
              </a:defRPr>
            </a:pPr>
            <a:r>
              <a:rPr sz="1200" b="0">
                <a:solidFill>
                  <a:srgbClr val="A5ACB9"/>
                </a:solidFill>
                <a:latin typeface="Helvetica Neue"/>
                <a:ea typeface="Helvetica Neue"/>
                <a:cs typeface="Helvetica Neue"/>
              </a:rPr>
              <a:t>A person must be able to stop, inspect and approve the work.</a:t>
            </a:r>
          </a:p>
        </p:txBody>
      </p:sp>
      <p:sp>
        <p:nvSpPr>
          <p:cNvPr id="15" name="">
            <a:extLst xmlns:a="http://schemas.openxmlformats.org/drawingml/2006/main">
              <a:ext uri="{FF2B5EF4-FFF2-40B4-BE49-F238E27FC236}">
                <a16:creationId xmlns:a16="http://schemas.microsoft.com/office/drawing/2014/main" id="{DBBC8279-3C78-44E0-BD8A-4DBCF1EE884C}"/>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6DC7E5B-493C-4963-8B7A-DBB1252D0330}"/>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17" name="">
            <a:extLst xmlns:a="http://schemas.openxmlformats.org/drawingml/2006/main">
              <a:ext uri="{FF2B5EF4-FFF2-40B4-BE49-F238E27FC236}">
                <a16:creationId xmlns:a16="http://schemas.microsoft.com/office/drawing/2014/main" id="{C1009A8C-F18B-4C21-BCE1-3B5BEFD50164}"/>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02</a:t>
            </a:r>
          </a:p>
        </p:txBody>
      </p:sp>
    </p:spTree>
    <p:extLst>
      <p:ext uri="{BB962C8B-B14F-4D97-AF65-F5344CB8AC3E}">
        <p14:creationId xmlns:p14="http://schemas.microsoft.com/office/powerpoint/2010/main" val="396435756"/>
      </p:ext>
    </p:extLst>
  </p:cSld>
</p:sld>
</file>

<file path=ppt/slides/slide3.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AE2E517-1FB7-49A8-B160-C02D666E5344}"/>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03</a:t>
            </a:r>
          </a:p>
        </p:txBody>
      </p:sp>
      <p:sp>
        <p:nvSpPr>
          <p:cNvPr id="2" name="">
            <a:extLst xmlns:a="http://schemas.openxmlformats.org/drawingml/2006/main">
              <a:ext uri="{FF2B5EF4-FFF2-40B4-BE49-F238E27FC236}">
                <a16:creationId xmlns:a16="http://schemas.microsoft.com/office/drawing/2014/main" id="{9D8A472D-55BC-4583-A6EF-DA5E9AA1FE06}"/>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A campaign workspace, not a prompt box</a:t>
            </a:r>
          </a:p>
        </p:txBody>
      </p:sp>
      <p:sp>
        <p:nvSpPr>
          <p:cNvPr id="3" name="">
            <a:extLst xmlns:a="http://schemas.openxmlformats.org/drawingml/2006/main">
              <a:ext uri="{FF2B5EF4-FFF2-40B4-BE49-F238E27FC236}">
                <a16:creationId xmlns:a16="http://schemas.microsoft.com/office/drawing/2014/main" id="{458CC35C-0E30-4512-8107-EB1E694B2C24}"/>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Agentcy keeps the brief, agent activity, approval gates and outputs in one visible flow.</a:t>
            </a:r>
          </a:p>
        </p:txBody>
      </p:sp>
      <p:sp>
        <p:nvSpPr>
          <p:cNvPr id="4" name="">
            <a:extLst xmlns:a="http://schemas.openxmlformats.org/drawingml/2006/main">
              <a:ext uri="{FF2B5EF4-FFF2-40B4-BE49-F238E27FC236}">
                <a16:creationId xmlns:a16="http://schemas.microsoft.com/office/drawing/2014/main" id="{98DA4910-E2BD-4F32-8F39-5E5F9C58C353}"/>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3767CBC-E57F-489B-B04E-356803C41E41}"/>
              </a:ext>
            </a:extLst>
          </p:cNvPr>
          <p:cNvSpPr>
            <a:spLocks xmlns:a="http://schemas.openxmlformats.org/drawingml/2006/main" noGrp="1"/>
          </p:cNvSpPr>
          <p:nvPr/>
        </p:nvSpPr>
        <p:spPr>
          <a:xfrm xmlns:a="http://schemas.openxmlformats.org/drawingml/2006/main">
            <a:off x="685800" y="2571750"/>
            <a:ext cx="42291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286"/>
          </a:bodyPr>
          <a:lstStyle xmlns:a="http://schemas.openxmlformats.org/drawingml/2006/main"/>
          <a:p xmlns:a="http://schemas.openxmlformats.org/drawingml/2006/main">
            <a:pPr algn="l">
              <a:lnSpc>
                <a:spcPct val="112000"/>
              </a:lnSpc>
              <a:buNone/>
              <a:defRPr sz="1875" b="0">
                <a:solidFill>
                  <a:srgbClr val="F1F3F8"/>
                </a:solidFill>
                <a:latin typeface="Helvetica Neue"/>
                <a:ea typeface="Helvetica Neue"/>
                <a:cs typeface="Helvetica Neue"/>
              </a:defRPr>
            </a:pPr>
            <a:r>
              <a:rPr sz="1875" b="0">
                <a:solidFill>
                  <a:srgbClr val="F1F3F8"/>
                </a:solidFill>
                <a:latin typeface="Helvetica Neue"/>
                <a:ea typeface="Helvetica Neue"/>
                <a:cs typeface="Helvetica Neue"/>
              </a:rPr>
              <a:t>A planner turns a campaign brief into grounded concepts. A generation crew develops each approved concept. The studio renders the final work only after the relevant human decision.</a:t>
            </a:r>
          </a:p>
        </p:txBody>
      </p:sp>
      <p:sp>
        <p:nvSpPr>
          <p:cNvPr id="6" name="">
            <a:extLst xmlns:a="http://schemas.openxmlformats.org/drawingml/2006/main">
              <a:ext uri="{FF2B5EF4-FFF2-40B4-BE49-F238E27FC236}">
                <a16:creationId xmlns:a16="http://schemas.microsoft.com/office/drawing/2014/main" id="{119D43B7-8122-4040-90D8-921AFE4D48A9}"/>
              </a:ext>
            </a:extLst>
          </p:cNvPr>
          <p:cNvSpPr>
            <a:spLocks xmlns:a="http://schemas.openxmlformats.org/drawingml/2006/main" noGrp="1"/>
          </p:cNvSpPr>
          <p:nvPr/>
        </p:nvSpPr>
        <p:spPr>
          <a:xfrm xmlns:a="http://schemas.openxmlformats.org/drawingml/2006/main">
            <a:off x="685800" y="45339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7A088532-55D9-4B80-876E-E0198686E8D3}"/>
              </a:ext>
            </a:extLst>
          </p:cNvPr>
          <p:cNvSpPr>
            <a:spLocks xmlns:a="http://schemas.openxmlformats.org/drawingml/2006/main" noGrp="1"/>
          </p:cNvSpPr>
          <p:nvPr/>
        </p:nvSpPr>
        <p:spPr>
          <a:xfrm xmlns:a="http://schemas.openxmlformats.org/drawingml/2006/main">
            <a:off x="1171575" y="4514850"/>
            <a:ext cx="100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1F3F8"/>
                </a:solidFill>
                <a:latin typeface="Helvetica Neue"/>
                <a:ea typeface="Helvetica Neue"/>
                <a:cs typeface="Helvetica Neue"/>
              </a:defRPr>
            </a:pPr>
            <a:r>
              <a:rPr sz="1275" b="1">
                <a:solidFill>
                  <a:srgbClr val="F1F3F8"/>
                </a:solidFill>
                <a:latin typeface="Helvetica Neue"/>
                <a:ea typeface="Helvetica Neue"/>
                <a:cs typeface="Helvetica Neue"/>
              </a:rPr>
              <a:t>Plan</a:t>
            </a:r>
          </a:p>
        </p:txBody>
      </p:sp>
      <p:sp>
        <p:nvSpPr>
          <p:cNvPr id="8" name="">
            <a:extLst xmlns:a="http://schemas.openxmlformats.org/drawingml/2006/main">
              <a:ext uri="{FF2B5EF4-FFF2-40B4-BE49-F238E27FC236}">
                <a16:creationId xmlns:a16="http://schemas.microsoft.com/office/drawing/2014/main" id="{8C1A907E-6D0B-4B12-88F9-6DE55BF7BDC3}"/>
              </a:ext>
            </a:extLst>
          </p:cNvPr>
          <p:cNvSpPr>
            <a:spLocks xmlns:a="http://schemas.openxmlformats.org/drawingml/2006/main" noGrp="1"/>
          </p:cNvSpPr>
          <p:nvPr/>
        </p:nvSpPr>
        <p:spPr>
          <a:xfrm xmlns:a="http://schemas.openxmlformats.org/drawingml/2006/main">
            <a:off x="2333625" y="45339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A5ACB9"/>
                </a:solidFill>
                <a:latin typeface="Helvetica Neue"/>
                <a:ea typeface="Helvetica Neue"/>
                <a:cs typeface="Helvetica Neue"/>
              </a:defRPr>
            </a:pPr>
            <a:r>
              <a:rPr sz="1050" b="0">
                <a:solidFill>
                  <a:srgbClr val="A5ACB9"/>
                </a:solidFill>
                <a:latin typeface="Helvetica Neue"/>
                <a:ea typeface="Helvetica Neue"/>
                <a:cs typeface="Helvetica Neue"/>
              </a:rPr>
              <a:t>Brief to cited concepts</a:t>
            </a:r>
          </a:p>
        </p:txBody>
      </p:sp>
      <p:sp>
        <p:nvSpPr>
          <p:cNvPr id="9" name="">
            <a:extLst xmlns:a="http://schemas.openxmlformats.org/drawingml/2006/main">
              <a:ext uri="{FF2B5EF4-FFF2-40B4-BE49-F238E27FC236}">
                <a16:creationId xmlns:a16="http://schemas.microsoft.com/office/drawing/2014/main" id="{6D218448-FC19-4517-9BB2-4BD5960960EC}"/>
              </a:ext>
            </a:extLst>
          </p:cNvPr>
          <p:cNvSpPr>
            <a:spLocks xmlns:a="http://schemas.openxmlformats.org/drawingml/2006/main" noGrp="1"/>
          </p:cNvSpPr>
          <p:nvPr/>
        </p:nvSpPr>
        <p:spPr>
          <a:xfrm xmlns:a="http://schemas.openxmlformats.org/drawingml/2006/main">
            <a:off x="685800" y="49434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3221331B-4FB3-4B4E-93B5-291685915027}"/>
              </a:ext>
            </a:extLst>
          </p:cNvPr>
          <p:cNvSpPr>
            <a:spLocks xmlns:a="http://schemas.openxmlformats.org/drawingml/2006/main" noGrp="1"/>
          </p:cNvSpPr>
          <p:nvPr/>
        </p:nvSpPr>
        <p:spPr>
          <a:xfrm xmlns:a="http://schemas.openxmlformats.org/drawingml/2006/main">
            <a:off x="1171575" y="4924425"/>
            <a:ext cx="100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1F3F8"/>
                </a:solidFill>
                <a:latin typeface="Helvetica Neue"/>
                <a:ea typeface="Helvetica Neue"/>
                <a:cs typeface="Helvetica Neue"/>
              </a:defRPr>
            </a:pPr>
            <a:r>
              <a:rPr sz="1275" b="1">
                <a:solidFill>
                  <a:srgbClr val="F1F3F8"/>
                </a:solidFill>
                <a:latin typeface="Helvetica Neue"/>
                <a:ea typeface="Helvetica Neue"/>
                <a:cs typeface="Helvetica Neue"/>
              </a:rPr>
              <a:t>Create</a:t>
            </a:r>
          </a:p>
        </p:txBody>
      </p:sp>
      <p:sp>
        <p:nvSpPr>
          <p:cNvPr id="11" name="">
            <a:extLst xmlns:a="http://schemas.openxmlformats.org/drawingml/2006/main">
              <a:ext uri="{FF2B5EF4-FFF2-40B4-BE49-F238E27FC236}">
                <a16:creationId xmlns:a16="http://schemas.microsoft.com/office/drawing/2014/main" id="{F95C7094-E87C-4C6B-8EB4-2A327CCBC057}"/>
              </a:ext>
            </a:extLst>
          </p:cNvPr>
          <p:cNvSpPr>
            <a:spLocks xmlns:a="http://schemas.openxmlformats.org/drawingml/2006/main" noGrp="1"/>
          </p:cNvSpPr>
          <p:nvPr/>
        </p:nvSpPr>
        <p:spPr>
          <a:xfrm xmlns:a="http://schemas.openxmlformats.org/drawingml/2006/main">
            <a:off x="2333625" y="494347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A5ACB9"/>
                </a:solidFill>
                <a:latin typeface="Helvetica Neue"/>
                <a:ea typeface="Helvetica Neue"/>
                <a:cs typeface="Helvetica Neue"/>
              </a:defRPr>
            </a:pPr>
            <a:r>
              <a:rPr sz="1050" b="0">
                <a:solidFill>
                  <a:srgbClr val="A5ACB9"/>
                </a:solidFill>
                <a:latin typeface="Helvetica Neue"/>
                <a:ea typeface="Helvetica Neue"/>
                <a:cs typeface="Helvetica Neue"/>
              </a:rPr>
              <a:t>Copy and visual direction</a:t>
            </a:r>
          </a:p>
        </p:txBody>
      </p:sp>
      <p:sp>
        <p:nvSpPr>
          <p:cNvPr id="12" name="">
            <a:extLst xmlns:a="http://schemas.openxmlformats.org/drawingml/2006/main">
              <a:ext uri="{FF2B5EF4-FFF2-40B4-BE49-F238E27FC236}">
                <a16:creationId xmlns:a16="http://schemas.microsoft.com/office/drawing/2014/main" id="{9D82CD49-003A-4902-9342-38025EA181DD}"/>
              </a:ext>
            </a:extLst>
          </p:cNvPr>
          <p:cNvSpPr>
            <a:spLocks xmlns:a="http://schemas.openxmlformats.org/drawingml/2006/main" noGrp="1"/>
          </p:cNvSpPr>
          <p:nvPr/>
        </p:nvSpPr>
        <p:spPr>
          <a:xfrm xmlns:a="http://schemas.openxmlformats.org/drawingml/2006/main">
            <a:off x="685800" y="53530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03</a:t>
            </a:r>
          </a:p>
        </p:txBody>
      </p:sp>
      <p:sp>
        <p:nvSpPr>
          <p:cNvPr id="13" name="">
            <a:extLst xmlns:a="http://schemas.openxmlformats.org/drawingml/2006/main">
              <a:ext uri="{FF2B5EF4-FFF2-40B4-BE49-F238E27FC236}">
                <a16:creationId xmlns:a16="http://schemas.microsoft.com/office/drawing/2014/main" id="{C8FE1639-6846-4073-AEF0-7DDC306BFF46}"/>
              </a:ext>
            </a:extLst>
          </p:cNvPr>
          <p:cNvSpPr>
            <a:spLocks xmlns:a="http://schemas.openxmlformats.org/drawingml/2006/main" noGrp="1"/>
          </p:cNvSpPr>
          <p:nvPr/>
        </p:nvSpPr>
        <p:spPr>
          <a:xfrm xmlns:a="http://schemas.openxmlformats.org/drawingml/2006/main">
            <a:off x="1171575" y="5334000"/>
            <a:ext cx="100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1F3F8"/>
                </a:solidFill>
                <a:latin typeface="Helvetica Neue"/>
                <a:ea typeface="Helvetica Neue"/>
                <a:cs typeface="Helvetica Neue"/>
              </a:defRPr>
            </a:pPr>
            <a:r>
              <a:rPr sz="1275" b="1">
                <a:solidFill>
                  <a:srgbClr val="F1F3F8"/>
                </a:solidFill>
                <a:latin typeface="Helvetica Neue"/>
                <a:ea typeface="Helvetica Neue"/>
                <a:cs typeface="Helvetica Neue"/>
              </a:rPr>
              <a:t>Review</a:t>
            </a:r>
          </a:p>
        </p:txBody>
      </p:sp>
      <p:sp>
        <p:nvSpPr>
          <p:cNvPr id="14" name="">
            <a:extLst xmlns:a="http://schemas.openxmlformats.org/drawingml/2006/main">
              <a:ext uri="{FF2B5EF4-FFF2-40B4-BE49-F238E27FC236}">
                <a16:creationId xmlns:a16="http://schemas.microsoft.com/office/drawing/2014/main" id="{D6E152B6-07CF-41A9-AD35-657835AA2BFF}"/>
              </a:ext>
            </a:extLst>
          </p:cNvPr>
          <p:cNvSpPr>
            <a:spLocks xmlns:a="http://schemas.openxmlformats.org/drawingml/2006/main" noGrp="1"/>
          </p:cNvSpPr>
          <p:nvPr/>
        </p:nvSpPr>
        <p:spPr>
          <a:xfrm xmlns:a="http://schemas.openxmlformats.org/drawingml/2006/main">
            <a:off x="2333625" y="53530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A5ACB9"/>
                </a:solidFill>
                <a:latin typeface="Helvetica Neue"/>
                <a:ea typeface="Helvetica Neue"/>
                <a:cs typeface="Helvetica Neue"/>
              </a:defRPr>
            </a:pPr>
            <a:r>
              <a:rPr sz="1050" b="0">
                <a:solidFill>
                  <a:srgbClr val="A5ACB9"/>
                </a:solidFill>
                <a:latin typeface="Helvetica Neue"/>
                <a:ea typeface="Helvetica Neue"/>
                <a:cs typeface="Helvetica Neue"/>
              </a:rPr>
              <a:t>Human approval gates</a:t>
            </a:r>
          </a:p>
        </p:txBody>
      </p:sp>
      <p:sp>
        <p:nvSpPr>
          <p:cNvPr id="15" name="">
            <a:extLst xmlns:a="http://schemas.openxmlformats.org/drawingml/2006/main">
              <a:ext uri="{FF2B5EF4-FFF2-40B4-BE49-F238E27FC236}">
                <a16:creationId xmlns:a16="http://schemas.microsoft.com/office/drawing/2014/main" id="{ABE8E473-B898-471B-8467-B8429230A04B}"/>
              </a:ext>
            </a:extLst>
          </p:cNvPr>
          <p:cNvSpPr>
            <a:spLocks xmlns:a="http://schemas.openxmlformats.org/drawingml/2006/main" noGrp="1"/>
          </p:cNvSpPr>
          <p:nvPr/>
        </p:nvSpPr>
        <p:spPr>
          <a:xfrm xmlns:a="http://schemas.openxmlformats.org/drawingml/2006/main">
            <a:off x="685800" y="57626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04</a:t>
            </a:r>
          </a:p>
        </p:txBody>
      </p:sp>
      <p:sp>
        <p:nvSpPr>
          <p:cNvPr id="16" name="">
            <a:extLst xmlns:a="http://schemas.openxmlformats.org/drawingml/2006/main">
              <a:ext uri="{FF2B5EF4-FFF2-40B4-BE49-F238E27FC236}">
                <a16:creationId xmlns:a16="http://schemas.microsoft.com/office/drawing/2014/main" id="{7D78DBD6-8771-4F32-9E86-3689843073A6}"/>
              </a:ext>
            </a:extLst>
          </p:cNvPr>
          <p:cNvSpPr>
            <a:spLocks xmlns:a="http://schemas.openxmlformats.org/drawingml/2006/main" noGrp="1"/>
          </p:cNvSpPr>
          <p:nvPr/>
        </p:nvSpPr>
        <p:spPr>
          <a:xfrm xmlns:a="http://schemas.openxmlformats.org/drawingml/2006/main">
            <a:off x="1171575" y="5743575"/>
            <a:ext cx="100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1F3F8"/>
                </a:solidFill>
                <a:latin typeface="Helvetica Neue"/>
                <a:ea typeface="Helvetica Neue"/>
                <a:cs typeface="Helvetica Neue"/>
              </a:defRPr>
            </a:pPr>
            <a:r>
              <a:rPr sz="1275" b="1">
                <a:solidFill>
                  <a:srgbClr val="F1F3F8"/>
                </a:solidFill>
                <a:latin typeface="Helvetica Neue"/>
                <a:ea typeface="Helvetica Neue"/>
                <a:cs typeface="Helvetica Neue"/>
              </a:rPr>
              <a:t>Publish</a:t>
            </a:r>
          </a:p>
        </p:txBody>
      </p:sp>
      <p:sp>
        <p:nvSpPr>
          <p:cNvPr id="17" name="">
            <a:extLst xmlns:a="http://schemas.openxmlformats.org/drawingml/2006/main">
              <a:ext uri="{FF2B5EF4-FFF2-40B4-BE49-F238E27FC236}">
                <a16:creationId xmlns:a16="http://schemas.microsoft.com/office/drawing/2014/main" id="{84FBD962-65A2-4B30-9BC3-F94B90A2D216}"/>
              </a:ext>
            </a:extLst>
          </p:cNvPr>
          <p:cNvSpPr>
            <a:spLocks xmlns:a="http://schemas.openxmlformats.org/drawingml/2006/main" noGrp="1"/>
          </p:cNvSpPr>
          <p:nvPr/>
        </p:nvSpPr>
        <p:spPr>
          <a:xfrm xmlns:a="http://schemas.openxmlformats.org/drawingml/2006/main">
            <a:off x="2333625" y="576262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A5ACB9"/>
                </a:solidFill>
                <a:latin typeface="Helvetica Neue"/>
                <a:ea typeface="Helvetica Neue"/>
                <a:cs typeface="Helvetica Neue"/>
              </a:defRPr>
            </a:pPr>
            <a:r>
              <a:rPr sz="1050" b="0">
                <a:solidFill>
                  <a:srgbClr val="A5ACB9"/>
                </a:solidFill>
                <a:latin typeface="Helvetica Neue"/>
                <a:ea typeface="Helvetica Neue"/>
                <a:cs typeface="Helvetica Neue"/>
              </a:rPr>
              <a:t>Approved images or video</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2d327ba5a744d95"/>
          <a:srcRect xmlns:a="http://schemas.openxmlformats.org/drawingml/2006/main" l="0" t="10912" r="0" b="10912"/>
          <a:stretch xmlns:a="http://schemas.openxmlformats.org/drawingml/2006/main">
            <a:fillRect l="0" t="0" r="0" b="0"/>
          </a:stretch>
        </p:blipFill>
        <p:spPr>
          <a:xfrm xmlns:a="http://schemas.openxmlformats.org/drawingml/2006/main">
            <a:off x="5476875" y="2457450"/>
            <a:ext cx="6029325" cy="3390900"/>
          </a:xfrm>
          <a:prstGeom xmlns:a="http://schemas.openxmlformats.org/drawingml/2006/main" prst="roundRect">
            <a:avLst>
              <a:gd name="adj" fmla="val 4494"/>
            </a:avLst>
          </a:prstGeom>
        </p:spPr>
      </p:pic>
      <p:sp>
        <p:nvSpPr>
          <p:cNvPr id="19" name="">
            <a:extLst xmlns:a="http://schemas.openxmlformats.org/drawingml/2006/main">
              <a:ext uri="{FF2B5EF4-FFF2-40B4-BE49-F238E27FC236}">
                <a16:creationId xmlns:a16="http://schemas.microsoft.com/office/drawing/2014/main" id="{54B53087-1623-47E5-BE11-514096F81D4E}"/>
              </a:ext>
            </a:extLst>
          </p:cNvPr>
          <p:cNvSpPr>
            <a:spLocks xmlns:a="http://schemas.openxmlformats.org/drawingml/2006/main" noGrp="1"/>
          </p:cNvSpPr>
          <p:nvPr/>
        </p:nvSpPr>
        <p:spPr>
          <a:xfrm xmlns:a="http://schemas.openxmlformats.org/drawingml/2006/main">
            <a:off x="5476875" y="59626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87080"/>
                </a:solidFill>
                <a:latin typeface="Helvetica Neue"/>
                <a:ea typeface="Helvetica Neue"/>
                <a:cs typeface="Helvetica Neue"/>
              </a:defRPr>
            </a:pPr>
            <a:r>
              <a:rPr sz="900" b="0">
                <a:solidFill>
                  <a:srgbClr val="687080"/>
                </a:solidFill>
                <a:latin typeface="Helvetica Neue"/>
                <a:ea typeface="Helvetica Neue"/>
                <a:cs typeface="Helvetica Neue"/>
              </a:rPr>
              <a:t>Image Studio screen from the project</a:t>
            </a:r>
          </a:p>
        </p:txBody>
      </p:sp>
      <p:sp>
        <p:nvSpPr>
          <p:cNvPr id="20" name="">
            <a:extLst xmlns:a="http://schemas.openxmlformats.org/drawingml/2006/main">
              <a:ext uri="{FF2B5EF4-FFF2-40B4-BE49-F238E27FC236}">
                <a16:creationId xmlns:a16="http://schemas.microsoft.com/office/drawing/2014/main" id="{808E8C12-555D-4C14-9CED-C6BEEF2D7805}"/>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E083ABA-444F-4EB8-8C05-2F2E95FDBDB1}"/>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22" name="">
            <a:extLst xmlns:a="http://schemas.openxmlformats.org/drawingml/2006/main">
              <a:ext uri="{FF2B5EF4-FFF2-40B4-BE49-F238E27FC236}">
                <a16:creationId xmlns:a16="http://schemas.microsoft.com/office/drawing/2014/main" id="{7E88A10D-0253-4B63-905A-A5544B8770B7}"/>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03</a:t>
            </a:r>
          </a:p>
        </p:txBody>
      </p:sp>
    </p:spTree>
    <p:extLst>
      <p:ext uri="{BB962C8B-B14F-4D97-AF65-F5344CB8AC3E}">
        <p14:creationId xmlns:p14="http://schemas.microsoft.com/office/powerpoint/2010/main" val="1171258184"/>
      </p:ext>
    </p:extLst>
  </p:cSld>
</p:sld>
</file>

<file path=ppt/slides/slide4.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6C7FD21-07DA-485A-9294-B84E1E73CA91}"/>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98E7C3"/>
                </a:solidFill>
                <a:latin typeface="Helvetica Neue"/>
                <a:ea typeface="Helvetica Neue"/>
                <a:cs typeface="Helvetica Neue"/>
              </a:defRPr>
            </a:pPr>
            <a:r>
              <a:rPr sz="900" b="1">
                <a:solidFill>
                  <a:srgbClr val="98E7C3"/>
                </a:solidFill>
                <a:latin typeface="Helvetica Neue"/>
                <a:ea typeface="Helvetica Neue"/>
                <a:cs typeface="Helvetica Neue"/>
              </a:rPr>
              <a:t>04</a:t>
            </a:r>
          </a:p>
        </p:txBody>
      </p:sp>
      <p:sp>
        <p:nvSpPr>
          <p:cNvPr id="2" name="">
            <a:extLst xmlns:a="http://schemas.openxmlformats.org/drawingml/2006/main">
              <a:ext uri="{FF2B5EF4-FFF2-40B4-BE49-F238E27FC236}">
                <a16:creationId xmlns:a16="http://schemas.microsoft.com/office/drawing/2014/main" id="{B3EF293A-3B80-4697-8A9D-7E569EEA0153}"/>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Grounded planning</a:t>
            </a:r>
          </a:p>
        </p:txBody>
      </p:sp>
      <p:sp>
        <p:nvSpPr>
          <p:cNvPr id="3" name="">
            <a:extLst xmlns:a="http://schemas.openxmlformats.org/drawingml/2006/main">
              <a:ext uri="{FF2B5EF4-FFF2-40B4-BE49-F238E27FC236}">
                <a16:creationId xmlns:a16="http://schemas.microsoft.com/office/drawing/2014/main" id="{5E4754FB-4C8A-424D-9B83-A9E4CA78055A}"/>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The source hierarchy makes a campaign idea traceable before anyone generates an asset.</a:t>
            </a:r>
          </a:p>
        </p:txBody>
      </p:sp>
      <p:sp>
        <p:nvSpPr>
          <p:cNvPr id="4" name="">
            <a:extLst xmlns:a="http://schemas.openxmlformats.org/drawingml/2006/main">
              <a:ext uri="{FF2B5EF4-FFF2-40B4-BE49-F238E27FC236}">
                <a16:creationId xmlns:a16="http://schemas.microsoft.com/office/drawing/2014/main" id="{82559424-88EE-4B47-BDC5-E3C68CF1FF6C}"/>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0ECE536-D555-4DAB-BBA7-DAB240553CCA}"/>
              </a:ext>
            </a:extLst>
          </p:cNvPr>
          <p:cNvSpPr>
            <a:spLocks xmlns:a="http://schemas.openxmlformats.org/drawingml/2006/main" noGrp="1"/>
          </p:cNvSpPr>
          <p:nvPr/>
        </p:nvSpPr>
        <p:spPr>
          <a:xfrm xmlns:a="http://schemas.openxmlformats.org/drawingml/2006/main">
            <a:off x="685800" y="2476500"/>
            <a:ext cx="4857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2965"/>
          </a:bodyPr>
          <a:lstStyle xmlns:a="http://schemas.openxmlformats.org/drawingml/2006/main"/>
          <a:p xmlns:a="http://schemas.openxmlformats.org/drawingml/2006/main">
            <a:pPr algn="l">
              <a:lnSpc>
                <a:spcPct val="113000"/>
              </a:lnSpc>
              <a:buNone/>
              <a:defRPr sz="1800" b="0">
                <a:solidFill>
                  <a:srgbClr val="F1F3F8"/>
                </a:solidFill>
                <a:latin typeface="Helvetica Neue"/>
                <a:ea typeface="Helvetica Neue"/>
                <a:cs typeface="Helvetica Neue"/>
              </a:defRPr>
            </a:pPr>
            <a:r>
              <a:rPr sz="1800" b="0">
                <a:solidFill>
                  <a:srgbClr val="F1F3F8"/>
                </a:solidFill>
                <a:latin typeface="Helvetica Neue"/>
                <a:ea typeface="Helvetica Neue"/>
                <a:cs typeface="Helvetica Neue"/>
              </a:rPr>
              <a:t>Every planned concept carries both brand and trend rationales. The planner ranks its inputs so that a useful trend can never override what the company knows to be true.</a:t>
            </a:r>
          </a:p>
        </p:txBody>
      </p:sp>
      <p:sp>
        <p:nvSpPr>
          <p:cNvPr id="6" name="">
            <a:extLst xmlns:a="http://schemas.openxmlformats.org/drawingml/2006/main">
              <a:ext uri="{FF2B5EF4-FFF2-40B4-BE49-F238E27FC236}">
                <a16:creationId xmlns:a16="http://schemas.microsoft.com/office/drawing/2014/main" id="{8A9689FA-56F1-4CF2-B160-673293386163}"/>
              </a:ext>
            </a:extLst>
          </p:cNvPr>
          <p:cNvSpPr>
            <a:spLocks xmlns:a="http://schemas.openxmlformats.org/drawingml/2006/main" noGrp="1"/>
          </p:cNvSpPr>
          <p:nvPr/>
        </p:nvSpPr>
        <p:spPr>
          <a:xfrm xmlns:a="http://schemas.openxmlformats.org/drawingml/2006/main">
            <a:off x="6315075" y="2381250"/>
            <a:ext cx="5191125" cy="895350"/>
          </a:xfrm>
          <a:prstGeom xmlns:a="http://schemas.openxmlformats.org/drawingml/2006/main" prst="roundRect">
            <a:avLst>
              <a:gd name="adj" fmla="val 12766"/>
            </a:avLst>
          </a:prstGeom>
          <a:solidFill xmlns:a="http://schemas.openxmlformats.org/drawingml/2006/main">
            <a:srgbClr val="10131A"/>
          </a:solidFill>
          <a:ln xmlns:a="http://schemas.openxmlformats.org/drawingml/2006/main" w="9525">
            <a:solidFill>
              <a:srgbClr val="2A303C"/>
            </a:solidFill>
            <a:prstDash val="solid"/>
          </a:ln>
        </p:spPr>
      </p:sp>
      <p:sp>
        <p:nvSpPr>
          <p:cNvPr id="7" name="">
            <a:extLst xmlns:a="http://schemas.openxmlformats.org/drawingml/2006/main">
              <a:ext uri="{FF2B5EF4-FFF2-40B4-BE49-F238E27FC236}">
                <a16:creationId xmlns:a16="http://schemas.microsoft.com/office/drawing/2014/main" id="{E687B531-40BE-4521-BB98-3D350A2EAC30}"/>
              </a:ext>
            </a:extLst>
          </p:cNvPr>
          <p:cNvSpPr>
            <a:spLocks xmlns:a="http://schemas.openxmlformats.org/drawingml/2006/main" noGrp="1"/>
          </p:cNvSpPr>
          <p:nvPr/>
        </p:nvSpPr>
        <p:spPr>
          <a:xfrm xmlns:a="http://schemas.openxmlformats.org/drawingml/2006/main">
            <a:off x="6572250" y="26003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F1F3F8"/>
                </a:solidFill>
                <a:latin typeface="Helvetica Neue"/>
                <a:ea typeface="Helvetica Neue"/>
                <a:cs typeface="Helvetica Neue"/>
              </a:defRPr>
            </a:pPr>
            <a:r>
              <a:rPr sz="900" b="1">
                <a:solidFill>
                  <a:srgbClr val="F1F3F8"/>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9EB6BF48-46F5-4BAD-90A4-D9742268F5D0}"/>
              </a:ext>
            </a:extLst>
          </p:cNvPr>
          <p:cNvSpPr>
            <a:spLocks xmlns:a="http://schemas.openxmlformats.org/drawingml/2006/main" noGrp="1"/>
          </p:cNvSpPr>
          <p:nvPr/>
        </p:nvSpPr>
        <p:spPr>
          <a:xfrm xmlns:a="http://schemas.openxmlformats.org/drawingml/2006/main">
            <a:off x="7077075" y="25431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1F3F8"/>
                </a:solidFill>
                <a:latin typeface="Helvetica Neue"/>
                <a:ea typeface="Helvetica Neue"/>
                <a:cs typeface="Helvetica Neue"/>
              </a:defRPr>
            </a:pPr>
            <a:r>
              <a:rPr sz="1425" b="1">
                <a:solidFill>
                  <a:srgbClr val="F1F3F8"/>
                </a:solidFill>
                <a:latin typeface="Helvetica Neue"/>
                <a:ea typeface="Helvetica Neue"/>
                <a:cs typeface="Helvetica Neue"/>
              </a:rPr>
              <a:t>The campaign brief</a:t>
            </a:r>
          </a:p>
        </p:txBody>
      </p:sp>
      <p:sp>
        <p:nvSpPr>
          <p:cNvPr id="9" name="">
            <a:extLst xmlns:a="http://schemas.openxmlformats.org/drawingml/2006/main">
              <a:ext uri="{FF2B5EF4-FFF2-40B4-BE49-F238E27FC236}">
                <a16:creationId xmlns:a16="http://schemas.microsoft.com/office/drawing/2014/main" id="{7C427C15-521A-4325-835E-E6F4B5C02395}"/>
              </a:ext>
            </a:extLst>
          </p:cNvPr>
          <p:cNvSpPr>
            <a:spLocks xmlns:a="http://schemas.openxmlformats.org/drawingml/2006/main" noGrp="1"/>
          </p:cNvSpPr>
          <p:nvPr/>
        </p:nvSpPr>
        <p:spPr>
          <a:xfrm xmlns:a="http://schemas.openxmlformats.org/drawingml/2006/main">
            <a:off x="7077075" y="28289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a:solidFill>
                  <a:srgbClr val="A5ACB9"/>
                </a:solidFill>
                <a:latin typeface="Helvetica Neue"/>
                <a:ea typeface="Helvetica Neue"/>
                <a:cs typeface="Helvetica Neue"/>
              </a:defRPr>
            </a:pPr>
            <a:r>
              <a:rPr sz="1125" b="0">
                <a:solidFill>
                  <a:srgbClr val="A5ACB9"/>
                </a:solidFill>
                <a:latin typeface="Helvetica Neue"/>
                <a:ea typeface="Helvetica Neue"/>
                <a:cs typeface="Helvetica Neue"/>
              </a:rPr>
              <a:t>Sets the goal, product and occasion.</a:t>
            </a:r>
          </a:p>
        </p:txBody>
      </p:sp>
      <p:sp>
        <p:nvSpPr>
          <p:cNvPr id="10" name="">
            <a:extLst xmlns:a="http://schemas.openxmlformats.org/drawingml/2006/main">
              <a:ext uri="{FF2B5EF4-FFF2-40B4-BE49-F238E27FC236}">
                <a16:creationId xmlns:a16="http://schemas.microsoft.com/office/drawing/2014/main" id="{E7915D15-0055-4411-9E00-A4184FB9C037}"/>
              </a:ext>
            </a:extLst>
          </p:cNvPr>
          <p:cNvSpPr>
            <a:spLocks xmlns:a="http://schemas.openxmlformats.org/drawingml/2006/main" noGrp="1"/>
          </p:cNvSpPr>
          <p:nvPr/>
        </p:nvSpPr>
        <p:spPr>
          <a:xfrm xmlns:a="http://schemas.openxmlformats.org/drawingml/2006/main">
            <a:off x="6315075" y="3552825"/>
            <a:ext cx="5191125" cy="895350"/>
          </a:xfrm>
          <a:prstGeom xmlns:a="http://schemas.openxmlformats.org/drawingml/2006/main" prst="roundRect">
            <a:avLst>
              <a:gd name="adj" fmla="val 12766"/>
            </a:avLst>
          </a:prstGeom>
          <a:solidFill xmlns:a="http://schemas.openxmlformats.org/drawingml/2006/main">
            <a:srgbClr val="10131A"/>
          </a:solidFill>
          <a:ln xmlns:a="http://schemas.openxmlformats.org/drawingml/2006/main" w="9525">
            <a:solidFill>
              <a:srgbClr val="2A303C"/>
            </a:solidFill>
            <a:prstDash val="solid"/>
          </a:ln>
        </p:spPr>
      </p:sp>
      <p:sp>
        <p:nvSpPr>
          <p:cNvPr id="11" name="">
            <a:extLst xmlns:a="http://schemas.openxmlformats.org/drawingml/2006/main">
              <a:ext uri="{FF2B5EF4-FFF2-40B4-BE49-F238E27FC236}">
                <a16:creationId xmlns:a16="http://schemas.microsoft.com/office/drawing/2014/main" id="{CF847933-4228-4095-BABB-C8196E7DEC62}"/>
              </a:ext>
            </a:extLst>
          </p:cNvPr>
          <p:cNvSpPr>
            <a:spLocks xmlns:a="http://schemas.openxmlformats.org/drawingml/2006/main" noGrp="1"/>
          </p:cNvSpPr>
          <p:nvPr/>
        </p:nvSpPr>
        <p:spPr>
          <a:xfrm xmlns:a="http://schemas.openxmlformats.org/drawingml/2006/main">
            <a:off x="6572250" y="37719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98E7C3"/>
                </a:solidFill>
                <a:latin typeface="Helvetica Neue"/>
                <a:ea typeface="Helvetica Neue"/>
                <a:cs typeface="Helvetica Neue"/>
              </a:defRPr>
            </a:pPr>
            <a:r>
              <a:rPr sz="900" b="1">
                <a:solidFill>
                  <a:srgbClr val="98E7C3"/>
                </a:solidFill>
                <a:latin typeface="Helvetica Neue"/>
                <a:ea typeface="Helvetica Neue"/>
                <a:cs typeface="Helvetica Neue"/>
              </a:rPr>
              <a:t>02</a:t>
            </a:r>
          </a:p>
        </p:txBody>
      </p:sp>
      <p:sp>
        <p:nvSpPr>
          <p:cNvPr id="12" name="">
            <a:extLst xmlns:a="http://schemas.openxmlformats.org/drawingml/2006/main">
              <a:ext uri="{FF2B5EF4-FFF2-40B4-BE49-F238E27FC236}">
                <a16:creationId xmlns:a16="http://schemas.microsoft.com/office/drawing/2014/main" id="{A9A3A0B0-14A6-4878-B445-4F04D1B4475C}"/>
              </a:ext>
            </a:extLst>
          </p:cNvPr>
          <p:cNvSpPr>
            <a:spLocks xmlns:a="http://schemas.openxmlformats.org/drawingml/2006/main" noGrp="1"/>
          </p:cNvSpPr>
          <p:nvPr/>
        </p:nvSpPr>
        <p:spPr>
          <a:xfrm xmlns:a="http://schemas.openxmlformats.org/drawingml/2006/main">
            <a:off x="7077075" y="37147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1F3F8"/>
                </a:solidFill>
                <a:latin typeface="Helvetica Neue"/>
                <a:ea typeface="Helvetica Neue"/>
                <a:cs typeface="Helvetica Neue"/>
              </a:defRPr>
            </a:pPr>
            <a:r>
              <a:rPr sz="1425" b="1">
                <a:solidFill>
                  <a:srgbClr val="F1F3F8"/>
                </a:solidFill>
                <a:latin typeface="Helvetica Neue"/>
                <a:ea typeface="Helvetica Neue"/>
                <a:cs typeface="Helvetica Neue"/>
              </a:rPr>
              <a:t>Company knowledge</a:t>
            </a:r>
          </a:p>
        </p:txBody>
      </p:sp>
      <p:sp>
        <p:nvSpPr>
          <p:cNvPr id="13" name="">
            <a:extLst xmlns:a="http://schemas.openxmlformats.org/drawingml/2006/main">
              <a:ext uri="{FF2B5EF4-FFF2-40B4-BE49-F238E27FC236}">
                <a16:creationId xmlns:a16="http://schemas.microsoft.com/office/drawing/2014/main" id="{C0C0B61D-201E-43B4-9F65-F109157B38AB}"/>
              </a:ext>
            </a:extLst>
          </p:cNvPr>
          <p:cNvSpPr>
            <a:spLocks xmlns:a="http://schemas.openxmlformats.org/drawingml/2006/main" noGrp="1"/>
          </p:cNvSpPr>
          <p:nvPr/>
        </p:nvSpPr>
        <p:spPr>
          <a:xfrm xmlns:a="http://schemas.openxmlformats.org/drawingml/2006/main">
            <a:off x="7077075" y="4000500"/>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lnSpc>
                <a:spcPct val="108000"/>
              </a:lnSpc>
              <a:buNone/>
              <a:defRPr sz="1125" b="0">
                <a:solidFill>
                  <a:srgbClr val="A5ACB9"/>
                </a:solidFill>
                <a:latin typeface="Helvetica Neue"/>
                <a:ea typeface="Helvetica Neue"/>
                <a:cs typeface="Helvetica Neue"/>
              </a:defRPr>
            </a:pPr>
            <a:r>
              <a:rPr sz="1125" b="0">
                <a:solidFill>
                  <a:srgbClr val="A5ACB9"/>
                </a:solidFill>
                <a:latin typeface="Helvetica Neue"/>
                <a:ea typeface="Helvetica Neue"/>
                <a:cs typeface="Helvetica Neue"/>
              </a:rPr>
              <a:t>Product facts, voice and claim restrictions. This is the source of truth.</a:t>
            </a:r>
          </a:p>
        </p:txBody>
      </p:sp>
      <p:sp>
        <p:nvSpPr>
          <p:cNvPr id="14" name="">
            <a:extLst xmlns:a="http://schemas.openxmlformats.org/drawingml/2006/main">
              <a:ext uri="{FF2B5EF4-FFF2-40B4-BE49-F238E27FC236}">
                <a16:creationId xmlns:a16="http://schemas.microsoft.com/office/drawing/2014/main" id="{11D7D1EF-D4FF-489A-9B3A-18E5CA49FC1C}"/>
              </a:ext>
            </a:extLst>
          </p:cNvPr>
          <p:cNvSpPr>
            <a:spLocks xmlns:a="http://schemas.openxmlformats.org/drawingml/2006/main" noGrp="1"/>
          </p:cNvSpPr>
          <p:nvPr/>
        </p:nvSpPr>
        <p:spPr>
          <a:xfrm xmlns:a="http://schemas.openxmlformats.org/drawingml/2006/main">
            <a:off x="6315075" y="4724400"/>
            <a:ext cx="5191125" cy="895350"/>
          </a:xfrm>
          <a:prstGeom xmlns:a="http://schemas.openxmlformats.org/drawingml/2006/main" prst="roundRect">
            <a:avLst>
              <a:gd name="adj" fmla="val 12766"/>
            </a:avLst>
          </a:prstGeom>
          <a:solidFill xmlns:a="http://schemas.openxmlformats.org/drawingml/2006/main">
            <a:srgbClr val="10131A"/>
          </a:solidFill>
          <a:ln xmlns:a="http://schemas.openxmlformats.org/drawingml/2006/main" w="9525">
            <a:solidFill>
              <a:srgbClr val="2A303C"/>
            </a:solidFill>
            <a:prstDash val="solid"/>
          </a:ln>
        </p:spPr>
      </p:sp>
      <p:sp>
        <p:nvSpPr>
          <p:cNvPr id="15" name="">
            <a:extLst xmlns:a="http://schemas.openxmlformats.org/drawingml/2006/main">
              <a:ext uri="{FF2B5EF4-FFF2-40B4-BE49-F238E27FC236}">
                <a16:creationId xmlns:a16="http://schemas.microsoft.com/office/drawing/2014/main" id="{247812B6-A1E5-4A68-817E-675748F2434B}"/>
              </a:ext>
            </a:extLst>
          </p:cNvPr>
          <p:cNvSpPr>
            <a:spLocks xmlns:a="http://schemas.openxmlformats.org/drawingml/2006/main" noGrp="1"/>
          </p:cNvSpPr>
          <p:nvPr/>
        </p:nvSpPr>
        <p:spPr>
          <a:xfrm xmlns:a="http://schemas.openxmlformats.org/drawingml/2006/main">
            <a:off x="6572250" y="494347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03</a:t>
            </a:r>
          </a:p>
        </p:txBody>
      </p:sp>
      <p:sp>
        <p:nvSpPr>
          <p:cNvPr id="16" name="">
            <a:extLst xmlns:a="http://schemas.openxmlformats.org/drawingml/2006/main">
              <a:ext uri="{FF2B5EF4-FFF2-40B4-BE49-F238E27FC236}">
                <a16:creationId xmlns:a16="http://schemas.microsoft.com/office/drawing/2014/main" id="{5AA02466-D3B8-4DD9-BC9D-8CC0E93B5E44}"/>
              </a:ext>
            </a:extLst>
          </p:cNvPr>
          <p:cNvSpPr>
            <a:spLocks xmlns:a="http://schemas.openxmlformats.org/drawingml/2006/main" noGrp="1"/>
          </p:cNvSpPr>
          <p:nvPr/>
        </p:nvSpPr>
        <p:spPr>
          <a:xfrm xmlns:a="http://schemas.openxmlformats.org/drawingml/2006/main">
            <a:off x="7077075" y="488632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1F3F8"/>
                </a:solidFill>
                <a:latin typeface="Helvetica Neue"/>
                <a:ea typeface="Helvetica Neue"/>
                <a:cs typeface="Helvetica Neue"/>
              </a:defRPr>
            </a:pPr>
            <a:r>
              <a:rPr sz="1425" b="1">
                <a:solidFill>
                  <a:srgbClr val="F1F3F8"/>
                </a:solidFill>
                <a:latin typeface="Helvetica Neue"/>
                <a:ea typeface="Helvetica Neue"/>
                <a:cs typeface="Helvetica Neue"/>
              </a:rPr>
              <a:t>Trend signals</a:t>
            </a:r>
          </a:p>
        </p:txBody>
      </p:sp>
      <p:sp>
        <p:nvSpPr>
          <p:cNvPr id="17" name="">
            <a:extLst xmlns:a="http://schemas.openxmlformats.org/drawingml/2006/main">
              <a:ext uri="{FF2B5EF4-FFF2-40B4-BE49-F238E27FC236}">
                <a16:creationId xmlns:a16="http://schemas.microsoft.com/office/drawing/2014/main" id="{4EF416D7-D484-446C-91EA-3124C7511330}"/>
              </a:ext>
            </a:extLst>
          </p:cNvPr>
          <p:cNvSpPr>
            <a:spLocks xmlns:a="http://schemas.openxmlformats.org/drawingml/2006/main" noGrp="1"/>
          </p:cNvSpPr>
          <p:nvPr/>
        </p:nvSpPr>
        <p:spPr>
          <a:xfrm xmlns:a="http://schemas.openxmlformats.org/drawingml/2006/main">
            <a:off x="7077075" y="517207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lnSpc>
                <a:spcPct val="108000"/>
              </a:lnSpc>
              <a:buNone/>
              <a:defRPr sz="1125" b="0">
                <a:solidFill>
                  <a:srgbClr val="A5ACB9"/>
                </a:solidFill>
                <a:latin typeface="Helvetica Neue"/>
                <a:ea typeface="Helvetica Neue"/>
                <a:cs typeface="Helvetica Neue"/>
              </a:defRPr>
            </a:pPr>
            <a:r>
              <a:rPr sz="1125" b="0">
                <a:solidFill>
                  <a:srgbClr val="A5ACB9"/>
                </a:solidFill>
                <a:latin typeface="Helvetica Neue"/>
                <a:ea typeface="Helvetica Neue"/>
                <a:cs typeface="Helvetica Neue"/>
              </a:rPr>
              <a:t>Inspiration only. A trend can suggest an angle but never justify a claim.</a:t>
            </a:r>
          </a:p>
        </p:txBody>
      </p:sp>
      <p:sp>
        <p:nvSpPr>
          <p:cNvPr id="18" name="">
            <a:extLst xmlns:a="http://schemas.openxmlformats.org/drawingml/2006/main">
              <a:ext uri="{FF2B5EF4-FFF2-40B4-BE49-F238E27FC236}">
                <a16:creationId xmlns:a16="http://schemas.microsoft.com/office/drawing/2014/main" id="{4B3E4A44-F5FB-4369-B625-E12FD1B694CC}"/>
              </a:ext>
            </a:extLst>
          </p:cNvPr>
          <p:cNvSpPr>
            <a:spLocks xmlns:a="http://schemas.openxmlformats.org/drawingml/2006/main" noGrp="1"/>
          </p:cNvSpPr>
          <p:nvPr/>
        </p:nvSpPr>
        <p:spPr>
          <a:xfrm xmlns:a="http://schemas.openxmlformats.org/drawingml/2006/main">
            <a:off x="685800" y="4857750"/>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a:solidFill>
                  <a:srgbClr val="98E7C3"/>
                </a:solidFill>
                <a:latin typeface="Helvetica Neue"/>
                <a:ea typeface="Helvetica Neue"/>
                <a:cs typeface="Helvetica Neue"/>
              </a:defRPr>
            </a:pPr>
            <a:r>
              <a:rPr sz="1650" b="1">
                <a:solidFill>
                  <a:srgbClr val="98E7C3"/>
                </a:solidFill>
                <a:latin typeface="Helvetica Neue"/>
                <a:ea typeface="Helvetica Neue"/>
                <a:cs typeface="Helvetica Neue"/>
              </a:rPr>
              <a:t>Result: a reviewer can see where the idea came from before releasing it to production.</a:t>
            </a:r>
          </a:p>
        </p:txBody>
      </p:sp>
      <p:sp>
        <p:nvSpPr>
          <p:cNvPr id="19" name="">
            <a:extLst xmlns:a="http://schemas.openxmlformats.org/drawingml/2006/main">
              <a:ext uri="{FF2B5EF4-FFF2-40B4-BE49-F238E27FC236}">
                <a16:creationId xmlns:a16="http://schemas.microsoft.com/office/drawing/2014/main" id="{E42BAA8C-A915-4BDC-8B5B-2136CEF40E8A}"/>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380EB19-BB4E-4D6E-BC63-29AA2E2977C9}"/>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21" name="">
            <a:extLst xmlns:a="http://schemas.openxmlformats.org/drawingml/2006/main">
              <a:ext uri="{FF2B5EF4-FFF2-40B4-BE49-F238E27FC236}">
                <a16:creationId xmlns:a16="http://schemas.microsoft.com/office/drawing/2014/main" id="{BEA90F6D-524C-4016-AF88-CB6F6A728585}"/>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04</a:t>
            </a:r>
          </a:p>
        </p:txBody>
      </p:sp>
    </p:spTree>
    <p:extLst>
      <p:ext uri="{BB962C8B-B14F-4D97-AF65-F5344CB8AC3E}">
        <p14:creationId xmlns:p14="http://schemas.microsoft.com/office/powerpoint/2010/main" val="1368573447"/>
      </p:ext>
    </p:extLst>
  </p:cSld>
</p:sld>
</file>

<file path=ppt/slides/slide5.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E46198B-587F-4973-A08B-AD2D66509687}"/>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BE6A"/>
                </a:solidFill>
                <a:latin typeface="Helvetica Neue"/>
                <a:ea typeface="Helvetica Neue"/>
                <a:cs typeface="Helvetica Neue"/>
              </a:defRPr>
            </a:pPr>
            <a:r>
              <a:rPr sz="900" b="1">
                <a:solidFill>
                  <a:srgbClr val="FFBE6A"/>
                </a:solidFill>
                <a:latin typeface="Helvetica Neue"/>
                <a:ea typeface="Helvetica Neue"/>
                <a:cs typeface="Helvetica Neue"/>
              </a:rPr>
              <a:t>05</a:t>
            </a:r>
          </a:p>
        </p:txBody>
      </p:sp>
      <p:sp>
        <p:nvSpPr>
          <p:cNvPr id="2" name="">
            <a:extLst xmlns:a="http://schemas.openxmlformats.org/drawingml/2006/main">
              <a:ext uri="{FF2B5EF4-FFF2-40B4-BE49-F238E27FC236}">
                <a16:creationId xmlns:a16="http://schemas.microsoft.com/office/drawing/2014/main" id="{C3F43A8F-42C1-4A15-90EB-712DDDBCFFA2}"/>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Human approval holds the line</a:t>
            </a:r>
          </a:p>
        </p:txBody>
      </p:sp>
      <p:sp>
        <p:nvSpPr>
          <p:cNvPr id="3" name="">
            <a:extLst xmlns:a="http://schemas.openxmlformats.org/drawingml/2006/main">
              <a:ext uri="{FF2B5EF4-FFF2-40B4-BE49-F238E27FC236}">
                <a16:creationId xmlns:a16="http://schemas.microsoft.com/office/drawing/2014/main" id="{16FBAB17-5796-4ECD-89AC-254B8540C023}"/>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825"/>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A campaign moves through one legal path, with the machine stopping where a person needs to decide.</a:t>
            </a:r>
          </a:p>
        </p:txBody>
      </p:sp>
      <p:sp>
        <p:nvSpPr>
          <p:cNvPr id="4" name="">
            <a:extLst xmlns:a="http://schemas.openxmlformats.org/drawingml/2006/main">
              <a:ext uri="{FF2B5EF4-FFF2-40B4-BE49-F238E27FC236}">
                <a16:creationId xmlns:a16="http://schemas.microsoft.com/office/drawing/2014/main" id="{C34C9C2F-AEE5-4971-9FF5-430F6427CDF3}"/>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4AB7EF9-28A6-48A6-8075-0E8AEA0CFCBA}"/>
              </a:ext>
            </a:extLst>
          </p:cNvPr>
          <p:cNvSpPr>
            <a:spLocks xmlns:a="http://schemas.openxmlformats.org/drawingml/2006/main" noGrp="1"/>
          </p:cNvSpPr>
          <p:nvPr/>
        </p:nvSpPr>
        <p:spPr>
          <a:xfrm xmlns:a="http://schemas.openxmlformats.org/drawingml/2006/main">
            <a:off x="685800" y="2571750"/>
            <a:ext cx="1257300" cy="647700"/>
          </a:xfrm>
          <a:prstGeom xmlns:a="http://schemas.openxmlformats.org/drawingml/2006/main" prst="roundRect">
            <a:avLst>
              <a:gd name="adj" fmla="val 17647"/>
            </a:avLst>
          </a:prstGeom>
          <a:solidFill xmlns:a="http://schemas.openxmlformats.org/drawingml/2006/main">
            <a:srgbClr val="10131A"/>
          </a:solidFill>
          <a:ln xmlns:a="http://schemas.openxmlformats.org/drawingml/2006/main" w="9525">
            <a:solidFill>
              <a:srgbClr val="687080"/>
            </a:solidFill>
            <a:prstDash val="solid"/>
          </a:ln>
        </p:spPr>
      </p:sp>
      <p:sp>
        <p:nvSpPr>
          <p:cNvPr id="6" name="">
            <a:extLst xmlns:a="http://schemas.openxmlformats.org/drawingml/2006/main">
              <a:ext uri="{FF2B5EF4-FFF2-40B4-BE49-F238E27FC236}">
                <a16:creationId xmlns:a16="http://schemas.microsoft.com/office/drawing/2014/main" id="{5363CCF1-D536-4154-BC39-58472C56CB11}"/>
              </a:ext>
            </a:extLst>
          </p:cNvPr>
          <p:cNvSpPr>
            <a:spLocks xmlns:a="http://schemas.openxmlformats.org/drawingml/2006/main" noGrp="1"/>
          </p:cNvSpPr>
          <p:nvPr/>
        </p:nvSpPr>
        <p:spPr>
          <a:xfrm xmlns:a="http://schemas.openxmlformats.org/drawingml/2006/main">
            <a:off x="819150" y="2752725"/>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125" b="1">
                <a:solidFill>
                  <a:srgbClr val="F1F3F8"/>
                </a:solidFill>
                <a:latin typeface="Helvetica Neue"/>
                <a:ea typeface="Helvetica Neue"/>
                <a:cs typeface="Helvetica Neue"/>
              </a:defRPr>
            </a:pPr>
            <a:r>
              <a:rPr sz="1125" b="1">
                <a:solidFill>
                  <a:srgbClr val="F1F3F8"/>
                </a:solidFill>
                <a:latin typeface="Helvetica Neue"/>
                <a:ea typeface="Helvetica Neue"/>
                <a:cs typeface="Helvetica Neue"/>
              </a:rPr>
              <a:t>Draft</a:t>
            </a:r>
          </a:p>
        </p:txBody>
      </p:sp>
      <p:sp>
        <p:nvSpPr>
          <p:cNvPr id="7" name="">
            <a:extLst xmlns:a="http://schemas.openxmlformats.org/drawingml/2006/main">
              <a:ext uri="{FF2B5EF4-FFF2-40B4-BE49-F238E27FC236}">
                <a16:creationId xmlns:a16="http://schemas.microsoft.com/office/drawing/2014/main" id="{B6FD8A78-4F7A-4F46-A5B1-C863576D06F3}"/>
              </a:ext>
            </a:extLst>
          </p:cNvPr>
          <p:cNvSpPr>
            <a:spLocks xmlns:a="http://schemas.openxmlformats.org/drawingml/2006/main" noGrp="1"/>
          </p:cNvSpPr>
          <p:nvPr/>
        </p:nvSpPr>
        <p:spPr>
          <a:xfrm xmlns:a="http://schemas.openxmlformats.org/drawingml/2006/main">
            <a:off x="1943100" y="2886075"/>
            <a:ext cx="209550" cy="19050"/>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AAA31B9-F5B7-42BB-98B2-E1B8E13D26AB}"/>
              </a:ext>
            </a:extLst>
          </p:cNvPr>
          <p:cNvSpPr>
            <a:spLocks xmlns:a="http://schemas.openxmlformats.org/drawingml/2006/main" noGrp="1"/>
          </p:cNvSpPr>
          <p:nvPr/>
        </p:nvSpPr>
        <p:spPr>
          <a:xfrm xmlns:a="http://schemas.openxmlformats.org/drawingml/2006/main">
            <a:off x="2152650" y="2571750"/>
            <a:ext cx="1257300" cy="647700"/>
          </a:xfrm>
          <a:prstGeom xmlns:a="http://schemas.openxmlformats.org/drawingml/2006/main" prst="roundRect">
            <a:avLst>
              <a:gd name="adj" fmla="val 17647"/>
            </a:avLst>
          </a:prstGeom>
          <a:solidFill xmlns:a="http://schemas.openxmlformats.org/drawingml/2006/main">
            <a:srgbClr val="10131A"/>
          </a:solidFill>
          <a:ln xmlns:a="http://schemas.openxmlformats.org/drawingml/2006/main" w="9525">
            <a:solidFill>
              <a:srgbClr val="6E9BFF"/>
            </a:solidFill>
            <a:prstDash val="solid"/>
          </a:ln>
        </p:spPr>
      </p:sp>
      <p:sp>
        <p:nvSpPr>
          <p:cNvPr id="9" name="">
            <a:extLst xmlns:a="http://schemas.openxmlformats.org/drawingml/2006/main">
              <a:ext uri="{FF2B5EF4-FFF2-40B4-BE49-F238E27FC236}">
                <a16:creationId xmlns:a16="http://schemas.microsoft.com/office/drawing/2014/main" id="{17ECD124-FACA-4E26-9F0F-6EE08E2F4030}"/>
              </a:ext>
            </a:extLst>
          </p:cNvPr>
          <p:cNvSpPr>
            <a:spLocks xmlns:a="http://schemas.openxmlformats.org/drawingml/2006/main" noGrp="1"/>
          </p:cNvSpPr>
          <p:nvPr/>
        </p:nvSpPr>
        <p:spPr>
          <a:xfrm xmlns:a="http://schemas.openxmlformats.org/drawingml/2006/main">
            <a:off x="2286000" y="2752725"/>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125" b="1">
                <a:solidFill>
                  <a:srgbClr val="F1F3F8"/>
                </a:solidFill>
                <a:latin typeface="Helvetica Neue"/>
                <a:ea typeface="Helvetica Neue"/>
                <a:cs typeface="Helvetica Neue"/>
              </a:defRPr>
            </a:pPr>
            <a:r>
              <a:rPr sz="1125" b="1">
                <a:solidFill>
                  <a:srgbClr val="F1F3F8"/>
                </a:solidFill>
                <a:latin typeface="Helvetica Neue"/>
                <a:ea typeface="Helvetica Neue"/>
                <a:cs typeface="Helvetica Neue"/>
              </a:rPr>
              <a:t>Planning</a:t>
            </a:r>
          </a:p>
        </p:txBody>
      </p:sp>
      <p:sp>
        <p:nvSpPr>
          <p:cNvPr id="10" name="">
            <a:extLst xmlns:a="http://schemas.openxmlformats.org/drawingml/2006/main">
              <a:ext uri="{FF2B5EF4-FFF2-40B4-BE49-F238E27FC236}">
                <a16:creationId xmlns:a16="http://schemas.microsoft.com/office/drawing/2014/main" id="{79A97ECB-60FB-47F4-A25A-E5CF1F0B6EEA}"/>
              </a:ext>
            </a:extLst>
          </p:cNvPr>
          <p:cNvSpPr>
            <a:spLocks xmlns:a="http://schemas.openxmlformats.org/drawingml/2006/main" noGrp="1"/>
          </p:cNvSpPr>
          <p:nvPr/>
        </p:nvSpPr>
        <p:spPr>
          <a:xfrm xmlns:a="http://schemas.openxmlformats.org/drawingml/2006/main">
            <a:off x="3409950" y="2886075"/>
            <a:ext cx="209550" cy="19050"/>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C648B85-570E-41B3-AA76-701B83C73E6D}"/>
              </a:ext>
            </a:extLst>
          </p:cNvPr>
          <p:cNvSpPr>
            <a:spLocks xmlns:a="http://schemas.openxmlformats.org/drawingml/2006/main" noGrp="1"/>
          </p:cNvSpPr>
          <p:nvPr/>
        </p:nvSpPr>
        <p:spPr>
          <a:xfrm xmlns:a="http://schemas.openxmlformats.org/drawingml/2006/main">
            <a:off x="3619500" y="2571750"/>
            <a:ext cx="1257300" cy="647700"/>
          </a:xfrm>
          <a:prstGeom xmlns:a="http://schemas.openxmlformats.org/drawingml/2006/main" prst="roundRect">
            <a:avLst>
              <a:gd name="adj" fmla="val 17647"/>
            </a:avLst>
          </a:prstGeom>
          <a:solidFill xmlns:a="http://schemas.openxmlformats.org/drawingml/2006/main">
            <a:srgbClr val="10131A"/>
          </a:solidFill>
          <a:ln xmlns:a="http://schemas.openxmlformats.org/drawingml/2006/main" w="9525">
            <a:solidFill>
              <a:srgbClr val="FFBE6A"/>
            </a:solidFill>
            <a:prstDash val="solid"/>
          </a:ln>
        </p:spPr>
      </p:sp>
      <p:sp>
        <p:nvSpPr>
          <p:cNvPr id="12" name="">
            <a:extLst xmlns:a="http://schemas.openxmlformats.org/drawingml/2006/main">
              <a:ext uri="{FF2B5EF4-FFF2-40B4-BE49-F238E27FC236}">
                <a16:creationId xmlns:a16="http://schemas.microsoft.com/office/drawing/2014/main" id="{A5509E1A-5FD6-43CC-A65D-575A0FDEF671}"/>
              </a:ext>
            </a:extLst>
          </p:cNvPr>
          <p:cNvSpPr>
            <a:spLocks xmlns:a="http://schemas.openxmlformats.org/drawingml/2006/main" noGrp="1"/>
          </p:cNvSpPr>
          <p:nvPr/>
        </p:nvSpPr>
        <p:spPr>
          <a:xfrm xmlns:a="http://schemas.openxmlformats.org/drawingml/2006/main">
            <a:off x="3752850" y="2752725"/>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125" b="1">
                <a:solidFill>
                  <a:srgbClr val="F1F3F8"/>
                </a:solidFill>
                <a:latin typeface="Helvetica Neue"/>
                <a:ea typeface="Helvetica Neue"/>
                <a:cs typeface="Helvetica Neue"/>
              </a:defRPr>
            </a:pPr>
            <a:r>
              <a:rPr sz="1125" b="1">
                <a:solidFill>
                  <a:srgbClr val="F1F3F8"/>
                </a:solidFill>
                <a:latin typeface="Helvetica Neue"/>
                <a:ea typeface="Helvetica Neue"/>
                <a:cs typeface="Helvetica Neue"/>
              </a:rPr>
              <a:t>Plan approval</a:t>
            </a:r>
          </a:p>
        </p:txBody>
      </p:sp>
      <p:sp>
        <p:nvSpPr>
          <p:cNvPr id="13" name="">
            <a:extLst xmlns:a="http://schemas.openxmlformats.org/drawingml/2006/main">
              <a:ext uri="{FF2B5EF4-FFF2-40B4-BE49-F238E27FC236}">
                <a16:creationId xmlns:a16="http://schemas.microsoft.com/office/drawing/2014/main" id="{77BD8B20-5E8B-4AEE-B5B5-CF593ED5C865}"/>
              </a:ext>
            </a:extLst>
          </p:cNvPr>
          <p:cNvSpPr>
            <a:spLocks xmlns:a="http://schemas.openxmlformats.org/drawingml/2006/main" noGrp="1"/>
          </p:cNvSpPr>
          <p:nvPr/>
        </p:nvSpPr>
        <p:spPr>
          <a:xfrm xmlns:a="http://schemas.openxmlformats.org/drawingml/2006/main">
            <a:off x="4876800" y="2886075"/>
            <a:ext cx="209550" cy="19050"/>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6A8D9E4-AF8E-467C-8DA3-377CC445191A}"/>
              </a:ext>
            </a:extLst>
          </p:cNvPr>
          <p:cNvSpPr>
            <a:spLocks xmlns:a="http://schemas.openxmlformats.org/drawingml/2006/main" noGrp="1"/>
          </p:cNvSpPr>
          <p:nvPr/>
        </p:nvSpPr>
        <p:spPr>
          <a:xfrm xmlns:a="http://schemas.openxmlformats.org/drawingml/2006/main">
            <a:off x="5086350" y="2571750"/>
            <a:ext cx="1257300" cy="647700"/>
          </a:xfrm>
          <a:prstGeom xmlns:a="http://schemas.openxmlformats.org/drawingml/2006/main" prst="roundRect">
            <a:avLst>
              <a:gd name="adj" fmla="val 17647"/>
            </a:avLst>
          </a:prstGeom>
          <a:solidFill xmlns:a="http://schemas.openxmlformats.org/drawingml/2006/main">
            <a:srgbClr val="10131A"/>
          </a:solidFill>
          <a:ln xmlns:a="http://schemas.openxmlformats.org/drawingml/2006/main" w="9525">
            <a:solidFill>
              <a:srgbClr val="6E9BFF"/>
            </a:solidFill>
            <a:prstDash val="solid"/>
          </a:ln>
        </p:spPr>
      </p:sp>
      <p:sp>
        <p:nvSpPr>
          <p:cNvPr id="15" name="">
            <a:extLst xmlns:a="http://schemas.openxmlformats.org/drawingml/2006/main">
              <a:ext uri="{FF2B5EF4-FFF2-40B4-BE49-F238E27FC236}">
                <a16:creationId xmlns:a16="http://schemas.microsoft.com/office/drawing/2014/main" id="{3E31A726-7A79-4857-9292-D25DCFE121EA}"/>
              </a:ext>
            </a:extLst>
          </p:cNvPr>
          <p:cNvSpPr>
            <a:spLocks xmlns:a="http://schemas.openxmlformats.org/drawingml/2006/main" noGrp="1"/>
          </p:cNvSpPr>
          <p:nvPr/>
        </p:nvSpPr>
        <p:spPr>
          <a:xfrm xmlns:a="http://schemas.openxmlformats.org/drawingml/2006/main">
            <a:off x="5219700" y="2752725"/>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125" b="1">
                <a:solidFill>
                  <a:srgbClr val="F1F3F8"/>
                </a:solidFill>
                <a:latin typeface="Helvetica Neue"/>
                <a:ea typeface="Helvetica Neue"/>
                <a:cs typeface="Helvetica Neue"/>
              </a:defRPr>
            </a:pPr>
            <a:r>
              <a:rPr sz="1125" b="1">
                <a:solidFill>
                  <a:srgbClr val="F1F3F8"/>
                </a:solidFill>
                <a:latin typeface="Helvetica Neue"/>
                <a:ea typeface="Helvetica Neue"/>
                <a:cs typeface="Helvetica Neue"/>
              </a:rPr>
              <a:t>Generating</a:t>
            </a:r>
          </a:p>
        </p:txBody>
      </p:sp>
      <p:sp>
        <p:nvSpPr>
          <p:cNvPr id="16" name="">
            <a:extLst xmlns:a="http://schemas.openxmlformats.org/drawingml/2006/main">
              <a:ext uri="{FF2B5EF4-FFF2-40B4-BE49-F238E27FC236}">
                <a16:creationId xmlns:a16="http://schemas.microsoft.com/office/drawing/2014/main" id="{80EB12B6-FF51-4BD1-95A1-DF17A3D0EE5F}"/>
              </a:ext>
            </a:extLst>
          </p:cNvPr>
          <p:cNvSpPr>
            <a:spLocks xmlns:a="http://schemas.openxmlformats.org/drawingml/2006/main" noGrp="1"/>
          </p:cNvSpPr>
          <p:nvPr/>
        </p:nvSpPr>
        <p:spPr>
          <a:xfrm xmlns:a="http://schemas.openxmlformats.org/drawingml/2006/main">
            <a:off x="6343650" y="2886075"/>
            <a:ext cx="209550" cy="19050"/>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EE2001F-A4C9-47A3-8958-9D2BE02618F9}"/>
              </a:ext>
            </a:extLst>
          </p:cNvPr>
          <p:cNvSpPr>
            <a:spLocks xmlns:a="http://schemas.openxmlformats.org/drawingml/2006/main" noGrp="1"/>
          </p:cNvSpPr>
          <p:nvPr/>
        </p:nvSpPr>
        <p:spPr>
          <a:xfrm xmlns:a="http://schemas.openxmlformats.org/drawingml/2006/main">
            <a:off x="6553200" y="2571750"/>
            <a:ext cx="1257300" cy="647700"/>
          </a:xfrm>
          <a:prstGeom xmlns:a="http://schemas.openxmlformats.org/drawingml/2006/main" prst="roundRect">
            <a:avLst>
              <a:gd name="adj" fmla="val 17647"/>
            </a:avLst>
          </a:prstGeom>
          <a:solidFill xmlns:a="http://schemas.openxmlformats.org/drawingml/2006/main">
            <a:srgbClr val="10131A"/>
          </a:solidFill>
          <a:ln xmlns:a="http://schemas.openxmlformats.org/drawingml/2006/main" w="9525">
            <a:solidFill>
              <a:srgbClr val="FFBE6A"/>
            </a:solidFill>
            <a:prstDash val="solid"/>
          </a:ln>
        </p:spPr>
      </p:sp>
      <p:sp>
        <p:nvSpPr>
          <p:cNvPr id="18" name="">
            <a:extLst xmlns:a="http://schemas.openxmlformats.org/drawingml/2006/main">
              <a:ext uri="{FF2B5EF4-FFF2-40B4-BE49-F238E27FC236}">
                <a16:creationId xmlns:a16="http://schemas.microsoft.com/office/drawing/2014/main" id="{9D544F3C-B342-4DBF-B05A-269ED3D64486}"/>
              </a:ext>
            </a:extLst>
          </p:cNvPr>
          <p:cNvSpPr>
            <a:spLocks xmlns:a="http://schemas.openxmlformats.org/drawingml/2006/main" noGrp="1"/>
          </p:cNvSpPr>
          <p:nvPr/>
        </p:nvSpPr>
        <p:spPr>
          <a:xfrm xmlns:a="http://schemas.openxmlformats.org/drawingml/2006/main">
            <a:off x="6686550" y="2752725"/>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125" b="1">
                <a:solidFill>
                  <a:srgbClr val="F1F3F8"/>
                </a:solidFill>
                <a:latin typeface="Helvetica Neue"/>
                <a:ea typeface="Helvetica Neue"/>
                <a:cs typeface="Helvetica Neue"/>
              </a:defRPr>
            </a:pPr>
            <a:r>
              <a:rPr sz="1125" b="1">
                <a:solidFill>
                  <a:srgbClr val="F1F3F8"/>
                </a:solidFill>
                <a:latin typeface="Helvetica Neue"/>
                <a:ea typeface="Helvetica Neue"/>
                <a:cs typeface="Helvetica Neue"/>
              </a:rPr>
              <a:t>Asset review</a:t>
            </a:r>
          </a:p>
        </p:txBody>
      </p:sp>
      <p:sp>
        <p:nvSpPr>
          <p:cNvPr id="19" name="">
            <a:extLst xmlns:a="http://schemas.openxmlformats.org/drawingml/2006/main">
              <a:ext uri="{FF2B5EF4-FFF2-40B4-BE49-F238E27FC236}">
                <a16:creationId xmlns:a16="http://schemas.microsoft.com/office/drawing/2014/main" id="{5E4E6BB1-729E-4B44-94D7-8D05C257BE95}"/>
              </a:ext>
            </a:extLst>
          </p:cNvPr>
          <p:cNvSpPr>
            <a:spLocks xmlns:a="http://schemas.openxmlformats.org/drawingml/2006/main" noGrp="1"/>
          </p:cNvSpPr>
          <p:nvPr/>
        </p:nvSpPr>
        <p:spPr>
          <a:xfrm xmlns:a="http://schemas.openxmlformats.org/drawingml/2006/main">
            <a:off x="7810500" y="2886075"/>
            <a:ext cx="209550" cy="19050"/>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1B57EEA-CA7F-4F2F-A166-1B0A78C4FC0C}"/>
              </a:ext>
            </a:extLst>
          </p:cNvPr>
          <p:cNvSpPr>
            <a:spLocks xmlns:a="http://schemas.openxmlformats.org/drawingml/2006/main" noGrp="1"/>
          </p:cNvSpPr>
          <p:nvPr/>
        </p:nvSpPr>
        <p:spPr>
          <a:xfrm xmlns:a="http://schemas.openxmlformats.org/drawingml/2006/main">
            <a:off x="8020050" y="2571750"/>
            <a:ext cx="1257300" cy="647700"/>
          </a:xfrm>
          <a:prstGeom xmlns:a="http://schemas.openxmlformats.org/drawingml/2006/main" prst="roundRect">
            <a:avLst>
              <a:gd name="adj" fmla="val 17647"/>
            </a:avLst>
          </a:prstGeom>
          <a:solidFill xmlns:a="http://schemas.openxmlformats.org/drawingml/2006/main">
            <a:srgbClr val="10131A"/>
          </a:solidFill>
          <a:ln xmlns:a="http://schemas.openxmlformats.org/drawingml/2006/main" w="9525">
            <a:solidFill>
              <a:srgbClr val="98E7C3"/>
            </a:solidFill>
            <a:prstDash val="solid"/>
          </a:ln>
        </p:spPr>
      </p:sp>
      <p:sp>
        <p:nvSpPr>
          <p:cNvPr id="21" name="">
            <a:extLst xmlns:a="http://schemas.openxmlformats.org/drawingml/2006/main">
              <a:ext uri="{FF2B5EF4-FFF2-40B4-BE49-F238E27FC236}">
                <a16:creationId xmlns:a16="http://schemas.microsoft.com/office/drawing/2014/main" id="{4267A636-7148-4560-8CE0-906FFE55B9C2}"/>
              </a:ext>
            </a:extLst>
          </p:cNvPr>
          <p:cNvSpPr>
            <a:spLocks xmlns:a="http://schemas.openxmlformats.org/drawingml/2006/main" noGrp="1"/>
          </p:cNvSpPr>
          <p:nvPr/>
        </p:nvSpPr>
        <p:spPr>
          <a:xfrm xmlns:a="http://schemas.openxmlformats.org/drawingml/2006/main">
            <a:off x="8153400" y="2752725"/>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6643"/>
          </a:bodyPr>
          <a:lstStyle xmlns:a="http://schemas.openxmlformats.org/drawingml/2006/main"/>
          <a:p xmlns:a="http://schemas.openxmlformats.org/drawingml/2006/main">
            <a:pPr algn="ctr">
              <a:lnSpc>
                <a:spcPct val="105000"/>
              </a:lnSpc>
              <a:buNone/>
              <a:defRPr sz="1125" b="1">
                <a:solidFill>
                  <a:srgbClr val="F1F3F8"/>
                </a:solidFill>
                <a:latin typeface="Helvetica Neue"/>
                <a:ea typeface="Helvetica Neue"/>
                <a:cs typeface="Helvetica Neue"/>
              </a:defRPr>
            </a:pPr>
            <a:r>
              <a:rPr sz="1125" b="1">
                <a:solidFill>
                  <a:srgbClr val="F1F3F8"/>
                </a:solidFill>
                <a:latin typeface="Helvetica Neue"/>
                <a:ea typeface="Helvetica Neue"/>
                <a:cs typeface="Helvetica Neue"/>
              </a:rPr>
              <a:t>Ready to publish</a:t>
            </a:r>
          </a:p>
        </p:txBody>
      </p:sp>
      <p:sp>
        <p:nvSpPr>
          <p:cNvPr id="22" name="">
            <a:extLst xmlns:a="http://schemas.openxmlformats.org/drawingml/2006/main">
              <a:ext uri="{FF2B5EF4-FFF2-40B4-BE49-F238E27FC236}">
                <a16:creationId xmlns:a16="http://schemas.microsoft.com/office/drawing/2014/main" id="{3E39951D-868D-4DD6-AD27-4A2C936F4CA7}"/>
              </a:ext>
            </a:extLst>
          </p:cNvPr>
          <p:cNvSpPr>
            <a:spLocks xmlns:a="http://schemas.openxmlformats.org/drawingml/2006/main" noGrp="1"/>
          </p:cNvSpPr>
          <p:nvPr/>
        </p:nvSpPr>
        <p:spPr>
          <a:xfrm xmlns:a="http://schemas.openxmlformats.org/drawingml/2006/main">
            <a:off x="685800" y="3857625"/>
            <a:ext cx="4857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354"/>
          </a:bodyPr>
          <a:lstStyle xmlns:a="http://schemas.openxmlformats.org/drawingml/2006/main"/>
          <a:p xmlns:a="http://schemas.openxmlformats.org/drawingml/2006/main">
            <a:pPr algn="l">
              <a:lnSpc>
                <a:spcPct val="113000"/>
              </a:lnSpc>
              <a:buNone/>
              <a:defRPr sz="1725" b="0">
                <a:solidFill>
                  <a:srgbClr val="F1F3F8"/>
                </a:solidFill>
                <a:latin typeface="Helvetica Neue"/>
                <a:ea typeface="Helvetica Neue"/>
                <a:cs typeface="Helvetica Neue"/>
              </a:defRPr>
            </a:pPr>
            <a:r>
              <a:rPr sz="1725" b="0">
                <a:solidFill>
                  <a:srgbClr val="F1F3F8"/>
                </a:solidFill>
                <a:latin typeface="Helvetica Neue"/>
                <a:ea typeface="Helvetica Neue"/>
                <a:cs typeface="Helvetica Neue"/>
              </a:rPr>
              <a:t>The UI makes the handover unmistakable: when a gate opens, the machine recedes and the review work moves forward. The run stays halted until someone releases it.</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9b8a177d5c0f4f11"/>
          <a:srcRect xmlns:a="http://schemas.openxmlformats.org/drawingml/2006/main" l="0" t="15461" r="0" b="15461"/>
          <a:stretch xmlns:a="http://schemas.openxmlformats.org/drawingml/2006/main">
            <a:fillRect l="0" t="0" r="0" b="0"/>
          </a:stretch>
        </p:blipFill>
        <p:spPr>
          <a:xfrm xmlns:a="http://schemas.openxmlformats.org/drawingml/2006/main">
            <a:off x="6343650" y="3667125"/>
            <a:ext cx="5162550" cy="2228850"/>
          </a:xfrm>
          <a:prstGeom xmlns:a="http://schemas.openxmlformats.org/drawingml/2006/main" prst="roundRect">
            <a:avLst>
              <a:gd name="adj" fmla="val 6838"/>
            </a:avLst>
          </a:prstGeom>
        </p:spPr>
      </p:pic>
      <p:sp>
        <p:nvSpPr>
          <p:cNvPr id="24" name="">
            <a:extLst xmlns:a="http://schemas.openxmlformats.org/drawingml/2006/main">
              <a:ext uri="{FF2B5EF4-FFF2-40B4-BE49-F238E27FC236}">
                <a16:creationId xmlns:a16="http://schemas.microsoft.com/office/drawing/2014/main" id="{3DB760A0-DF3D-40A5-A2D4-E4C8A6331B30}"/>
              </a:ext>
            </a:extLst>
          </p:cNvPr>
          <p:cNvSpPr>
            <a:spLocks xmlns:a="http://schemas.openxmlformats.org/drawingml/2006/main" noGrp="1"/>
          </p:cNvSpPr>
          <p:nvPr/>
        </p:nvSpPr>
        <p:spPr>
          <a:xfrm xmlns:a="http://schemas.openxmlformats.org/drawingml/2006/main">
            <a:off x="6343650" y="60007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87080"/>
                </a:solidFill>
                <a:latin typeface="Helvetica Neue"/>
                <a:ea typeface="Helvetica Neue"/>
                <a:cs typeface="Helvetica Neue"/>
              </a:defRPr>
            </a:pPr>
            <a:r>
              <a:rPr sz="900" b="0">
                <a:solidFill>
                  <a:srgbClr val="687080"/>
                </a:solidFill>
                <a:latin typeface="Helvetica Neue"/>
                <a:ea typeface="Helvetica Neue"/>
                <a:cs typeface="Helvetica Neue"/>
              </a:rPr>
              <a:t>Campaign Hub screen from the project</a:t>
            </a:r>
          </a:p>
        </p:txBody>
      </p:sp>
      <p:sp>
        <p:nvSpPr>
          <p:cNvPr id="25" name="">
            <a:extLst xmlns:a="http://schemas.openxmlformats.org/drawingml/2006/main">
              <a:ext uri="{FF2B5EF4-FFF2-40B4-BE49-F238E27FC236}">
                <a16:creationId xmlns:a16="http://schemas.microsoft.com/office/drawing/2014/main" id="{1FE20431-17A5-4E33-A927-218A39A15A13}"/>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D11555A-CE6B-40B3-B3A7-B42070627450}"/>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27" name="">
            <a:extLst xmlns:a="http://schemas.openxmlformats.org/drawingml/2006/main">
              <a:ext uri="{FF2B5EF4-FFF2-40B4-BE49-F238E27FC236}">
                <a16:creationId xmlns:a16="http://schemas.microsoft.com/office/drawing/2014/main" id="{AC6D19F6-CAF7-4AB7-8392-45C7A760D857}"/>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05</a:t>
            </a:r>
          </a:p>
        </p:txBody>
      </p:sp>
    </p:spTree>
    <p:extLst>
      <p:ext uri="{BB962C8B-B14F-4D97-AF65-F5344CB8AC3E}">
        <p14:creationId xmlns:p14="http://schemas.microsoft.com/office/powerpoint/2010/main" val="557371754"/>
      </p:ext>
    </p:extLst>
  </p:cSld>
</p:sld>
</file>

<file path=ppt/slides/slide6.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C17704A-A58E-49F2-8F5D-46CCF6706065}"/>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06</a:t>
            </a:r>
          </a:p>
        </p:txBody>
      </p:sp>
      <p:sp>
        <p:nvSpPr>
          <p:cNvPr id="2" name="">
            <a:extLst xmlns:a="http://schemas.openxmlformats.org/drawingml/2006/main">
              <a:ext uri="{FF2B5EF4-FFF2-40B4-BE49-F238E27FC236}">
                <a16:creationId xmlns:a16="http://schemas.microsoft.com/office/drawing/2014/main" id="{F1FE196F-29EC-4FFD-B38E-B34746538946}"/>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Image Studio</a:t>
            </a:r>
          </a:p>
        </p:txBody>
      </p:sp>
      <p:sp>
        <p:nvSpPr>
          <p:cNvPr id="3" name="">
            <a:extLst xmlns:a="http://schemas.openxmlformats.org/drawingml/2006/main">
              <a:ext uri="{FF2B5EF4-FFF2-40B4-BE49-F238E27FC236}">
                <a16:creationId xmlns:a16="http://schemas.microsoft.com/office/drawing/2014/main" id="{1CA2B65F-7B0F-48E9-9D13-857A55331421}"/>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014"/>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Approved concepts become reviewable creative, with a director and quality check before the asset gate.</a:t>
            </a:r>
          </a:p>
        </p:txBody>
      </p:sp>
      <p:sp>
        <p:nvSpPr>
          <p:cNvPr id="4" name="">
            <a:extLst xmlns:a="http://schemas.openxmlformats.org/drawingml/2006/main">
              <a:ext uri="{FF2B5EF4-FFF2-40B4-BE49-F238E27FC236}">
                <a16:creationId xmlns:a16="http://schemas.microsoft.com/office/drawing/2014/main" id="{140DE262-EAD4-4980-8F6A-9E17B683176D}"/>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EA08C45-21FD-47A4-9637-3AA5C8888978}"/>
              </a:ext>
            </a:extLst>
          </p:cNvPr>
          <p:cNvSpPr>
            <a:spLocks xmlns:a="http://schemas.openxmlformats.org/drawingml/2006/main" noGrp="1"/>
          </p:cNvSpPr>
          <p:nvPr/>
        </p:nvSpPr>
        <p:spPr>
          <a:xfrm xmlns:a="http://schemas.openxmlformats.org/drawingml/2006/main">
            <a:off x="685800" y="2476500"/>
            <a:ext cx="48958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50"/>
          </a:bodyPr>
          <a:lstStyle xmlns:a="http://schemas.openxmlformats.org/drawingml/2006/main"/>
          <a:p xmlns:a="http://schemas.openxmlformats.org/drawingml/2006/main">
            <a:pPr algn="l">
              <a:lnSpc>
                <a:spcPct val="112000"/>
              </a:lnSpc>
              <a:buNone/>
              <a:defRPr sz="1725" b="0">
                <a:solidFill>
                  <a:srgbClr val="F1F3F8"/>
                </a:solidFill>
                <a:latin typeface="Helvetica Neue"/>
                <a:ea typeface="Helvetica Neue"/>
                <a:cs typeface="Helvetica Neue"/>
              </a:defRPr>
            </a:pPr>
            <a:r>
              <a:rPr sz="1725" b="0">
                <a:solidFill>
                  <a:srgbClr val="F1F3F8"/>
                </a:solidFill>
                <a:latin typeface="Helvetica Neue"/>
                <a:ea typeface="Helvetica Neue"/>
                <a:cs typeface="Helvetica Neue"/>
              </a:rPr>
              <a:t>The crew writes copy, plans visual composition and reviews the pairing against brand ground truth. The renderer keeps the finished type under local control rather than asking an image model to draw it.</a:t>
            </a:r>
          </a:p>
        </p:txBody>
      </p:sp>
      <p:sp>
        <p:nvSpPr>
          <p:cNvPr id="6" name="">
            <a:extLst xmlns:a="http://schemas.openxmlformats.org/drawingml/2006/main">
              <a:ext uri="{FF2B5EF4-FFF2-40B4-BE49-F238E27FC236}">
                <a16:creationId xmlns:a16="http://schemas.microsoft.com/office/drawing/2014/main" id="{B7658A38-6A90-40D8-832B-F7B7535A2088}"/>
              </a:ext>
            </a:extLst>
          </p:cNvPr>
          <p:cNvSpPr>
            <a:spLocks xmlns:a="http://schemas.openxmlformats.org/drawingml/2006/main" noGrp="1"/>
          </p:cNvSpPr>
          <p:nvPr/>
        </p:nvSpPr>
        <p:spPr>
          <a:xfrm xmlns:a="http://schemas.openxmlformats.org/drawingml/2006/main">
            <a:off x="685800" y="3962400"/>
            <a:ext cx="4476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870"/>
          </a:bodyPr>
          <a:lstStyle xmlns:a="http://schemas.openxmlformats.org/drawingml/2006/main"/>
          <a:p xmlns:a="http://schemas.openxmlformats.org/drawingml/2006/main">
            <a:pPr algn="l">
              <a:lnSpc>
                <a:spcPct val="113000"/>
              </a:lnSpc>
              <a:buNone/>
              <a:defRPr sz="1500" b="1">
                <a:solidFill>
                  <a:srgbClr val="A5ACB9"/>
                </a:solidFill>
                <a:latin typeface="Helvetica Neue"/>
                <a:ea typeface="Helvetica Neue"/>
                <a:cs typeface="Helvetica Neue"/>
              </a:defRPr>
            </a:pPr>
            <a:r>
              <a:rPr sz="1500" b="1">
                <a:solidFill>
                  <a:srgbClr val="A5ACB9"/>
                </a:solidFill>
                <a:latin typeface="Helvetica Neue"/>
                <a:ea typeface="Helvetica Neue"/>
                <a:cs typeface="Helvetica Neue"/>
              </a:rPr>
              <a:t>A director can send work back for copy or visual changes. The revision budget stops at two passes so a reviewer never waits on an endless loop.</a:t>
            </a:r>
          </a:p>
        </p:txBody>
      </p:sp>
      <p:sp>
        <p:nvSpPr>
          <p:cNvPr id="7" name="">
            <a:extLst xmlns:a="http://schemas.openxmlformats.org/drawingml/2006/main">
              <a:ext uri="{FF2B5EF4-FFF2-40B4-BE49-F238E27FC236}">
                <a16:creationId xmlns:a16="http://schemas.microsoft.com/office/drawing/2014/main" id="{57A8B496-BBE9-472C-8F93-35B8F7CF03D7}"/>
              </a:ext>
            </a:extLst>
          </p:cNvPr>
          <p:cNvSpPr>
            <a:spLocks xmlns:a="http://schemas.openxmlformats.org/drawingml/2006/main" noGrp="1"/>
          </p:cNvSpPr>
          <p:nvPr/>
        </p:nvSpPr>
        <p:spPr>
          <a:xfrm xmlns:a="http://schemas.openxmlformats.org/drawingml/2006/main">
            <a:off x="685800" y="5219700"/>
            <a:ext cx="3733800" cy="28575"/>
          </a:xfrm>
          <a:prstGeom xmlns:a="http://schemas.openxmlformats.org/drawingml/2006/main" prst="rect">
            <a:avLst/>
          </a:prstGeom>
          <a:solidFill xmlns:a="http://schemas.openxmlformats.org/drawingml/2006/main">
            <a:srgbClr val="6E9B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E32EEB1-35A3-4E2C-8CA8-8799DF537E6F}"/>
              </a:ext>
            </a:extLst>
          </p:cNvPr>
          <p:cNvSpPr>
            <a:spLocks xmlns:a="http://schemas.openxmlformats.org/drawingml/2006/main" noGrp="1"/>
          </p:cNvSpPr>
          <p:nvPr/>
        </p:nvSpPr>
        <p:spPr>
          <a:xfrm xmlns:a="http://schemas.openxmlformats.org/drawingml/2006/main">
            <a:off x="685800" y="54102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039"/>
          </a:bodyPr>
          <a:lstStyle xmlns:a="http://schemas.openxmlformats.org/drawingml/2006/main"/>
          <a:p xmlns:a="http://schemas.openxmlformats.org/drawingml/2006/main">
            <a:pPr algn="l">
              <a:lnSpc>
                <a:spcPct val="105000"/>
              </a:lnSpc>
              <a:buNone/>
              <a:defRPr sz="1275" b="1">
                <a:solidFill>
                  <a:srgbClr val="6E9BFF"/>
                </a:solidFill>
                <a:latin typeface="Helvetica Neue"/>
                <a:ea typeface="Helvetica Neue"/>
                <a:cs typeface="Helvetica Neue"/>
              </a:defRPr>
            </a:pPr>
            <a:r>
              <a:rPr sz="1275" b="1">
                <a:solidFill>
                  <a:srgbClr val="6E9BFF"/>
                </a:solidFill>
                <a:latin typeface="Helvetica Neue"/>
                <a:ea typeface="Helvetica Neue"/>
                <a:cs typeface="Helvetica Neue"/>
              </a:rPr>
              <a:t>Output remains a decision, not an automatic publish action.</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2dbd5f0e8b84ae6"/>
          <a:srcRect xmlns:a="http://schemas.openxmlformats.org/drawingml/2006/main" l="0" t="0" r="0" b="0"/>
          <a:stretch xmlns:a="http://schemas.openxmlformats.org/drawingml/2006/main">
            <a:fillRect l="0" t="0" r="0" b="0"/>
          </a:stretch>
        </p:blipFill>
        <p:spPr>
          <a:xfrm xmlns:a="http://schemas.openxmlformats.org/drawingml/2006/main">
            <a:off x="7277100" y="2400300"/>
            <a:ext cx="3381375" cy="3381375"/>
          </a:xfrm>
          <a:prstGeom xmlns:a="http://schemas.openxmlformats.org/drawingml/2006/main" prst="roundRect">
            <a:avLst>
              <a:gd name="adj" fmla="val 4507"/>
            </a:avLst>
          </a:prstGeom>
        </p:spPr>
      </p:pic>
      <p:sp>
        <p:nvSpPr>
          <p:cNvPr id="10" name="">
            <a:extLst xmlns:a="http://schemas.openxmlformats.org/drawingml/2006/main">
              <a:ext uri="{FF2B5EF4-FFF2-40B4-BE49-F238E27FC236}">
                <a16:creationId xmlns:a16="http://schemas.microsoft.com/office/drawing/2014/main" id="{CC10E6D5-9CCF-423B-B9F2-C6167940E0E4}"/>
              </a:ext>
            </a:extLst>
          </p:cNvPr>
          <p:cNvSpPr>
            <a:spLocks xmlns:a="http://schemas.openxmlformats.org/drawingml/2006/main" noGrp="1"/>
          </p:cNvSpPr>
          <p:nvPr/>
        </p:nvSpPr>
        <p:spPr>
          <a:xfrm xmlns:a="http://schemas.openxmlformats.org/drawingml/2006/main">
            <a:off x="7277100" y="590550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87080"/>
                </a:solidFill>
                <a:latin typeface="Helvetica Neue"/>
                <a:ea typeface="Helvetica Neue"/>
                <a:cs typeface="Helvetica Neue"/>
              </a:defRPr>
            </a:pPr>
            <a:r>
              <a:rPr sz="900" b="0">
                <a:solidFill>
                  <a:srgbClr val="687080"/>
                </a:solidFill>
                <a:latin typeface="Helvetica Neue"/>
                <a:ea typeface="Helvetica Neue"/>
                <a:cs typeface="Helvetica Neue"/>
              </a:rPr>
              <a:t>Included seed creative. Example only.</a:t>
            </a:r>
          </a:p>
        </p:txBody>
      </p:sp>
      <p:sp>
        <p:nvSpPr>
          <p:cNvPr id="11" name="">
            <a:extLst xmlns:a="http://schemas.openxmlformats.org/drawingml/2006/main">
              <a:ext uri="{FF2B5EF4-FFF2-40B4-BE49-F238E27FC236}">
                <a16:creationId xmlns:a16="http://schemas.microsoft.com/office/drawing/2014/main" id="{B341CD9A-D92E-4CC0-81EE-4B55B6A3501E}"/>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E36106-7C6D-4CCE-9697-BBF3C5E65E98}"/>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13" name="">
            <a:extLst xmlns:a="http://schemas.openxmlformats.org/drawingml/2006/main">
              <a:ext uri="{FF2B5EF4-FFF2-40B4-BE49-F238E27FC236}">
                <a16:creationId xmlns:a16="http://schemas.microsoft.com/office/drawing/2014/main" id="{149A06F9-81DB-412C-9102-04C95E66D66C}"/>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06</a:t>
            </a:r>
          </a:p>
        </p:txBody>
      </p:sp>
    </p:spTree>
    <p:extLst>
      <p:ext uri="{BB962C8B-B14F-4D97-AF65-F5344CB8AC3E}">
        <p14:creationId xmlns:p14="http://schemas.microsoft.com/office/powerpoint/2010/main" val="1578396252"/>
      </p:ext>
    </p:extLst>
  </p:cSld>
</p:sld>
</file>

<file path=ppt/slides/slide7.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8B50331-F3D1-48D4-8E13-D655D43389CC}"/>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B08CFF"/>
                </a:solidFill>
                <a:latin typeface="Helvetica Neue"/>
                <a:ea typeface="Helvetica Neue"/>
                <a:cs typeface="Helvetica Neue"/>
              </a:defRPr>
            </a:pPr>
            <a:r>
              <a:rPr sz="900" b="1">
                <a:solidFill>
                  <a:srgbClr val="B08CFF"/>
                </a:solidFill>
                <a:latin typeface="Helvetica Neue"/>
                <a:ea typeface="Helvetica Neue"/>
                <a:cs typeface="Helvetica Neue"/>
              </a:rPr>
              <a:t>07</a:t>
            </a:r>
          </a:p>
        </p:txBody>
      </p:sp>
      <p:sp>
        <p:nvSpPr>
          <p:cNvPr id="2" name="">
            <a:extLst xmlns:a="http://schemas.openxmlformats.org/drawingml/2006/main">
              <a:ext uri="{FF2B5EF4-FFF2-40B4-BE49-F238E27FC236}">
                <a16:creationId xmlns:a16="http://schemas.microsoft.com/office/drawing/2014/main" id="{BD7EA280-D1E8-45A1-B0A8-12EEF5552B09}"/>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Video and cinematic storytelling</a:t>
            </a:r>
          </a:p>
        </p:txBody>
      </p:sp>
      <p:sp>
        <p:nvSpPr>
          <p:cNvPr id="3" name="">
            <a:extLst xmlns:a="http://schemas.openxmlformats.org/drawingml/2006/main">
              <a:ext uri="{FF2B5EF4-FFF2-40B4-BE49-F238E27FC236}">
                <a16:creationId xmlns:a16="http://schemas.microsoft.com/office/drawing/2014/main" id="{3FD995A1-A73C-4B41-B03E-E61B11D8FCD5}"/>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775"/>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Agentcy supports a reusable vertical marketing-video pipeline alongside a longer-form trailer workflow.</a:t>
            </a:r>
          </a:p>
        </p:txBody>
      </p:sp>
      <p:sp>
        <p:nvSpPr>
          <p:cNvPr id="4" name="">
            <a:extLst xmlns:a="http://schemas.openxmlformats.org/drawingml/2006/main">
              <a:ext uri="{FF2B5EF4-FFF2-40B4-BE49-F238E27FC236}">
                <a16:creationId xmlns:a16="http://schemas.microsoft.com/office/drawing/2014/main" id="{377B1AC2-62D1-46D1-8A59-DD050F91CFFF}"/>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75521C0-3D1A-4825-804F-C73853D2ACC5}"/>
              </a:ext>
            </a:extLst>
          </p:cNvPr>
          <p:cNvSpPr>
            <a:spLocks xmlns:a="http://schemas.openxmlformats.org/drawingml/2006/main" noGrp="1"/>
          </p:cNvSpPr>
          <p:nvPr/>
        </p:nvSpPr>
        <p:spPr>
          <a:xfrm xmlns:a="http://schemas.openxmlformats.org/drawingml/2006/main">
            <a:off x="685800" y="2476500"/>
            <a:ext cx="471487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46"/>
          </a:bodyPr>
          <a:lstStyle xmlns:a="http://schemas.openxmlformats.org/drawingml/2006/main"/>
          <a:p xmlns:a="http://schemas.openxmlformats.org/drawingml/2006/main">
            <a:pPr algn="l">
              <a:lnSpc>
                <a:spcPct val="112000"/>
              </a:lnSpc>
              <a:buNone/>
              <a:defRPr sz="1725" b="0">
                <a:solidFill>
                  <a:srgbClr val="F1F3F8"/>
                </a:solidFill>
                <a:latin typeface="Helvetica Neue"/>
                <a:ea typeface="Helvetica Neue"/>
                <a:cs typeface="Helvetica Neue"/>
              </a:defRPr>
            </a:pPr>
            <a:r>
              <a:rPr sz="1725" b="0">
                <a:solidFill>
                  <a:srgbClr val="F1F3F8"/>
                </a:solidFill>
                <a:latin typeface="Helvetica Neue"/>
                <a:ea typeface="Helvetica Neue"/>
                <a:cs typeface="Helvetica Neue"/>
              </a:rPr>
              <a:t>Video Studio saves the brand, product, audience, CTA and a three-to-eight-scene storyboard with each project. It renders the final vertical video locally so captions and product UI remain accurate.</a:t>
            </a:r>
          </a:p>
        </p:txBody>
      </p:sp>
      <p:sp>
        <p:nvSpPr>
          <p:cNvPr id="6" name="">
            <a:extLst xmlns:a="http://schemas.openxmlformats.org/drawingml/2006/main">
              <a:ext uri="{FF2B5EF4-FFF2-40B4-BE49-F238E27FC236}">
                <a16:creationId xmlns:a16="http://schemas.microsoft.com/office/drawing/2014/main" id="{3B336E56-18A1-4595-954A-A24F23F7D504}"/>
              </a:ext>
            </a:extLst>
          </p:cNvPr>
          <p:cNvSpPr>
            <a:spLocks xmlns:a="http://schemas.openxmlformats.org/drawingml/2006/main" noGrp="1"/>
          </p:cNvSpPr>
          <p:nvPr/>
        </p:nvSpPr>
        <p:spPr>
          <a:xfrm xmlns:a="http://schemas.openxmlformats.org/drawingml/2006/main">
            <a:off x="685800" y="4095750"/>
            <a:ext cx="4476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1425" b="0">
                <a:solidFill>
                  <a:srgbClr val="A5ACB9"/>
                </a:solidFill>
                <a:latin typeface="Helvetica Neue"/>
                <a:ea typeface="Helvetica Neue"/>
                <a:cs typeface="Helvetica Neue"/>
              </a:defRPr>
            </a:pPr>
            <a:r>
              <a:rPr sz="1425" b="0">
                <a:solidFill>
                  <a:srgbClr val="A5ACB9"/>
                </a:solidFill>
                <a:latin typeface="Helvetica Neue"/>
                <a:ea typeface="Helvetica Neue"/>
                <a:cs typeface="Helvetica Neue"/>
              </a:rPr>
              <a:t>Optional b-roll cannot replace the deterministic composition. If a provider is unavailable, the render falls back instead of failing the project.</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ef8cfc16587403c"/>
          <a:srcRect xmlns:a="http://schemas.openxmlformats.org/drawingml/2006/main" l="0" t="10" r="0" b="10"/>
          <a:stretch xmlns:a="http://schemas.openxmlformats.org/drawingml/2006/main">
            <a:fillRect l="0" t="0" r="0" b="0"/>
          </a:stretch>
        </p:blipFill>
        <p:spPr>
          <a:xfrm xmlns:a="http://schemas.openxmlformats.org/drawingml/2006/main">
            <a:off x="6238875" y="2476500"/>
            <a:ext cx="5267325" cy="2962275"/>
          </a:xfrm>
          <a:prstGeom xmlns:a="http://schemas.openxmlformats.org/drawingml/2006/main" prst="roundRect">
            <a:avLst>
              <a:gd name="adj" fmla="val 5145"/>
            </a:avLst>
          </a:prstGeom>
        </p:spPr>
      </p:pic>
      <p:sp>
        <p:nvSpPr>
          <p:cNvPr id="8" name="">
            <a:extLst xmlns:a="http://schemas.openxmlformats.org/drawingml/2006/main">
              <a:ext uri="{FF2B5EF4-FFF2-40B4-BE49-F238E27FC236}">
                <a16:creationId xmlns:a16="http://schemas.microsoft.com/office/drawing/2014/main" id="{ADF0EB43-6E1A-4F43-AC8D-A32FD37F7E28}"/>
              </a:ext>
            </a:extLst>
          </p:cNvPr>
          <p:cNvSpPr>
            <a:spLocks xmlns:a="http://schemas.openxmlformats.org/drawingml/2006/main" noGrp="1"/>
          </p:cNvSpPr>
          <p:nvPr/>
        </p:nvSpPr>
        <p:spPr>
          <a:xfrm xmlns:a="http://schemas.openxmlformats.org/drawingml/2006/main">
            <a:off x="6238875" y="5572125"/>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87080"/>
                </a:solidFill>
                <a:latin typeface="Helvetica Neue"/>
                <a:ea typeface="Helvetica Neue"/>
                <a:cs typeface="Helvetica Neue"/>
              </a:defRPr>
            </a:pPr>
            <a:r>
              <a:rPr sz="900" b="0">
                <a:solidFill>
                  <a:srgbClr val="687080"/>
                </a:solidFill>
                <a:latin typeface="Helvetica Neue"/>
                <a:ea typeface="Helvetica Neue"/>
                <a:cs typeface="Helvetica Neue"/>
              </a:rPr>
              <a:t>Cinematic Trailer frame from the included project assets</a:t>
            </a:r>
          </a:p>
        </p:txBody>
      </p:sp>
      <p:sp>
        <p:nvSpPr>
          <p:cNvPr id="9" name="">
            <a:extLst xmlns:a="http://schemas.openxmlformats.org/drawingml/2006/main">
              <a:ext uri="{FF2B5EF4-FFF2-40B4-BE49-F238E27FC236}">
                <a16:creationId xmlns:a16="http://schemas.microsoft.com/office/drawing/2014/main" id="{39C8766E-B8BA-442F-85AB-C994F8E25731}"/>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C5C99A-8247-42BF-9F98-6EBD4E5BCB2B}"/>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11" name="">
            <a:extLst xmlns:a="http://schemas.openxmlformats.org/drawingml/2006/main">
              <a:ext uri="{FF2B5EF4-FFF2-40B4-BE49-F238E27FC236}">
                <a16:creationId xmlns:a16="http://schemas.microsoft.com/office/drawing/2014/main" id="{CBC8CF85-F04F-4B56-A9FD-498F0C4CA53A}"/>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07</a:t>
            </a:r>
          </a:p>
        </p:txBody>
      </p:sp>
    </p:spTree>
    <p:extLst>
      <p:ext uri="{BB962C8B-B14F-4D97-AF65-F5344CB8AC3E}">
        <p14:creationId xmlns:p14="http://schemas.microsoft.com/office/powerpoint/2010/main" val="1995933458"/>
      </p:ext>
    </p:extLst>
  </p:cSld>
</p:sld>
</file>

<file path=ppt/slides/slide8.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C79EBAF-6F6D-4BCE-AB10-34FA84B4B563}"/>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98E7C3"/>
                </a:solidFill>
                <a:latin typeface="Helvetica Neue"/>
                <a:ea typeface="Helvetica Neue"/>
                <a:cs typeface="Helvetica Neue"/>
              </a:defRPr>
            </a:pPr>
            <a:r>
              <a:rPr sz="900" b="1">
                <a:solidFill>
                  <a:srgbClr val="98E7C3"/>
                </a:solidFill>
                <a:latin typeface="Helvetica Neue"/>
                <a:ea typeface="Helvetica Neue"/>
                <a:cs typeface="Helvetica Neue"/>
              </a:rPr>
              <a:t>08</a:t>
            </a:r>
          </a:p>
        </p:txBody>
      </p:sp>
      <p:sp>
        <p:nvSpPr>
          <p:cNvPr id="2" name="">
            <a:extLst xmlns:a="http://schemas.openxmlformats.org/drawingml/2006/main">
              <a:ext uri="{FF2B5EF4-FFF2-40B4-BE49-F238E27FC236}">
                <a16:creationId xmlns:a16="http://schemas.microsoft.com/office/drawing/2014/main" id="{54EBE720-D179-4562-9CFF-FD18541BED73}"/>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The interface makes control visible</a:t>
            </a:r>
          </a:p>
        </p:txBody>
      </p:sp>
      <p:sp>
        <p:nvSpPr>
          <p:cNvPr id="3" name="">
            <a:extLst xmlns:a="http://schemas.openxmlformats.org/drawingml/2006/main">
              <a:ext uri="{FF2B5EF4-FFF2-40B4-BE49-F238E27FC236}">
                <a16:creationId xmlns:a16="http://schemas.microsoft.com/office/drawing/2014/main" id="{92C7B922-E61A-43D8-910C-D2F9D4BAE10E}"/>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Agentcy frames AI work as an observable production process instead of a black-box answer.</a:t>
            </a:r>
          </a:p>
        </p:txBody>
      </p:sp>
      <p:sp>
        <p:nvSpPr>
          <p:cNvPr id="4" name="">
            <a:extLst xmlns:a="http://schemas.openxmlformats.org/drawingml/2006/main">
              <a:ext uri="{FF2B5EF4-FFF2-40B4-BE49-F238E27FC236}">
                <a16:creationId xmlns:a16="http://schemas.microsoft.com/office/drawing/2014/main" id="{C12865CD-90AB-4FF7-A492-373A5E035D3F}"/>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CB8D5D9-4AE8-4181-B0B0-BB454D0201F5}"/>
              </a:ext>
            </a:extLst>
          </p:cNvPr>
          <p:cNvSpPr>
            <a:spLocks xmlns:a="http://schemas.openxmlformats.org/drawingml/2006/main" noGrp="1"/>
          </p:cNvSpPr>
          <p:nvPr/>
        </p:nvSpPr>
        <p:spPr>
          <a:xfrm xmlns:a="http://schemas.openxmlformats.org/drawingml/2006/main">
            <a:off x="685800" y="2457450"/>
            <a:ext cx="40957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959"/>
          </a:bodyPr>
          <a:lstStyle xmlns:a="http://schemas.openxmlformats.org/drawingml/2006/main"/>
          <a:p xmlns:a="http://schemas.openxmlformats.org/drawingml/2006/main">
            <a:pPr algn="l">
              <a:lnSpc>
                <a:spcPct val="112000"/>
              </a:lnSpc>
              <a:buNone/>
              <a:defRPr sz="1725" b="0">
                <a:solidFill>
                  <a:srgbClr val="F1F3F8"/>
                </a:solidFill>
                <a:latin typeface="Helvetica Neue"/>
                <a:ea typeface="Helvetica Neue"/>
                <a:cs typeface="Helvetica Neue"/>
              </a:defRPr>
            </a:pPr>
            <a:r>
              <a:rPr sz="1725" b="0">
                <a:solidFill>
                  <a:srgbClr val="F1F3F8"/>
                </a:solidFill>
                <a:latin typeface="Helvetica Neue"/>
                <a:ea typeface="Helvetica Neue"/>
                <a:cs typeface="Helvetica Neue"/>
              </a:rPr>
              <a:t>The agent station shows where work sits. The graph shows the production path and revision loops. The gate moves attention from the machine to the decision. History preserves every planning and crew run so it can be reopened later.</a:t>
            </a:r>
          </a:p>
        </p:txBody>
      </p:sp>
      <p:sp>
        <p:nvSpPr>
          <p:cNvPr id="6" name="">
            <a:extLst xmlns:a="http://schemas.openxmlformats.org/drawingml/2006/main">
              <a:ext uri="{FF2B5EF4-FFF2-40B4-BE49-F238E27FC236}">
                <a16:creationId xmlns:a16="http://schemas.microsoft.com/office/drawing/2014/main" id="{EF0B9E37-CF72-4BE4-B036-F38E2DB97668}"/>
              </a:ext>
            </a:extLst>
          </p:cNvPr>
          <p:cNvSpPr>
            <a:spLocks xmlns:a="http://schemas.openxmlformats.org/drawingml/2006/main" noGrp="1"/>
          </p:cNvSpPr>
          <p:nvPr/>
        </p:nvSpPr>
        <p:spPr>
          <a:xfrm xmlns:a="http://schemas.openxmlformats.org/drawingml/2006/main">
            <a:off x="685800" y="442912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98E7C3"/>
                </a:solidFill>
                <a:latin typeface="Helvetica Neue"/>
                <a:ea typeface="Helvetica Neue"/>
                <a:cs typeface="Helvetica Neue"/>
              </a:defRPr>
            </a:pPr>
            <a:r>
              <a:rPr sz="1125" b="1">
                <a:solidFill>
                  <a:srgbClr val="98E7C3"/>
                </a:solidFill>
                <a:latin typeface="Helvetica Neue"/>
                <a:ea typeface="Helvetica Neue"/>
                <a:cs typeface="Helvetica Neue"/>
              </a:rPr>
              <a:t>Light</a:t>
            </a:r>
          </a:p>
        </p:txBody>
      </p:sp>
      <p:sp>
        <p:nvSpPr>
          <p:cNvPr id="7" name="">
            <a:extLst xmlns:a="http://schemas.openxmlformats.org/drawingml/2006/main">
              <a:ext uri="{FF2B5EF4-FFF2-40B4-BE49-F238E27FC236}">
                <a16:creationId xmlns:a16="http://schemas.microsoft.com/office/drawing/2014/main" id="{65C274BA-1419-449D-A3BF-018701740813}"/>
              </a:ext>
            </a:extLst>
          </p:cNvPr>
          <p:cNvSpPr>
            <a:spLocks xmlns:a="http://schemas.openxmlformats.org/drawingml/2006/main" noGrp="1"/>
          </p:cNvSpPr>
          <p:nvPr/>
        </p:nvSpPr>
        <p:spPr>
          <a:xfrm xmlns:a="http://schemas.openxmlformats.org/drawingml/2006/main">
            <a:off x="1743075" y="442912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A5ACB9"/>
                </a:solidFill>
                <a:latin typeface="Helvetica Neue"/>
                <a:ea typeface="Helvetica Neue"/>
                <a:cs typeface="Helvetica Neue"/>
              </a:defRPr>
            </a:pPr>
            <a:r>
              <a:rPr sz="1125" b="0">
                <a:solidFill>
                  <a:srgbClr val="A5ACB9"/>
                </a:solidFill>
                <a:latin typeface="Helvetica Neue"/>
                <a:ea typeface="Helvetica Neue"/>
                <a:cs typeface="Helvetica Neue"/>
              </a:rPr>
              <a:t>An active agent is visible at a glance.</a:t>
            </a:r>
          </a:p>
        </p:txBody>
      </p:sp>
      <p:sp>
        <p:nvSpPr>
          <p:cNvPr id="8" name="">
            <a:extLst xmlns:a="http://schemas.openxmlformats.org/drawingml/2006/main">
              <a:ext uri="{FF2B5EF4-FFF2-40B4-BE49-F238E27FC236}">
                <a16:creationId xmlns:a16="http://schemas.microsoft.com/office/drawing/2014/main" id="{C3085364-0F3C-446A-87BF-F863381712EC}"/>
              </a:ext>
            </a:extLst>
          </p:cNvPr>
          <p:cNvSpPr>
            <a:spLocks xmlns:a="http://schemas.openxmlformats.org/drawingml/2006/main" noGrp="1"/>
          </p:cNvSpPr>
          <p:nvPr/>
        </p:nvSpPr>
        <p:spPr>
          <a:xfrm xmlns:a="http://schemas.openxmlformats.org/drawingml/2006/main">
            <a:off x="685800" y="490537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FFBE6A"/>
                </a:solidFill>
                <a:latin typeface="Helvetica Neue"/>
                <a:ea typeface="Helvetica Neue"/>
                <a:cs typeface="Helvetica Neue"/>
              </a:defRPr>
            </a:pPr>
            <a:r>
              <a:rPr sz="1125" b="1">
                <a:solidFill>
                  <a:srgbClr val="FFBE6A"/>
                </a:solidFill>
                <a:latin typeface="Helvetica Neue"/>
                <a:ea typeface="Helvetica Neue"/>
                <a:cs typeface="Helvetica Neue"/>
              </a:rPr>
              <a:t>Amber</a:t>
            </a:r>
          </a:p>
        </p:txBody>
      </p:sp>
      <p:sp>
        <p:nvSpPr>
          <p:cNvPr id="9" name="">
            <a:extLst xmlns:a="http://schemas.openxmlformats.org/drawingml/2006/main">
              <a:ext uri="{FF2B5EF4-FFF2-40B4-BE49-F238E27FC236}">
                <a16:creationId xmlns:a16="http://schemas.microsoft.com/office/drawing/2014/main" id="{8F767E28-509A-4298-91AA-20EB01EC65CD}"/>
              </a:ext>
            </a:extLst>
          </p:cNvPr>
          <p:cNvSpPr>
            <a:spLocks xmlns:a="http://schemas.openxmlformats.org/drawingml/2006/main" noGrp="1"/>
          </p:cNvSpPr>
          <p:nvPr/>
        </p:nvSpPr>
        <p:spPr>
          <a:xfrm xmlns:a="http://schemas.openxmlformats.org/drawingml/2006/main">
            <a:off x="1743075" y="490537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130"/>
          </a:bodyPr>
          <a:lstStyle xmlns:a="http://schemas.openxmlformats.org/drawingml/2006/main"/>
          <a:p xmlns:a="http://schemas.openxmlformats.org/drawingml/2006/main">
            <a:pPr algn="l">
              <a:lnSpc>
                <a:spcPct val="105000"/>
              </a:lnSpc>
              <a:buNone/>
              <a:defRPr sz="1125" b="0">
                <a:solidFill>
                  <a:srgbClr val="A5ACB9"/>
                </a:solidFill>
                <a:latin typeface="Helvetica Neue"/>
                <a:ea typeface="Helvetica Neue"/>
                <a:cs typeface="Helvetica Neue"/>
              </a:defRPr>
            </a:pPr>
            <a:r>
              <a:rPr sz="1125" b="0">
                <a:solidFill>
                  <a:srgbClr val="A5ACB9"/>
                </a:solidFill>
                <a:latin typeface="Helvetica Neue"/>
                <a:ea typeface="Helvetica Neue"/>
                <a:cs typeface="Helvetica Neue"/>
              </a:rPr>
              <a:t>A warm signal means a human decision is required.</a:t>
            </a:r>
          </a:p>
        </p:txBody>
      </p:sp>
      <p:sp>
        <p:nvSpPr>
          <p:cNvPr id="10" name="">
            <a:extLst xmlns:a="http://schemas.openxmlformats.org/drawingml/2006/main">
              <a:ext uri="{FF2B5EF4-FFF2-40B4-BE49-F238E27FC236}">
                <a16:creationId xmlns:a16="http://schemas.microsoft.com/office/drawing/2014/main" id="{CAAB4186-7220-4C3A-A8EF-9395593463B7}"/>
              </a:ext>
            </a:extLst>
          </p:cNvPr>
          <p:cNvSpPr>
            <a:spLocks xmlns:a="http://schemas.openxmlformats.org/drawingml/2006/main" noGrp="1"/>
          </p:cNvSpPr>
          <p:nvPr/>
        </p:nvSpPr>
        <p:spPr>
          <a:xfrm xmlns:a="http://schemas.openxmlformats.org/drawingml/2006/main">
            <a:off x="685800" y="538162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98E7C3"/>
                </a:solidFill>
                <a:latin typeface="Helvetica Neue"/>
                <a:ea typeface="Helvetica Neue"/>
                <a:cs typeface="Helvetica Neue"/>
              </a:defRPr>
            </a:pPr>
            <a:r>
              <a:rPr sz="1125" b="1">
                <a:solidFill>
                  <a:srgbClr val="98E7C3"/>
                </a:solidFill>
                <a:latin typeface="Helvetica Neue"/>
                <a:ea typeface="Helvetica Neue"/>
                <a:cs typeface="Helvetica Neue"/>
              </a:rPr>
              <a:t>History</a:t>
            </a:r>
          </a:p>
        </p:txBody>
      </p:sp>
      <p:sp>
        <p:nvSpPr>
          <p:cNvPr id="11" name="">
            <a:extLst xmlns:a="http://schemas.openxmlformats.org/drawingml/2006/main">
              <a:ext uri="{FF2B5EF4-FFF2-40B4-BE49-F238E27FC236}">
                <a16:creationId xmlns:a16="http://schemas.microsoft.com/office/drawing/2014/main" id="{48E98E80-00FC-4C15-B25A-E64868900048}"/>
              </a:ext>
            </a:extLst>
          </p:cNvPr>
          <p:cNvSpPr>
            <a:spLocks xmlns:a="http://schemas.openxmlformats.org/drawingml/2006/main" noGrp="1"/>
          </p:cNvSpPr>
          <p:nvPr/>
        </p:nvSpPr>
        <p:spPr>
          <a:xfrm xmlns:a="http://schemas.openxmlformats.org/drawingml/2006/main">
            <a:off x="1743075" y="538162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43"/>
          </a:bodyPr>
          <a:lstStyle xmlns:a="http://schemas.openxmlformats.org/drawingml/2006/main"/>
          <a:p xmlns:a="http://schemas.openxmlformats.org/drawingml/2006/main">
            <a:pPr algn="l">
              <a:lnSpc>
                <a:spcPct val="105000"/>
              </a:lnSpc>
              <a:buNone/>
              <a:defRPr sz="1125" b="0">
                <a:solidFill>
                  <a:srgbClr val="A5ACB9"/>
                </a:solidFill>
                <a:latin typeface="Helvetica Neue"/>
                <a:ea typeface="Helvetica Neue"/>
                <a:cs typeface="Helvetica Neue"/>
              </a:defRPr>
            </a:pPr>
            <a:r>
              <a:rPr sz="1125" b="0">
                <a:solidFill>
                  <a:srgbClr val="A5ACB9"/>
                </a:solidFill>
                <a:latin typeface="Helvetica Neue"/>
                <a:ea typeface="Helvetica Neue"/>
                <a:cs typeface="Helvetica Neue"/>
              </a:rPr>
              <a:t>Past work can be replayed, not merely summarized.</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a1558b9672994926"/>
          <a:srcRect xmlns:a="http://schemas.openxmlformats.org/drawingml/2006/main" l="0" t="13291" r="0" b="13291"/>
          <a:stretch xmlns:a="http://schemas.openxmlformats.org/drawingml/2006/main">
            <a:fillRect l="0" t="0" r="0" b="0"/>
          </a:stretch>
        </p:blipFill>
        <p:spPr>
          <a:xfrm xmlns:a="http://schemas.openxmlformats.org/drawingml/2006/main">
            <a:off x="5476875" y="2400300"/>
            <a:ext cx="6029325" cy="3390900"/>
          </a:xfrm>
          <a:prstGeom xmlns:a="http://schemas.openxmlformats.org/drawingml/2006/main" prst="roundRect">
            <a:avLst>
              <a:gd name="adj" fmla="val 4494"/>
            </a:avLst>
          </a:prstGeom>
        </p:spPr>
      </p:pic>
      <p:sp>
        <p:nvSpPr>
          <p:cNvPr id="13" name="">
            <a:extLst xmlns:a="http://schemas.openxmlformats.org/drawingml/2006/main">
              <a:ext uri="{FF2B5EF4-FFF2-40B4-BE49-F238E27FC236}">
                <a16:creationId xmlns:a16="http://schemas.microsoft.com/office/drawing/2014/main" id="{64B66AAE-E860-49B1-A186-00ACA2C8C079}"/>
              </a:ext>
            </a:extLst>
          </p:cNvPr>
          <p:cNvSpPr>
            <a:spLocks xmlns:a="http://schemas.openxmlformats.org/drawingml/2006/main" noGrp="1"/>
          </p:cNvSpPr>
          <p:nvPr/>
        </p:nvSpPr>
        <p:spPr>
          <a:xfrm xmlns:a="http://schemas.openxmlformats.org/drawingml/2006/main">
            <a:off x="5476875" y="59055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87080"/>
                </a:solidFill>
                <a:latin typeface="Helvetica Neue"/>
                <a:ea typeface="Helvetica Neue"/>
                <a:cs typeface="Helvetica Neue"/>
              </a:defRPr>
            </a:pPr>
            <a:r>
              <a:rPr sz="900" b="0">
                <a:solidFill>
                  <a:srgbClr val="687080"/>
                </a:solidFill>
                <a:latin typeface="Helvetica Neue"/>
                <a:ea typeface="Helvetica Neue"/>
                <a:cs typeface="Helvetica Neue"/>
              </a:rPr>
              <a:t>History screen from the project</a:t>
            </a:r>
          </a:p>
        </p:txBody>
      </p:sp>
      <p:sp>
        <p:nvSpPr>
          <p:cNvPr id="14" name="">
            <a:extLst xmlns:a="http://schemas.openxmlformats.org/drawingml/2006/main">
              <a:ext uri="{FF2B5EF4-FFF2-40B4-BE49-F238E27FC236}">
                <a16:creationId xmlns:a16="http://schemas.microsoft.com/office/drawing/2014/main" id="{9ADC9903-287C-41CC-B85C-FE21410D3349}"/>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34F7784-FA4F-49B9-AB8B-A8AC6C310869}"/>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16" name="">
            <a:extLst xmlns:a="http://schemas.openxmlformats.org/drawingml/2006/main">
              <a:ext uri="{FF2B5EF4-FFF2-40B4-BE49-F238E27FC236}">
                <a16:creationId xmlns:a16="http://schemas.microsoft.com/office/drawing/2014/main" id="{0CFD4010-A6E8-4071-9F54-537E9067DD2B}"/>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08</a:t>
            </a:r>
          </a:p>
        </p:txBody>
      </p:sp>
    </p:spTree>
    <p:extLst>
      <p:ext uri="{BB962C8B-B14F-4D97-AF65-F5344CB8AC3E}">
        <p14:creationId xmlns:p14="http://schemas.microsoft.com/office/powerpoint/2010/main" val="2106230697"/>
      </p:ext>
    </p:extLst>
  </p:cSld>
</p:sld>
</file>

<file path=ppt/slides/slide9.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8B5D574-76C8-4697-AB3E-EBE2CBB5F93F}"/>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09</a:t>
            </a:r>
          </a:p>
        </p:txBody>
      </p:sp>
      <p:sp>
        <p:nvSpPr>
          <p:cNvPr id="2" name="">
            <a:extLst xmlns:a="http://schemas.openxmlformats.org/drawingml/2006/main">
              <a:ext uri="{FF2B5EF4-FFF2-40B4-BE49-F238E27FC236}">
                <a16:creationId xmlns:a16="http://schemas.microsoft.com/office/drawing/2014/main" id="{1B353186-2A09-483D-AAA2-ED3D87753E33}"/>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A dependable technical foundation</a:t>
            </a:r>
          </a:p>
        </p:txBody>
      </p:sp>
      <p:sp>
        <p:nvSpPr>
          <p:cNvPr id="3" name="">
            <a:extLst xmlns:a="http://schemas.openxmlformats.org/drawingml/2006/main">
              <a:ext uri="{FF2B5EF4-FFF2-40B4-BE49-F238E27FC236}">
                <a16:creationId xmlns:a16="http://schemas.microsoft.com/office/drawing/2014/main" id="{DDA6E47B-A96C-4703-8D56-C368A5090F99}"/>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The architecture keeps the workflow reproducible, inspectable and safe to rehearse offline.</a:t>
            </a:r>
          </a:p>
        </p:txBody>
      </p:sp>
      <p:sp>
        <p:nvSpPr>
          <p:cNvPr id="4" name="">
            <a:extLst xmlns:a="http://schemas.openxmlformats.org/drawingml/2006/main">
              <a:ext uri="{FF2B5EF4-FFF2-40B4-BE49-F238E27FC236}">
                <a16:creationId xmlns:a16="http://schemas.microsoft.com/office/drawing/2014/main" id="{52219D29-1226-4DC5-AD28-F9965E1D2556}"/>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C603A5F-5E69-4492-BEA2-EE3D160C62C8}"/>
              </a:ext>
            </a:extLst>
          </p:cNvPr>
          <p:cNvSpPr>
            <a:spLocks xmlns:a="http://schemas.openxmlformats.org/drawingml/2006/main" noGrp="1"/>
          </p:cNvSpPr>
          <p:nvPr/>
        </p:nvSpPr>
        <p:spPr>
          <a:xfrm xmlns:a="http://schemas.openxmlformats.org/drawingml/2006/main">
            <a:off x="685800" y="26670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BF4475AB-E03F-4D45-B0F0-ACC89DC884C8}"/>
              </a:ext>
            </a:extLst>
          </p:cNvPr>
          <p:cNvSpPr>
            <a:spLocks xmlns:a="http://schemas.openxmlformats.org/drawingml/2006/main" noGrp="1"/>
          </p:cNvSpPr>
          <p:nvPr/>
        </p:nvSpPr>
        <p:spPr>
          <a:xfrm xmlns:a="http://schemas.openxmlformats.org/drawingml/2006/main">
            <a:off x="685800" y="2990850"/>
            <a:ext cx="409575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C7743EE-31BD-4309-9760-632F9A8FA90B}"/>
              </a:ext>
            </a:extLst>
          </p:cNvPr>
          <p:cNvSpPr>
            <a:spLocks xmlns:a="http://schemas.openxmlformats.org/drawingml/2006/main" noGrp="1"/>
          </p:cNvSpPr>
          <p:nvPr/>
        </p:nvSpPr>
        <p:spPr>
          <a:xfrm xmlns:a="http://schemas.openxmlformats.org/drawingml/2006/main">
            <a:off x="685800" y="31623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F1F3F8"/>
                </a:solidFill>
                <a:latin typeface="Helvetica Neue"/>
                <a:ea typeface="Helvetica Neue"/>
                <a:cs typeface="Helvetica Neue"/>
              </a:defRPr>
            </a:pPr>
            <a:r>
              <a:rPr sz="1650" b="1">
                <a:solidFill>
                  <a:srgbClr val="F1F3F8"/>
                </a:solidFill>
                <a:latin typeface="Helvetica Neue"/>
                <a:ea typeface="Helvetica Neue"/>
                <a:cs typeface="Helvetica Neue"/>
              </a:rPr>
              <a:t>Workflow</a:t>
            </a:r>
          </a:p>
        </p:txBody>
      </p:sp>
      <p:sp>
        <p:nvSpPr>
          <p:cNvPr id="8" name="">
            <a:extLst xmlns:a="http://schemas.openxmlformats.org/drawingml/2006/main">
              <a:ext uri="{FF2B5EF4-FFF2-40B4-BE49-F238E27FC236}">
                <a16:creationId xmlns:a16="http://schemas.microsoft.com/office/drawing/2014/main" id="{6DC401D4-72DE-4235-9B9C-54250549BCFC}"/>
              </a:ext>
            </a:extLst>
          </p:cNvPr>
          <p:cNvSpPr>
            <a:spLocks xmlns:a="http://schemas.openxmlformats.org/drawingml/2006/main" noGrp="1"/>
          </p:cNvSpPr>
          <p:nvPr/>
        </p:nvSpPr>
        <p:spPr>
          <a:xfrm xmlns:a="http://schemas.openxmlformats.org/drawingml/2006/main">
            <a:off x="685800" y="35623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A5ACB9"/>
                </a:solidFill>
                <a:latin typeface="Helvetica Neue"/>
                <a:ea typeface="Helvetica Neue"/>
                <a:cs typeface="Helvetica Neue"/>
              </a:defRPr>
            </a:pPr>
            <a:r>
              <a:rPr sz="1275" b="0">
                <a:solidFill>
                  <a:srgbClr val="A5ACB9"/>
                </a:solidFill>
                <a:latin typeface="Helvetica Neue"/>
                <a:ea typeface="Helvetica Neue"/>
                <a:cs typeface="Helvetica Neue"/>
              </a:rPr>
              <a:t>FastAPI serves the console and API. A fixed campaign state machine prevents skipped stages.</a:t>
            </a:r>
          </a:p>
        </p:txBody>
      </p:sp>
      <p:sp>
        <p:nvSpPr>
          <p:cNvPr id="9" name="">
            <a:extLst xmlns:a="http://schemas.openxmlformats.org/drawingml/2006/main">
              <a:ext uri="{FF2B5EF4-FFF2-40B4-BE49-F238E27FC236}">
                <a16:creationId xmlns:a16="http://schemas.microsoft.com/office/drawing/2014/main" id="{EFBE7A8D-3497-4C38-B81B-149926082112}"/>
              </a:ext>
            </a:extLst>
          </p:cNvPr>
          <p:cNvSpPr>
            <a:spLocks xmlns:a="http://schemas.openxmlformats.org/drawingml/2006/main" noGrp="1"/>
          </p:cNvSpPr>
          <p:nvPr/>
        </p:nvSpPr>
        <p:spPr>
          <a:xfrm xmlns:a="http://schemas.openxmlformats.org/drawingml/2006/main">
            <a:off x="6067425" y="26670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B49CABEF-5C26-4DF0-BCB8-A2CC48A5ABDE}"/>
              </a:ext>
            </a:extLst>
          </p:cNvPr>
          <p:cNvSpPr>
            <a:spLocks xmlns:a="http://schemas.openxmlformats.org/drawingml/2006/main" noGrp="1"/>
          </p:cNvSpPr>
          <p:nvPr/>
        </p:nvSpPr>
        <p:spPr>
          <a:xfrm xmlns:a="http://schemas.openxmlformats.org/drawingml/2006/main">
            <a:off x="6067425" y="2990850"/>
            <a:ext cx="409575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04D084E-BB09-43F6-BD97-08C13549DF29}"/>
              </a:ext>
            </a:extLst>
          </p:cNvPr>
          <p:cNvSpPr>
            <a:spLocks xmlns:a="http://schemas.openxmlformats.org/drawingml/2006/main" noGrp="1"/>
          </p:cNvSpPr>
          <p:nvPr/>
        </p:nvSpPr>
        <p:spPr>
          <a:xfrm xmlns:a="http://schemas.openxmlformats.org/drawingml/2006/main">
            <a:off x="6067425" y="31623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F1F3F8"/>
                </a:solidFill>
                <a:latin typeface="Helvetica Neue"/>
                <a:ea typeface="Helvetica Neue"/>
                <a:cs typeface="Helvetica Neue"/>
              </a:defRPr>
            </a:pPr>
            <a:r>
              <a:rPr sz="1650" b="1">
                <a:solidFill>
                  <a:srgbClr val="F1F3F8"/>
                </a:solidFill>
                <a:latin typeface="Helvetica Neue"/>
                <a:ea typeface="Helvetica Neue"/>
                <a:cs typeface="Helvetica Neue"/>
              </a:rPr>
              <a:t>Grounding</a:t>
            </a:r>
          </a:p>
        </p:txBody>
      </p:sp>
      <p:sp>
        <p:nvSpPr>
          <p:cNvPr id="12" name="">
            <a:extLst xmlns:a="http://schemas.openxmlformats.org/drawingml/2006/main">
              <a:ext uri="{FF2B5EF4-FFF2-40B4-BE49-F238E27FC236}">
                <a16:creationId xmlns:a16="http://schemas.microsoft.com/office/drawing/2014/main" id="{7231D878-BE17-463F-B19E-F378D053727F}"/>
              </a:ext>
            </a:extLst>
          </p:cNvPr>
          <p:cNvSpPr>
            <a:spLocks xmlns:a="http://schemas.openxmlformats.org/drawingml/2006/main" noGrp="1"/>
          </p:cNvSpPr>
          <p:nvPr/>
        </p:nvSpPr>
        <p:spPr>
          <a:xfrm xmlns:a="http://schemas.openxmlformats.org/drawingml/2006/main">
            <a:off x="6067425" y="35623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A5ACB9"/>
                </a:solidFill>
                <a:latin typeface="Helvetica Neue"/>
                <a:ea typeface="Helvetica Neue"/>
                <a:cs typeface="Helvetica Neue"/>
              </a:defRPr>
            </a:pPr>
            <a:r>
              <a:rPr sz="1275" b="0">
                <a:solidFill>
                  <a:srgbClr val="A5ACB9"/>
                </a:solidFill>
                <a:latin typeface="Helvetica Neue"/>
                <a:ea typeface="Helvetica Neue"/>
                <a:cs typeface="Helvetica Neue"/>
              </a:rPr>
              <a:t>Chroma keeps company knowledge and trend data in separate collections, with different authority.</a:t>
            </a:r>
          </a:p>
        </p:txBody>
      </p:sp>
      <p:sp>
        <p:nvSpPr>
          <p:cNvPr id="13" name="">
            <a:extLst xmlns:a="http://schemas.openxmlformats.org/drawingml/2006/main">
              <a:ext uri="{FF2B5EF4-FFF2-40B4-BE49-F238E27FC236}">
                <a16:creationId xmlns:a16="http://schemas.microsoft.com/office/drawing/2014/main" id="{A63A8537-0B1A-4D25-A142-C36C68947033}"/>
              </a:ext>
            </a:extLst>
          </p:cNvPr>
          <p:cNvSpPr>
            <a:spLocks xmlns:a="http://schemas.openxmlformats.org/drawingml/2006/main" noGrp="1"/>
          </p:cNvSpPr>
          <p:nvPr/>
        </p:nvSpPr>
        <p:spPr>
          <a:xfrm xmlns:a="http://schemas.openxmlformats.org/drawingml/2006/main">
            <a:off x="685800" y="43434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E1745A77-76B7-4EA7-8BCD-FFCED7D0C319}"/>
              </a:ext>
            </a:extLst>
          </p:cNvPr>
          <p:cNvSpPr>
            <a:spLocks xmlns:a="http://schemas.openxmlformats.org/drawingml/2006/main" noGrp="1"/>
          </p:cNvSpPr>
          <p:nvPr/>
        </p:nvSpPr>
        <p:spPr>
          <a:xfrm xmlns:a="http://schemas.openxmlformats.org/drawingml/2006/main">
            <a:off x="685800" y="4667250"/>
            <a:ext cx="409575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353D50F-6269-44EF-A139-7CFE2DE17B1E}"/>
              </a:ext>
            </a:extLst>
          </p:cNvPr>
          <p:cNvSpPr>
            <a:spLocks xmlns:a="http://schemas.openxmlformats.org/drawingml/2006/main" noGrp="1"/>
          </p:cNvSpPr>
          <p:nvPr/>
        </p:nvSpPr>
        <p:spPr>
          <a:xfrm xmlns:a="http://schemas.openxmlformats.org/drawingml/2006/main">
            <a:off x="685800" y="48387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F1F3F8"/>
                </a:solidFill>
                <a:latin typeface="Helvetica Neue"/>
                <a:ea typeface="Helvetica Neue"/>
                <a:cs typeface="Helvetica Neue"/>
              </a:defRPr>
            </a:pPr>
            <a:r>
              <a:rPr sz="1650" b="1">
                <a:solidFill>
                  <a:srgbClr val="F1F3F8"/>
                </a:solidFill>
                <a:latin typeface="Helvetica Neue"/>
                <a:ea typeface="Helvetica Neue"/>
                <a:cs typeface="Helvetica Neue"/>
              </a:rPr>
              <a:t>Generation</a:t>
            </a:r>
          </a:p>
        </p:txBody>
      </p:sp>
      <p:sp>
        <p:nvSpPr>
          <p:cNvPr id="16" name="">
            <a:extLst xmlns:a="http://schemas.openxmlformats.org/drawingml/2006/main">
              <a:ext uri="{FF2B5EF4-FFF2-40B4-BE49-F238E27FC236}">
                <a16:creationId xmlns:a16="http://schemas.microsoft.com/office/drawing/2014/main" id="{517CB92D-39B9-44A8-8909-394E2AD1F053}"/>
              </a:ext>
            </a:extLst>
          </p:cNvPr>
          <p:cNvSpPr>
            <a:spLocks xmlns:a="http://schemas.openxmlformats.org/drawingml/2006/main" noGrp="1"/>
          </p:cNvSpPr>
          <p:nvPr/>
        </p:nvSpPr>
        <p:spPr>
          <a:xfrm xmlns:a="http://schemas.openxmlformats.org/drawingml/2006/main">
            <a:off x="685800" y="52387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A5ACB9"/>
                </a:solidFill>
                <a:latin typeface="Helvetica Neue"/>
                <a:ea typeface="Helvetica Neue"/>
                <a:cs typeface="Helvetica Neue"/>
              </a:defRPr>
            </a:pPr>
            <a:r>
              <a:rPr sz="1275" b="0">
                <a:solidFill>
                  <a:srgbClr val="A5ACB9"/>
                </a:solidFill>
                <a:latin typeface="Helvetica Neue"/>
                <a:ea typeface="Helvetica Neue"/>
                <a:cs typeface="Helvetica Neue"/>
              </a:rPr>
              <a:t>LangGraph models the crew and bounds director revisions. Schema-constrained outputs carry work between agents.</a:t>
            </a:r>
          </a:p>
        </p:txBody>
      </p:sp>
      <p:sp>
        <p:nvSpPr>
          <p:cNvPr id="17" name="">
            <a:extLst xmlns:a="http://schemas.openxmlformats.org/drawingml/2006/main">
              <a:ext uri="{FF2B5EF4-FFF2-40B4-BE49-F238E27FC236}">
                <a16:creationId xmlns:a16="http://schemas.microsoft.com/office/drawing/2014/main" id="{5518E2F4-0023-4BE7-9F72-485FC860FF0C}"/>
              </a:ext>
            </a:extLst>
          </p:cNvPr>
          <p:cNvSpPr>
            <a:spLocks xmlns:a="http://schemas.openxmlformats.org/drawingml/2006/main" noGrp="1"/>
          </p:cNvSpPr>
          <p:nvPr/>
        </p:nvSpPr>
        <p:spPr>
          <a:xfrm xmlns:a="http://schemas.openxmlformats.org/drawingml/2006/main">
            <a:off x="6067425" y="43434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04</a:t>
            </a:r>
          </a:p>
        </p:txBody>
      </p:sp>
      <p:sp>
        <p:nvSpPr>
          <p:cNvPr id="18" name="">
            <a:extLst xmlns:a="http://schemas.openxmlformats.org/drawingml/2006/main">
              <a:ext uri="{FF2B5EF4-FFF2-40B4-BE49-F238E27FC236}">
                <a16:creationId xmlns:a16="http://schemas.microsoft.com/office/drawing/2014/main" id="{2232D62E-16AD-4928-B594-3F941F7BD136}"/>
              </a:ext>
            </a:extLst>
          </p:cNvPr>
          <p:cNvSpPr>
            <a:spLocks xmlns:a="http://schemas.openxmlformats.org/drawingml/2006/main" noGrp="1"/>
          </p:cNvSpPr>
          <p:nvPr/>
        </p:nvSpPr>
        <p:spPr>
          <a:xfrm xmlns:a="http://schemas.openxmlformats.org/drawingml/2006/main">
            <a:off x="6067425" y="4667250"/>
            <a:ext cx="409575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9A4AA3F-98D9-4741-830D-7E81081BEAEF}"/>
              </a:ext>
            </a:extLst>
          </p:cNvPr>
          <p:cNvSpPr>
            <a:spLocks xmlns:a="http://schemas.openxmlformats.org/drawingml/2006/main" noGrp="1"/>
          </p:cNvSpPr>
          <p:nvPr/>
        </p:nvSpPr>
        <p:spPr>
          <a:xfrm xmlns:a="http://schemas.openxmlformats.org/drawingml/2006/main">
            <a:off x="6067425" y="48387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F1F3F8"/>
                </a:solidFill>
                <a:latin typeface="Helvetica Neue"/>
                <a:ea typeface="Helvetica Neue"/>
                <a:cs typeface="Helvetica Neue"/>
              </a:defRPr>
            </a:pPr>
            <a:r>
              <a:rPr sz="1650" b="1">
                <a:solidFill>
                  <a:srgbClr val="F1F3F8"/>
                </a:solidFill>
                <a:latin typeface="Helvetica Neue"/>
                <a:ea typeface="Helvetica Neue"/>
                <a:cs typeface="Helvetica Neue"/>
              </a:rPr>
              <a:t>Rehearsal</a:t>
            </a:r>
          </a:p>
        </p:txBody>
      </p:sp>
      <p:sp>
        <p:nvSpPr>
          <p:cNvPr id="20" name="">
            <a:extLst xmlns:a="http://schemas.openxmlformats.org/drawingml/2006/main">
              <a:ext uri="{FF2B5EF4-FFF2-40B4-BE49-F238E27FC236}">
                <a16:creationId xmlns:a16="http://schemas.microsoft.com/office/drawing/2014/main" id="{10B386F4-3291-4257-A207-5350F0E0E468}"/>
              </a:ext>
            </a:extLst>
          </p:cNvPr>
          <p:cNvSpPr>
            <a:spLocks xmlns:a="http://schemas.openxmlformats.org/drawingml/2006/main" noGrp="1"/>
          </p:cNvSpPr>
          <p:nvPr/>
        </p:nvSpPr>
        <p:spPr>
          <a:xfrm xmlns:a="http://schemas.openxmlformats.org/drawingml/2006/main">
            <a:off x="6067425" y="5238750"/>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A5ACB9"/>
                </a:solidFill>
                <a:latin typeface="Helvetica Neue"/>
                <a:ea typeface="Helvetica Neue"/>
                <a:cs typeface="Helvetica Neue"/>
              </a:defRPr>
            </a:pPr>
            <a:r>
              <a:rPr sz="1275" b="0">
                <a:solidFill>
                  <a:srgbClr val="A5ACB9"/>
                </a:solidFill>
                <a:latin typeface="Helvetica Neue"/>
                <a:ea typeface="Helvetica Neue"/>
                <a:cs typeface="Helvetica Neue"/>
              </a:rPr>
              <a:t>Demo providers run the real retrieval, gates and revision loop without API keys. Demo copy carries a [demo] prefix.</a:t>
            </a:r>
          </a:p>
        </p:txBody>
      </p:sp>
      <p:sp>
        <p:nvSpPr>
          <p:cNvPr id="21" name="">
            <a:extLst xmlns:a="http://schemas.openxmlformats.org/drawingml/2006/main">
              <a:ext uri="{FF2B5EF4-FFF2-40B4-BE49-F238E27FC236}">
                <a16:creationId xmlns:a16="http://schemas.microsoft.com/office/drawing/2014/main" id="{EEC73C18-719E-4E3B-B688-B23986FD36A7}"/>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B844D90-3714-4EDD-AEF8-0EC574A3F481}"/>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23" name="">
            <a:extLst xmlns:a="http://schemas.openxmlformats.org/drawingml/2006/main">
              <a:ext uri="{FF2B5EF4-FFF2-40B4-BE49-F238E27FC236}">
                <a16:creationId xmlns:a16="http://schemas.microsoft.com/office/drawing/2014/main" id="{DBDB3457-772B-4133-91B2-51E968160F8E}"/>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09</a:t>
            </a:r>
          </a:p>
        </p:txBody>
      </p:sp>
    </p:spTree>
    <p:extLst>
      <p:ext uri="{BB962C8B-B14F-4D97-AF65-F5344CB8AC3E}">
        <p14:creationId xmlns:p14="http://schemas.microsoft.com/office/powerpoint/2010/main" val="2076651232"/>
      </p:ext>
    </p:extLst>
  </p:cSld>
</p:sld>
</file>

<file path=ppt/slides/slide10.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B81967-3246-4688-88C3-3055BA78E0F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98E7C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4D99AC1-0CF8-4A0D-9357-369F5D8850F1}"/>
              </a:ext>
            </a:extLst>
          </p:cNvPr>
          <p:cNvSpPr>
            <a:spLocks xmlns:a="http://schemas.openxmlformats.org/drawingml/2006/main" noGrp="1"/>
          </p:cNvSpPr>
          <p:nvPr/>
        </p:nvSpPr>
        <p:spPr>
          <a:xfrm xmlns:a="http://schemas.openxmlformats.org/drawingml/2006/main">
            <a:off x="685800" y="723900"/>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98E7C3"/>
                </a:solidFill>
                <a:latin typeface="Helvetica Neue"/>
                <a:ea typeface="Helvetica Neue"/>
                <a:cs typeface="Helvetica Neue"/>
              </a:defRPr>
            </a:pPr>
            <a:r>
              <a:rPr sz="900" b="1">
                <a:solidFill>
                  <a:srgbClr val="98E7C3"/>
                </a:solidFill>
                <a:latin typeface="Helvetica Neue"/>
                <a:ea typeface="Helvetica Neue"/>
                <a:cs typeface="Helvetica Neue"/>
              </a:rPr>
              <a:t>THE PROJECT THESIS</a:t>
            </a:r>
          </a:p>
        </p:txBody>
      </p:sp>
      <p:sp>
        <p:nvSpPr>
          <p:cNvPr id="3" name="">
            <a:extLst xmlns:a="http://schemas.openxmlformats.org/drawingml/2006/main">
              <a:ext uri="{FF2B5EF4-FFF2-40B4-BE49-F238E27FC236}">
                <a16:creationId xmlns:a16="http://schemas.microsoft.com/office/drawing/2014/main" id="{C46E55EC-826B-405A-B8C9-676084530D90}"/>
              </a:ext>
            </a:extLst>
          </p:cNvPr>
          <p:cNvSpPr>
            <a:spLocks xmlns:a="http://schemas.openxmlformats.org/drawingml/2006/main" noGrp="1"/>
          </p:cNvSpPr>
          <p:nvPr/>
        </p:nvSpPr>
        <p:spPr>
          <a:xfrm xmlns:a="http://schemas.openxmlformats.org/drawingml/2006/main">
            <a:off x="685800" y="1257300"/>
            <a:ext cx="5334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825" b="1">
                <a:solidFill>
                  <a:srgbClr val="F1F3F8"/>
                </a:solidFill>
                <a:latin typeface="Helvetica Neue"/>
                <a:ea typeface="Helvetica Neue"/>
                <a:cs typeface="Helvetica Neue"/>
              </a:defRPr>
            </a:pPr>
            <a:r>
              <a:rPr sz="3825" b="1">
                <a:solidFill>
                  <a:srgbClr val="F1F3F8"/>
                </a:solidFill>
                <a:latin typeface="Helvetica Neue"/>
                <a:ea typeface="Helvetica Neue"/>
                <a:cs typeface="Helvetica Neue"/>
              </a:rPr>
              <a:t>Generative speed</a:t>
            </a:r>
          </a:p>
          <a:p xmlns:a="http://schemas.openxmlformats.org/drawingml/2006/main">
            <a:pPr algn="l">
              <a:lnSpc>
                <a:spcPct val="94000"/>
              </a:lnSpc>
              <a:buNone/>
              <a:defRPr sz="3825" b="1">
                <a:solidFill>
                  <a:srgbClr val="F1F3F8"/>
                </a:solidFill>
                <a:latin typeface="Helvetica Neue"/>
                <a:ea typeface="Helvetica Neue"/>
                <a:cs typeface="Helvetica Neue"/>
              </a:defRPr>
            </a:pPr>
            <a:r>
              <a:rPr sz="3825" b="1">
                <a:solidFill>
                  <a:srgbClr val="F1F3F8"/>
                </a:solidFill>
                <a:latin typeface="Helvetica Neue"/>
                <a:ea typeface="Helvetica Neue"/>
                <a:cs typeface="Helvetica Neue"/>
              </a:rPr>
              <a:t>with a human owner</a:t>
            </a:r>
          </a:p>
        </p:txBody>
      </p:sp>
      <p:sp>
        <p:nvSpPr>
          <p:cNvPr id="4" name="">
            <a:extLst xmlns:a="http://schemas.openxmlformats.org/drawingml/2006/main">
              <a:ext uri="{FF2B5EF4-FFF2-40B4-BE49-F238E27FC236}">
                <a16:creationId xmlns:a16="http://schemas.microsoft.com/office/drawing/2014/main" id="{40929DE4-B9B1-427D-BAAC-FD755780F72A}"/>
              </a:ext>
            </a:extLst>
          </p:cNvPr>
          <p:cNvSpPr>
            <a:spLocks xmlns:a="http://schemas.openxmlformats.org/drawingml/2006/main" noGrp="1"/>
          </p:cNvSpPr>
          <p:nvPr/>
        </p:nvSpPr>
        <p:spPr>
          <a:xfrm xmlns:a="http://schemas.openxmlformats.org/drawingml/2006/main">
            <a:off x="685800" y="3067050"/>
            <a:ext cx="5524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102"/>
          </a:bodyPr>
          <a:lstStyle xmlns:a="http://schemas.openxmlformats.org/drawingml/2006/main"/>
          <a:p xmlns:a="http://schemas.openxmlformats.org/drawingml/2006/main">
            <a:pPr algn="l">
              <a:lnSpc>
                <a:spcPct val="112000"/>
              </a:lnSpc>
              <a:buNone/>
              <a:defRPr sz="1800" b="0">
                <a:solidFill>
                  <a:srgbClr val="A5ACB9"/>
                </a:solidFill>
                <a:latin typeface="Helvetica Neue"/>
                <a:ea typeface="Helvetica Neue"/>
                <a:cs typeface="Helvetica Neue"/>
              </a:defRPr>
            </a:pPr>
            <a:r>
              <a:rPr sz="1800" b="0">
                <a:solidFill>
                  <a:srgbClr val="A5ACB9"/>
                </a:solidFill>
                <a:latin typeface="Helvetica Neue"/>
                <a:ea typeface="Helvetica Neue"/>
                <a:cs typeface="Helvetica Neue"/>
              </a:rPr>
              <a:t>Agentcy treats AI marketing as a controlled production system: grounded in the brand, open to local signals, visibly reviewed, and released by people.</a:t>
            </a:r>
          </a:p>
        </p:txBody>
      </p:sp>
      <p:sp>
        <p:nvSpPr>
          <p:cNvPr id="5" name="">
            <a:extLst xmlns:a="http://schemas.openxmlformats.org/drawingml/2006/main">
              <a:ext uri="{FF2B5EF4-FFF2-40B4-BE49-F238E27FC236}">
                <a16:creationId xmlns:a16="http://schemas.microsoft.com/office/drawing/2014/main" id="{058DAA9D-77B2-447B-B725-0E9813F0203B}"/>
              </a:ext>
            </a:extLst>
          </p:cNvPr>
          <p:cNvSpPr>
            <a:spLocks xmlns:a="http://schemas.openxmlformats.org/drawingml/2006/main" noGrp="1"/>
          </p:cNvSpPr>
          <p:nvPr/>
        </p:nvSpPr>
        <p:spPr>
          <a:xfrm xmlns:a="http://schemas.openxmlformats.org/drawingml/2006/main">
            <a:off x="685800" y="4629150"/>
            <a:ext cx="3810000" cy="28575"/>
          </a:xfrm>
          <a:prstGeom xmlns:a="http://schemas.openxmlformats.org/drawingml/2006/main" prst="rect">
            <a:avLst/>
          </a:prstGeom>
          <a:solidFill xmlns:a="http://schemas.openxmlformats.org/drawingml/2006/main">
            <a:srgbClr val="98E7C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09D6BE0-C602-4116-9C2D-DE7B033147B5}"/>
              </a:ext>
            </a:extLst>
          </p:cNvPr>
          <p:cNvSpPr>
            <a:spLocks xmlns:a="http://schemas.openxmlformats.org/drawingml/2006/main" noGrp="1"/>
          </p:cNvSpPr>
          <p:nvPr/>
        </p:nvSpPr>
        <p:spPr>
          <a:xfrm xmlns:a="http://schemas.openxmlformats.org/drawingml/2006/main">
            <a:off x="685800" y="4857750"/>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328"/>
          </a:bodyPr>
          <a:lstStyle xmlns:a="http://schemas.openxmlformats.org/drawingml/2006/main"/>
          <a:p xmlns:a="http://schemas.openxmlformats.org/drawingml/2006/main">
            <a:pPr algn="l">
              <a:lnSpc>
                <a:spcPct val="113000"/>
              </a:lnSpc>
              <a:buNone/>
              <a:defRPr sz="1425" b="0">
                <a:solidFill>
                  <a:srgbClr val="F1F3F8"/>
                </a:solidFill>
                <a:latin typeface="Helvetica Neue"/>
                <a:ea typeface="Helvetica Neue"/>
                <a:cs typeface="Helvetica Neue"/>
              </a:defRPr>
            </a:pPr>
            <a:r>
              <a:rPr sz="1425" b="0">
                <a:solidFill>
                  <a:srgbClr val="F1F3F8"/>
                </a:solidFill>
                <a:latin typeface="Helvetica Neue"/>
                <a:ea typeface="Helvetica Neue"/>
                <a:cs typeface="Helvetica Neue"/>
              </a:rPr>
              <a:t>A useful next evaluation: run one real SME brief through both approval gates and compare the approved output with the team's current production process.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d5fb03bbb4e4657"/>
          <a:stretch xmlns:a="http://schemas.openxmlformats.org/drawingml/2006/main"/>
        </p:blipFill>
        <p:spPr>
          <a:xfrm xmlns:a="http://schemas.openxmlformats.org/drawingml/2006/main">
            <a:off x="7258050" y="1653573"/>
            <a:ext cx="3048000" cy="3207953"/>
          </a:xfrm>
          <a:prstGeom xmlns:a="http://schemas.openxmlformats.org/drawingml/2006/main" prst="roundRect">
            <a:avLst>
              <a:gd name="adj" fmla="val 5000"/>
            </a:avLst>
          </a:prstGeom>
        </p:spPr>
      </p:pic>
      <p:sp>
        <p:nvSpPr>
          <p:cNvPr id="8" name="">
            <a:extLst xmlns:a="http://schemas.openxmlformats.org/drawingml/2006/main">
              <a:ext uri="{FF2B5EF4-FFF2-40B4-BE49-F238E27FC236}">
                <a16:creationId xmlns:a16="http://schemas.microsoft.com/office/drawing/2014/main" id="{18F7B66E-FED1-48AA-9B80-D23542D29F72}"/>
              </a:ext>
            </a:extLst>
          </p:cNvPr>
          <p:cNvSpPr>
            <a:spLocks xmlns:a="http://schemas.openxmlformats.org/drawingml/2006/main" noGrp="1"/>
          </p:cNvSpPr>
          <p:nvPr/>
        </p:nvSpPr>
        <p:spPr>
          <a:xfrm xmlns:a="http://schemas.openxmlformats.org/drawingml/2006/main">
            <a:off x="685800" y="635317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1F3F8"/>
                </a:solidFill>
                <a:latin typeface="Helvetica Neue"/>
                <a:ea typeface="Helvetica Neue"/>
                <a:cs typeface="Helvetica Neue"/>
              </a:defRPr>
            </a:pPr>
            <a:r>
              <a:rPr sz="1275" b="1">
                <a:solidFill>
                  <a:srgbClr val="F1F3F8"/>
                </a:solidFill>
                <a:latin typeface="Helvetica Neue"/>
                <a:ea typeface="Helvetica Neue"/>
                <a:cs typeface="Helvetica Neue"/>
              </a:rPr>
              <a:t>Agentcy</a:t>
            </a:r>
          </a:p>
        </p:txBody>
      </p:sp>
    </p:spTree>
    <p:extLst>
      <p:ext uri="{BB962C8B-B14F-4D97-AF65-F5344CB8AC3E}">
        <p14:creationId xmlns:p14="http://schemas.microsoft.com/office/powerpoint/2010/main" val="4196941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2026-09-07T02:27:31.2530000Z</dcterms:created>
  <dcterms:modified xsi:type="dcterms:W3CDTF">2026-09-07T02:27:31.2530000Z</dcterms:modified>
</coreProperties>
</file>