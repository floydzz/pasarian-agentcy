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a26317dedb46da" /><Relationship Type="http://schemas.openxmlformats.org/officeDocument/2006/relationships/extended-properties" Target="/docProps/app.xml" Id="Rca35ff80eae341e2" /><Relationship Type="http://schemas.openxmlformats.org/officeDocument/2006/relationships/officeDocument" Target="/ppt/presentation.xml" Id="R5e56fe8f473143dd" /></Relationships>
</file>

<file path=ppt/presentation.xml><?xml version="1.0" encoding="utf-8"?>
<p:presentation xmlns:p="http://schemas.openxmlformats.org/presentationml/2006/main">
  <p:sldMasterIdLst>
    <p:sldMasterId xmlns:r="http://schemas.openxmlformats.org/officeDocument/2006/relationships" id="2147483648" r:id="R23dce5d80fee4eeb"/>
  </p:sldMasterIdLst>
  <p:notesMasterIdLst>
    <p:notesMasterId xmlns:r="http://schemas.openxmlformats.org/officeDocument/2006/relationships" r:id="R0c758bf84474476e"/>
  </p:notesMasterIdLst>
  <p:sldIdLst>
    <p:sldId xmlns:r="http://schemas.openxmlformats.org/officeDocument/2006/relationships" id="256" r:id="R79ff8ac0ed914f18"/>
    <p:sldId xmlns:r="http://schemas.openxmlformats.org/officeDocument/2006/relationships" id="257" r:id="Re567d96cba5249d9"/>
    <p:sldId xmlns:r="http://schemas.openxmlformats.org/officeDocument/2006/relationships" id="258" r:id="Rd2d8743c61584b2f"/>
    <p:sldId xmlns:r="http://schemas.openxmlformats.org/officeDocument/2006/relationships" id="259" r:id="Re39d63e155794080"/>
    <p:sldId xmlns:r="http://schemas.openxmlformats.org/officeDocument/2006/relationships" id="260" r:id="R9f928b07737a4851"/>
    <p:sldId xmlns:r="http://schemas.openxmlformats.org/officeDocument/2006/relationships" id="261" r:id="Reccf3455a2f94e88"/>
    <p:sldId xmlns:r="http://schemas.openxmlformats.org/officeDocument/2006/relationships" id="262" r:id="R02f8575945c64669"/>
    <p:sldId xmlns:r="http://schemas.openxmlformats.org/officeDocument/2006/relationships" id="263" r:id="R195d1b40ff884e69"/>
    <p:sldId xmlns:r="http://schemas.openxmlformats.org/officeDocument/2006/relationships" id="264" r:id="R9f0c74f7692944b3"/>
    <p:sldId xmlns:r="http://schemas.openxmlformats.org/officeDocument/2006/relationships" id="265" r:id="Re8b1325f6be84a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19cfac7f92459d" /><Relationship Type="http://schemas.openxmlformats.org/officeDocument/2006/relationships/slideMaster" Target="/ppt/slideMasters/slideMaster1.xml" Id="R23dce5d80fee4eeb" /><Relationship Type="http://schemas.openxmlformats.org/officeDocument/2006/relationships/notesMaster" Target="/ppt/notesMasters/notesMaster1.xml" Id="R0c758bf84474476e" /><Relationship Type="http://schemas.openxmlformats.org/officeDocument/2006/relationships/presProps" Target="/ppt/presProps.xml" Id="Rbdcb60f3ade34129" /><Relationship Type="http://schemas.openxmlformats.org/officeDocument/2006/relationships/tableStyles" Target="/ppt/tableStyles.xml" Id="R6f407cdfab0b422c" /><Relationship Type="http://schemas.openxmlformats.org/officeDocument/2006/relationships/slide" Target="/ppt/slides/slide1.xml" Id="R79ff8ac0ed914f18" /><Relationship Type="http://schemas.openxmlformats.org/officeDocument/2006/relationships/slide" Target="/ppt/slides/slide2.xml" Id="Re567d96cba5249d9" /><Relationship Type="http://schemas.openxmlformats.org/officeDocument/2006/relationships/slide" Target="/ppt/slides/slide3.xml" Id="Rd2d8743c61584b2f" /><Relationship Type="http://schemas.openxmlformats.org/officeDocument/2006/relationships/slide" Target="/ppt/slides/slide4.xml" Id="Re39d63e155794080" /><Relationship Type="http://schemas.openxmlformats.org/officeDocument/2006/relationships/slide" Target="/ppt/slides/slide5.xml" Id="R9f928b07737a4851" /><Relationship Type="http://schemas.openxmlformats.org/officeDocument/2006/relationships/slide" Target="/ppt/slides/slide6.xml" Id="Reccf3455a2f94e88" /><Relationship Type="http://schemas.openxmlformats.org/officeDocument/2006/relationships/slide" Target="/ppt/slides/slide7.xml" Id="R02f8575945c64669" /><Relationship Type="http://schemas.openxmlformats.org/officeDocument/2006/relationships/slide" Target="/ppt/slides/slide8.xml" Id="R195d1b40ff884e69" /><Relationship Type="http://schemas.openxmlformats.org/officeDocument/2006/relationships/slide" Target="/ppt/slides/slide9.xml" Id="R9f0c74f7692944b3" /><Relationship Type="http://schemas.openxmlformats.org/officeDocument/2006/relationships/slide" Target="/ppt/slides/slide10.xml" Id="Re8b1325f6be84a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5f831833fa45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324a3722824cc4" /><Relationship Type="http://schemas.openxmlformats.org/officeDocument/2006/relationships/notesMaster" Target="/ppt/notesMasters/notesMaster1.xml" Id="R14fab9af01b540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cc56e7c94b4c28" /><Relationship Type="http://schemas.openxmlformats.org/officeDocument/2006/relationships/notesMaster" Target="/ppt/notesMasters/notesMaster1.xml" Id="R72cc5558471d47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2e6f85903849a3" /><Relationship Type="http://schemas.openxmlformats.org/officeDocument/2006/relationships/notesMaster" Target="/ppt/notesMasters/notesMaster1.xml" Id="Ree70f02d027a4d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799486368d4e9d" /><Relationship Type="http://schemas.openxmlformats.org/officeDocument/2006/relationships/notesMaster" Target="/ppt/notesMasters/notesMaster1.xml" Id="R00d871c735944e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f2ba7641304a7e" /><Relationship Type="http://schemas.openxmlformats.org/officeDocument/2006/relationships/notesMaster" Target="/ppt/notesMasters/notesMaster1.xml" Id="R668a6c147de04f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b1a5230fa44498" /><Relationship Type="http://schemas.openxmlformats.org/officeDocument/2006/relationships/notesMaster" Target="/ppt/notesMasters/notesMaster1.xml" Id="R6f05aa4b46af49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ffb85ff0d04b2c" /><Relationship Type="http://schemas.openxmlformats.org/officeDocument/2006/relationships/notesMaster" Target="/ppt/notesMasters/notesMaster1.xml" Id="R6bca1d33e4e64c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50b8f6ec2841cc" /><Relationship Type="http://schemas.openxmlformats.org/officeDocument/2006/relationships/notesMaster" Target="/ppt/notesMasters/notesMaster1.xml" Id="R8e7316ce315a49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2273ed145b4795" /><Relationship Type="http://schemas.openxmlformats.org/officeDocument/2006/relationships/notesMaster" Target="/ppt/notesMasters/notesMaster1.xml" Id="Rcb70f4e10c054a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fa859644f8440f" /><Relationship Type="http://schemas.openxmlformats.org/officeDocument/2006/relationships/notesMaster" Target="/ppt/notesMasters/notesMaster1.xml" Id="Rc541d9ed61ec42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Good morning everyone. Today I am introducing Agentcy, an AI campaign-production workspace designed for Malaysian SMEs.</a:t>
            </a:r>
          </a:p>
          <a:p xmlns:a="http://schemas.openxmlformats.org/drawingml/2006/main">
            <a:r>
              <a:t/>
            </a:r>
          </a:p>
          <a:p xmlns:a="http://schemas.openxmlformats.org/drawingml/2006/main">
            <a:r>
              <a:t>The idea behind this project is simple. Marketing teams want to move faster, but they cannot hand product claims, brand voice, and publishing decisions to a black box. Agentcy brings campaign planning, image creation, video creation, and human approval into one visible workflow.</a:t>
            </a:r>
          </a:p>
          <a:p xmlns:a="http://schemas.openxmlformats.org/drawingml/2006/main">
            <a:r>
              <a:t/>
            </a:r>
          </a:p>
          <a:p xmlns:a="http://schemas.openxmlformats.org/drawingml/2006/main">
            <a:r>
              <a:t>By the end of this presentation, I want to show that the main value of Agentcy is not only generation speed. It is the ability to keep a person in control while the system does useful work.</a:t>
            </a:r>
          </a:p>
          <a:p xmlns:a="http://schemas.openxmlformats.org/drawingml/2006/main">
            <a:r>
              <a:t/>
            </a:r>
          </a:p>
          <a:p xmlns:a="http://schemas.openxmlformats.org/drawingml/2006/main">
            <a:r>
              <a:t>SOURCES</a:t>
            </a:r>
          </a:p>
          <a:p xmlns:a="http://schemas.openxmlformats.org/drawingml/2006/main">
            <a:r>
              <a:t/>
            </a:r>
          </a:p>
          <a:p xmlns:a="http://schemas.openxmlformats.org/drawingml/2006/main">
            <a:r>
              <a:t>Sources: README.md (project description); frontend/src/assets/hero.png (original project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generative tools can produce an initial idea quickly. The more difficult problem starts after that first draft.</a:t>
            </a:r>
          </a:p>
          <a:p xmlns:a="http://schemas.openxmlformats.org/drawingml/2006/main">
            <a:r>
              <a:t/>
            </a:r>
          </a:p>
          <a:p xmlns:a="http://schemas.openxmlformats.org/drawingml/2006/main">
            <a:r>
              <a:t>For a real brand, the content has to remain accurate. It has to respect the product facts and restrictions. It also has to fit the campaign context, especially when local trends or seasonal events are involved.</a:t>
            </a:r>
          </a:p>
          <a:p xmlns:a="http://schemas.openxmlformats.org/drawingml/2006/main">
            <a:r>
              <a:t/>
            </a:r>
          </a:p>
          <a:p xmlns:a="http://schemas.openxmlformats.org/drawingml/2006/main">
            <a:r>
              <a:t>Agentcy focuses on that gap. It treats brand truth, local context, and final human control as part of the production process rather than as checks added at the end.</a:t>
            </a:r>
          </a:p>
          <a:p xmlns:a="http://schemas.openxmlformats.org/drawingml/2006/main">
            <a:r>
              <a:t/>
            </a:r>
          </a:p>
          <a:p xmlns:a="http://schemas.openxmlformats.org/drawingml/2006/main">
            <a:r>
              <a:t>SOURCES</a:t>
            </a:r>
          </a:p>
          <a:p xmlns:a="http://schemas.openxmlformats.org/drawingml/2006/main">
            <a:r>
              <a:t/>
            </a:r>
          </a:p>
          <a:p xmlns:a="http://schemas.openxmlformats.org/drawingml/2006/main">
            <a:r>
              <a:t>Source: README.md; frontend/README.md. The problem framing summarizes the project's stated product claim and product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This is how Agentcy turns the idea into a working product.</a:t>
            </a:r>
          </a:p>
          <a:p xmlns:a="http://schemas.openxmlformats.org/drawingml/2006/main">
            <a:r>
              <a:t/>
            </a:r>
          </a:p>
          <a:p xmlns:a="http://schemas.openxmlformats.org/drawingml/2006/main">
            <a:r>
              <a:t>The workflow begins with a campaign brief. The planner develops grounded concepts from that brief. Once a concept is approved, a generation crew prepares the copy and visual direction. The system then supports image or video production, with a human approval point before the work moves on.</a:t>
            </a:r>
          </a:p>
          <a:p xmlns:a="http://schemas.openxmlformats.org/drawingml/2006/main">
            <a:r>
              <a:t/>
            </a:r>
          </a:p>
          <a:p xmlns:a="http://schemas.openxmlformats.org/drawingml/2006/main">
            <a:r>
              <a:t>On the right, you can see the Image Studio. It exposes the agents, the work path, and the points where a human review happens. The user can see what the system is doing instead of waiting for an unexplained output.</a:t>
            </a:r>
          </a:p>
          <a:p xmlns:a="http://schemas.openxmlformats.org/drawingml/2006/main">
            <a:r>
              <a:t/>
            </a:r>
          </a:p>
          <a:p xmlns:a="http://schemas.openxmlformats.org/drawingml/2006/main">
            <a:r>
              <a:t>SOURCES</a:t>
            </a:r>
          </a:p>
          <a:p xmlns:a="http://schemas.openxmlformats.org/drawingml/2006/main">
            <a:r>
              <a:t/>
            </a:r>
          </a:p>
          <a:p xmlns:a="http://schemas.openxmlformats.org/drawingml/2006/main">
            <a:r>
              <a:t>Sources: README.md; frontend/README.md; image-studio.png (original project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planning stage uses a clear hierarchy of information.</a:t>
            </a:r>
          </a:p>
          <a:p xmlns:a="http://schemas.openxmlformats.org/drawingml/2006/main">
            <a:r>
              <a:t/>
            </a:r>
          </a:p>
          <a:p xmlns:a="http://schemas.openxmlformats.org/drawingml/2006/main">
            <a:r>
              <a:t>First, the campaign brief tells the system what the team wants to achieve. Second, company knowledge provides the product facts, brand voice, approved claims, and restrictions. This is the source of truth.</a:t>
            </a:r>
          </a:p>
          <a:p xmlns:a="http://schemas.openxmlformats.org/drawingml/2006/main">
            <a:r>
              <a:t/>
            </a:r>
          </a:p>
          <a:p xmlns:a="http://schemas.openxmlformats.org/drawingml/2006/main">
            <a:r>
              <a:t>Trend signals come last. They can suggest a useful creative angle, but they can never become evidence for a product claim. That distinction is important because it prevents the system from treating a popular search topic as a fact about the brand.</a:t>
            </a:r>
          </a:p>
          <a:p xmlns:a="http://schemas.openxmlformats.org/drawingml/2006/main">
            <a:r>
              <a:t/>
            </a:r>
          </a:p>
          <a:p xmlns:a="http://schemas.openxmlformats.org/drawingml/2006/main">
            <a:r>
              <a:t>Before anything is generated, the reviewer can see the rationale behind the concept and understand where it came from.</a:t>
            </a:r>
          </a:p>
          <a:p xmlns:a="http://schemas.openxmlformats.org/drawingml/2006/main">
            <a:r>
              <a:t/>
            </a:r>
          </a:p>
          <a:p xmlns:a="http://schemas.openxmlformats.org/drawingml/2006/main">
            <a:r>
              <a:t>SOURCES</a:t>
            </a:r>
          </a:p>
          <a:p xmlns:a="http://schemas.openxmlformats.org/drawingml/2006/main">
            <a:r>
              <a:t/>
            </a:r>
          </a:p>
          <a:p xmlns:a="http://schemas.openxmlformats.org/drawingml/2006/main">
            <a:r>
              <a:t>Sources: backend/app/agents/planner.py; backend/app/rag/store.py; backend/README.md. The ordering and rationale requirements come from the planner's documented source hierarchy.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This slide shows the campaign state path. A campaign starts as a draft, moves into planning, waits for plan approval, then enters generation. After generation, it waits again for asset review before it becomes ready to publish.</a:t>
            </a:r>
          </a:p>
          <a:p xmlns:a="http://schemas.openxmlformats.org/drawingml/2006/main">
            <a:r>
              <a:t/>
            </a:r>
          </a:p>
          <a:p xmlns:a="http://schemas.openxmlformats.org/drawingml/2006/main">
            <a:r>
              <a:t>The key rule is that the campaign cannot skip these stages. The system does not approve its own concept, and it does not publish its own output.</a:t>
            </a:r>
          </a:p>
          <a:p xmlns:a="http://schemas.openxmlformats.org/drawingml/2006/main">
            <a:r>
              <a:t/>
            </a:r>
          </a:p>
          <a:p xmlns:a="http://schemas.openxmlformats.org/drawingml/2006/main">
            <a:r>
              <a:t>The interface reinforces that rule visually. When a gate opens, the machine recedes and the review work becomes the focus. The work stays there until a person makes a decision.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Sources: backend/app/domain.py; frontend/src/components/os/StudioShell.tsx; frontend/src/components/os/GateShell.tsx; hub.png (original project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Once a team approves a concept, the Image Studio turns it into reviewable creative.</a:t>
            </a:r>
          </a:p>
          <a:p xmlns:a="http://schemas.openxmlformats.org/drawingml/2006/main">
            <a:r>
              <a:t/>
            </a:r>
          </a:p>
          <a:p xmlns:a="http://schemas.openxmlformats.org/drawingml/2006/main">
            <a:r>
              <a:t>The generation crew writes the copy, plans the image composition, and checks the pairing against the brand knowledge. The renderer keeps the final text under local control, so the system does not depend on an image model to draw accurate captions or product details.</a:t>
            </a:r>
          </a:p>
          <a:p xmlns:a="http://schemas.openxmlformats.org/drawingml/2006/main">
            <a:r>
              <a:t/>
            </a:r>
          </a:p>
          <a:p xmlns:a="http://schemas.openxmlformats.org/drawingml/2006/main">
            <a:r>
              <a:t>The creative director can request revisions to either the copy or the visuals. However, the revision loop has a fixed limit of two passes. This prevents the workflow from getting stuck and makes sure a reviewer sees work that is clearly marked as passed or flagged.</a:t>
            </a:r>
          </a:p>
          <a:p xmlns:a="http://schemas.openxmlformats.org/drawingml/2006/main">
            <a:r>
              <a:t/>
            </a:r>
          </a:p>
          <a:p xmlns:a="http://schemas.openxmlformats.org/drawingml/2006/main">
            <a:r>
              <a:t>SOURCES</a:t>
            </a:r>
          </a:p>
          <a:p xmlns:a="http://schemas.openxmlformats.org/drawingml/2006/main">
            <a:r>
              <a:t/>
            </a:r>
          </a:p>
          <a:p xmlns:a="http://schemas.openxmlformats.org/drawingml/2006/main">
            <a:r>
              <a:t>Sources: backend/app/agents/crew.py; backend/app/domain.py; README.md; seed/assets/aef9984d06024e29953322308de8ffe7.png (included project seed creative). No commercial performance claim is implied by this example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Agentcy also extends the same control model to video.</a:t>
            </a:r>
          </a:p>
          <a:p xmlns:a="http://schemas.openxmlformats.org/drawingml/2006/main">
            <a:r>
              <a:t/>
            </a:r>
          </a:p>
          <a:p xmlns:a="http://schemas.openxmlformats.org/drawingml/2006/main">
            <a:r>
              <a:t>The Video Studio saves the brand, product, target audience, call to action, and storyboard with each project. It renders the final vertical video locally so the captions and product interface stay accurate.</a:t>
            </a:r>
          </a:p>
          <a:p xmlns:a="http://schemas.openxmlformats.org/drawingml/2006/main">
            <a:r>
              <a:t/>
            </a:r>
          </a:p>
          <a:p xmlns:a="http://schemas.openxmlformats.org/drawingml/2006/main">
            <a:r>
              <a:t>The project also includes a Cinematic Trailer workflow for longer-form storytelling. If optional generated b-roll is unavailable, the video pipeline can fall back to its deterministic render rather than failing completely.</a:t>
            </a:r>
          </a:p>
          <a:p xmlns:a="http://schemas.openxmlformats.org/drawingml/2006/main">
            <a:r>
              <a:t/>
            </a:r>
          </a:p>
          <a:p xmlns:a="http://schemas.openxmlformats.org/drawingml/2006/main">
            <a:r>
              <a:t>That makes video a repeatable production process instead of a one-off prompt experiment.</a:t>
            </a:r>
          </a:p>
          <a:p xmlns:a="http://schemas.openxmlformats.org/drawingml/2006/main">
            <a:r>
              <a:t/>
            </a:r>
          </a:p>
          <a:p xmlns:a="http://schemas.openxmlformats.org/drawingml/2006/main">
            <a:r>
              <a:t>SOURCES</a:t>
            </a:r>
          </a:p>
          <a:p xmlns:a="http://schemas.openxmlformats.org/drawingml/2006/main">
            <a:r>
              <a:t/>
            </a:r>
          </a:p>
          <a:p xmlns:a="http://schemas.openxmlformats.org/drawingml/2006/main">
            <a:r>
              <a:t>Source: README.md, 'Video studio' and 'Cinematic trailer' descriptions; seed/assets/3cb31ef9189d462fa10a141793967f52.png (included project trailer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For me, this is an important part of the project. The interface is designed to make the system understandable while it is working.</a:t>
            </a:r>
          </a:p>
          <a:p xmlns:a="http://schemas.openxmlformats.org/drawingml/2006/main">
            <a:r>
              <a:t/>
            </a:r>
          </a:p>
          <a:p xmlns:a="http://schemas.openxmlformats.org/drawingml/2006/main">
            <a:r>
              <a:t>The agent station shows which agent currently holds the work. The flow graph shows the production path and any revision loops. Amber is reserved for the moment when a human decision is required.</a:t>
            </a:r>
          </a:p>
          <a:p xmlns:a="http://schemas.openxmlformats.org/drawingml/2006/main">
            <a:r>
              <a:t/>
            </a:r>
          </a:p>
          <a:p xmlns:a="http://schemas.openxmlformats.org/drawingml/2006/main">
            <a:r>
              <a:t>The History screen on the right keeps both the outputs and the record of the work that produced them. A team can reopen a planning pass or crew run later instead of losing the context once a campaign ends.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Sources: frontend/README.md; frontend/src/components/os/AgentStation.tsx; frontend/src/components/os/GateShell.tsx; history-work.png (original project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Behind the interface, the project uses a foundation designed for a dependable demonstration and future extension.</a:t>
            </a:r>
          </a:p>
          <a:p xmlns:a="http://schemas.openxmlformats.org/drawingml/2006/main">
            <a:r>
              <a:t/>
            </a:r>
          </a:p>
          <a:p xmlns:a="http://schemas.openxmlformats.org/drawingml/2006/main">
            <a:r>
              <a:t>FastAPI serves the application and API, while a fixed campaign state machine prevents skipped workflow stages. Chroma stores company knowledge and trend data separately because they have different levels of authority.</a:t>
            </a:r>
          </a:p>
          <a:p xmlns:a="http://schemas.openxmlformats.org/drawingml/2006/main">
            <a:r>
              <a:t/>
            </a:r>
          </a:p>
          <a:p xmlns:a="http://schemas.openxmlformats.org/drawingml/2006/main">
            <a:r>
              <a:t>LangGraph models the generation crew and its bounded revision process. The system also supports an offline demonstration mode. In this mode, retrieval, gates, and revision logic still run, but the generated copy is clearly labelled as demo content.</a:t>
            </a:r>
          </a:p>
          <a:p xmlns:a="http://schemas.openxmlformats.org/drawingml/2006/main">
            <a:r>
              <a:t/>
            </a:r>
          </a:p>
          <a:p xmlns:a="http://schemas.openxmlformats.org/drawingml/2006/main">
            <a:r>
              <a:t>This makes it possible to test the complete workflow without needing live model credentials.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Sources: README.md; backend/README.md; backend/app/domain.py; backend/app/agents/crew.py; backend/app/rag/store.py.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To close, Agentcy presents AI marketing as a controlled production system.</a:t>
            </a:r>
          </a:p>
          <a:p xmlns:a="http://schemas.openxmlformats.org/drawingml/2006/main">
            <a:r>
              <a:t/>
            </a:r>
          </a:p>
          <a:p xmlns:a="http://schemas.openxmlformats.org/drawingml/2006/main">
            <a:r>
              <a:t>It uses brand knowledge to keep campaigns grounded. It can use local signals to inspire ideas without turning them into false claims. It makes the work and the handoff to the human visible throughout the process.</a:t>
            </a:r>
          </a:p>
          <a:p xmlns:a="http://schemas.openxmlformats.org/drawingml/2006/main">
            <a:r>
              <a:t/>
            </a:r>
          </a:p>
          <a:p xmlns:a="http://schemas.openxmlformats.org/drawingml/2006/main">
            <a:r>
              <a:t>The next useful step would be a focused pilot with one real SME. We would set up the brand profile, run one campaign brief through both approval gates, and compare the approved output with the team’s current production process.</a:t>
            </a:r>
          </a:p>
          <a:p xmlns:a="http://schemas.openxmlformats.org/drawingml/2006/main">
            <a:r>
              <a:t/>
            </a:r>
          </a:p>
          <a:p xmlns:a="http://schemas.openxmlformats.org/drawingml/2006/main">
            <a:r>
              <a:t>Thank you. I am happy to answer questions or walk through the workflow in the application.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Sources: README.md; frontend/README.md; frontend/src/assets/hero.png. The final evaluation proposal is a recommendation, not a completed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ad345b30ec45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9e12a396d04d51" /><Relationship Type="http://schemas.openxmlformats.org/officeDocument/2006/relationships/slideLayout" Target="/ppt/slideLayouts/slideLayout1.xml" Id="R523daf40832643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3daf40832643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8a3cf922ca4b86" /><Relationship Type="http://schemas.openxmlformats.org/officeDocument/2006/relationships/image" Target="/ppt/media/image.png" Id="R381f337347214dac" /><Relationship Type="http://schemas.openxmlformats.org/officeDocument/2006/relationships/notesSlide" Target="/ppt/notesSlides/notesSlide1.xml" Id="Re809d8db76e040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cec4543a2d4f4a" /><Relationship Type="http://schemas.openxmlformats.org/officeDocument/2006/relationships/notesSlide" Target="/ppt/notesSlides/notesSlide2.xml" Id="R8562587a74bc47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54e177e04042eb" /><Relationship Type="http://schemas.openxmlformats.org/officeDocument/2006/relationships/image" Target="/ppt/media/image2.png" Id="R25006cda406c4054" /><Relationship Type="http://schemas.openxmlformats.org/officeDocument/2006/relationships/notesSlide" Target="/ppt/notesSlides/notesSlide3.xml" Id="Rcd3ee0278a3344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214afa9a8b42bd" /><Relationship Type="http://schemas.openxmlformats.org/officeDocument/2006/relationships/notesSlide" Target="/ppt/notesSlides/notesSlide4.xml" Id="Ra46e1b13ade746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665ecbd2ca46d0" /><Relationship Type="http://schemas.openxmlformats.org/officeDocument/2006/relationships/image" Target="/ppt/media/image3.png" Id="R98eb26a9284347f8" /><Relationship Type="http://schemas.openxmlformats.org/officeDocument/2006/relationships/notesSlide" Target="/ppt/notesSlides/notesSlide5.xml" Id="R364c38494d6c42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8b4d9c8ca442b7" /><Relationship Type="http://schemas.openxmlformats.org/officeDocument/2006/relationships/image" Target="/ppt/media/image4.png" Id="R2101489c983c4319" /><Relationship Type="http://schemas.openxmlformats.org/officeDocument/2006/relationships/notesSlide" Target="/ppt/notesSlides/notesSlide6.xml" Id="Rde7681934f7b47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3d7fc92b0a4b6e" /><Relationship Type="http://schemas.openxmlformats.org/officeDocument/2006/relationships/image" Target="/ppt/media/image5.png" Id="R170ea7aa11784aff" /><Relationship Type="http://schemas.openxmlformats.org/officeDocument/2006/relationships/notesSlide" Target="/ppt/notesSlides/notesSlide7.xml" Id="Ra8ded4780a084d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8aaf0fd1ce4a0a" /><Relationship Type="http://schemas.openxmlformats.org/officeDocument/2006/relationships/image" Target="/ppt/media/image6.png" Id="Rb0772550385548de" /><Relationship Type="http://schemas.openxmlformats.org/officeDocument/2006/relationships/notesSlide" Target="/ppt/notesSlides/notesSlide8.xml" Id="Rece45bfc499c46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399b2471a3484c" /><Relationship Type="http://schemas.openxmlformats.org/officeDocument/2006/relationships/notesSlide" Target="/ppt/notesSlides/notesSlide9.xml" Id="Rf555cdacc71c4b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2e16bfe2841497a" /><Relationship Type="http://schemas.openxmlformats.org/officeDocument/2006/relationships/image" Target="/ppt/media/image7.png" Id="R42e3098447e047e6" /><Relationship Type="http://schemas.openxmlformats.org/officeDocument/2006/relationships/notesSlide" Target="/ppt/notesSlides/notesSlide10.xml" Id="R69088d7d838a49e6" /></Relationships>
</file>

<file path=ppt/slides/slide1.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878389-16AA-458A-B1A2-9947660E855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B08C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D0572A-BF3B-43F7-8477-21F8C111EA0E}"/>
              </a:ext>
            </a:extLst>
          </p:cNvPr>
          <p:cNvSpPr>
            <a:spLocks xmlns:a="http://schemas.openxmlformats.org/drawingml/2006/main" noGrp="1"/>
          </p:cNvSpPr>
          <p:nvPr/>
        </p:nvSpPr>
        <p:spPr>
          <a:xfrm xmlns:a="http://schemas.openxmlformats.org/drawingml/2006/main">
            <a:off x="685800" y="7048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B08CFF"/>
                </a:solidFill>
                <a:latin typeface="Helvetica Neue"/>
                <a:ea typeface="Helvetica Neue"/>
                <a:cs typeface="Helvetica Neue"/>
              </a:defRPr>
            </a:pPr>
            <a:r>
              <a:rPr sz="900" b="1">
                <a:solidFill>
                  <a:srgbClr val="B08CFF"/>
                </a:solidFill>
                <a:latin typeface="Helvetica Neue"/>
                <a:ea typeface="Helvetica Neue"/>
                <a:cs typeface="Helvetica Neue"/>
              </a:rPr>
              <a:t>PROJECT PRESENTATION</a:t>
            </a:r>
          </a:p>
        </p:txBody>
      </p:sp>
      <p:sp>
        <p:nvSpPr>
          <p:cNvPr id="3" name="">
            <a:extLst xmlns:a="http://schemas.openxmlformats.org/drawingml/2006/main">
              <a:ext uri="{FF2B5EF4-FFF2-40B4-BE49-F238E27FC236}">
                <a16:creationId xmlns:a16="http://schemas.microsoft.com/office/drawing/2014/main" id="{DFE7C700-B791-4840-B887-7CB492659901}"/>
              </a:ext>
            </a:extLst>
          </p:cNvPr>
          <p:cNvSpPr>
            <a:spLocks xmlns:a="http://schemas.openxmlformats.org/drawingml/2006/main" noGrp="1"/>
          </p:cNvSpPr>
          <p:nvPr/>
        </p:nvSpPr>
        <p:spPr>
          <a:xfrm xmlns:a="http://schemas.openxmlformats.org/drawingml/2006/main">
            <a:off x="685800" y="1257300"/>
            <a:ext cx="54768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800" b="1">
                <a:solidFill>
                  <a:srgbClr val="F1F3F8"/>
                </a:solidFill>
                <a:latin typeface="Helvetica Neue"/>
                <a:ea typeface="Helvetica Neue"/>
                <a:cs typeface="Helvetica Neue"/>
              </a:defRPr>
            </a:pPr>
            <a:r>
              <a:rPr sz="4800" b="1">
                <a:solidFill>
                  <a:srgbClr val="F1F3F8"/>
                </a:solidFill>
                <a:latin typeface="Helvetica Neue"/>
                <a:ea typeface="Helvetica Neue"/>
                <a:cs typeface="Helvetica Neue"/>
              </a:rPr>
              <a:t>Agentcy</a:t>
            </a:r>
          </a:p>
        </p:txBody>
      </p:sp>
      <p:sp>
        <p:nvSpPr>
          <p:cNvPr id="4" name="">
            <a:extLst xmlns:a="http://schemas.openxmlformats.org/drawingml/2006/main">
              <a:ext uri="{FF2B5EF4-FFF2-40B4-BE49-F238E27FC236}">
                <a16:creationId xmlns:a16="http://schemas.microsoft.com/office/drawing/2014/main" id="{C5B679A7-1B11-4F58-AA28-182C6D968ECC}"/>
              </a:ext>
            </a:extLst>
          </p:cNvPr>
          <p:cNvSpPr>
            <a:spLocks xmlns:a="http://schemas.openxmlformats.org/drawingml/2006/main" noGrp="1"/>
          </p:cNvSpPr>
          <p:nvPr/>
        </p:nvSpPr>
        <p:spPr>
          <a:xfrm xmlns:a="http://schemas.openxmlformats.org/drawingml/2006/main">
            <a:off x="685800" y="2286000"/>
            <a:ext cx="542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2"/>
          </a:bodyPr>
          <a:lstStyle xmlns:a="http://schemas.openxmlformats.org/drawingml/2006/main"/>
          <a:p xmlns:a="http://schemas.openxmlformats.org/drawingml/2006/main">
            <a:pPr algn="l">
              <a:lnSpc>
                <a:spcPct val="104000"/>
              </a:lnSpc>
              <a:buNone/>
              <a:defRPr sz="2250" b="0">
                <a:solidFill>
                  <a:srgbClr val="A5ACB9"/>
                </a:solidFill>
                <a:latin typeface="Helvetica Neue"/>
                <a:ea typeface="Helvetica Neue"/>
                <a:cs typeface="Helvetica Neue"/>
              </a:defRPr>
            </a:pPr>
            <a:r>
              <a:rPr sz="2250" b="0">
                <a:solidFill>
                  <a:srgbClr val="A5ACB9"/>
                </a:solidFill>
                <a:latin typeface="Helvetica Neue"/>
                <a:ea typeface="Helvetica Neue"/>
                <a:cs typeface="Helvetica Neue"/>
              </a:rPr>
              <a:t>AI campaign production for Malaysian SMEs</a:t>
            </a:r>
          </a:p>
        </p:txBody>
      </p:sp>
      <p:sp>
        <p:nvSpPr>
          <p:cNvPr id="5" name="">
            <a:extLst xmlns:a="http://schemas.openxmlformats.org/drawingml/2006/main">
              <a:ext uri="{FF2B5EF4-FFF2-40B4-BE49-F238E27FC236}">
                <a16:creationId xmlns:a16="http://schemas.microsoft.com/office/drawing/2014/main" id="{E4E1990C-2D2F-4CFB-9C75-3B3E043B39B5}"/>
              </a:ext>
            </a:extLst>
          </p:cNvPr>
          <p:cNvSpPr>
            <a:spLocks xmlns:a="http://schemas.openxmlformats.org/drawingml/2006/main" noGrp="1"/>
          </p:cNvSpPr>
          <p:nvPr/>
        </p:nvSpPr>
        <p:spPr>
          <a:xfrm xmlns:a="http://schemas.openxmlformats.org/drawingml/2006/main">
            <a:off x="685800" y="31813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575" b="0">
                <a:solidFill>
                  <a:srgbClr val="F1F3F8"/>
                </a:solidFill>
                <a:latin typeface="Helvetica Neue"/>
                <a:ea typeface="Helvetica Neue"/>
                <a:cs typeface="Helvetica Neue"/>
              </a:defRPr>
            </a:pPr>
            <a:r>
              <a:rPr sz="1575" b="0">
                <a:solidFill>
                  <a:srgbClr val="F1F3F8"/>
                </a:solidFill>
                <a:latin typeface="Helvetica Neue"/>
                <a:ea typeface="Helvetica Neue"/>
                <a:cs typeface="Helvetica Neue"/>
              </a:rPr>
              <a:t>A visible workflow for ideas, imagery and video, with human approval at the points that matter.</a:t>
            </a:r>
          </a:p>
        </p:txBody>
      </p:sp>
      <p:sp>
        <p:nvSpPr>
          <p:cNvPr id="6" name="">
            <a:extLst xmlns:a="http://schemas.openxmlformats.org/drawingml/2006/main">
              <a:ext uri="{FF2B5EF4-FFF2-40B4-BE49-F238E27FC236}">
                <a16:creationId xmlns:a16="http://schemas.microsoft.com/office/drawing/2014/main" id="{149F197B-C51A-49D3-90F8-EFAC2DF0E0E1}"/>
              </a:ext>
            </a:extLst>
          </p:cNvPr>
          <p:cNvSpPr>
            <a:spLocks xmlns:a="http://schemas.openxmlformats.org/drawingml/2006/main" noGrp="1"/>
          </p:cNvSpPr>
          <p:nvPr/>
        </p:nvSpPr>
        <p:spPr>
          <a:xfrm xmlns:a="http://schemas.openxmlformats.org/drawingml/2006/main">
            <a:off x="685800" y="4591050"/>
            <a:ext cx="3143250" cy="28575"/>
          </a:xfrm>
          <a:prstGeom xmlns:a="http://schemas.openxmlformats.org/drawingml/2006/main" prst="rect">
            <a:avLst/>
          </a:prstGeom>
          <a:solidFill xmlns:a="http://schemas.openxmlformats.org/drawingml/2006/main">
            <a:srgbClr val="B08C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72A076-FF6E-4B3B-9D07-9C17DE4CA165}"/>
              </a:ext>
            </a:extLst>
          </p:cNvPr>
          <p:cNvSpPr>
            <a:spLocks xmlns:a="http://schemas.openxmlformats.org/drawingml/2006/main" noGrp="1"/>
          </p:cNvSpPr>
          <p:nvPr/>
        </p:nvSpPr>
        <p:spPr>
          <a:xfrm xmlns:a="http://schemas.openxmlformats.org/drawingml/2006/main">
            <a:off x="685800" y="48196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687080"/>
                </a:solidFill>
                <a:latin typeface="Helvetica Neue"/>
                <a:ea typeface="Helvetica Neue"/>
                <a:cs typeface="Helvetica Neue"/>
              </a:defRPr>
            </a:pPr>
            <a:r>
              <a:rPr sz="1050" b="0">
                <a:solidFill>
                  <a:srgbClr val="687080"/>
                </a:solidFill>
                <a:latin typeface="Helvetica Neue"/>
                <a:ea typeface="Helvetica Neue"/>
                <a:cs typeface="Helvetica Neue"/>
              </a:rPr>
              <a:t>September 2026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81f337347214dac"/>
          <a:stretch xmlns:a="http://schemas.openxmlformats.org/drawingml/2006/main"/>
        </p:blipFill>
        <p:spPr>
          <a:xfrm xmlns:a="http://schemas.openxmlformats.org/drawingml/2006/main">
            <a:off x="7000875" y="1548326"/>
            <a:ext cx="3429000" cy="3608948"/>
          </a:xfrm>
          <a:prstGeom xmlns:a="http://schemas.openxmlformats.org/drawingml/2006/main" prst="roundRect">
            <a:avLst>
              <a:gd name="adj" fmla="val 4444"/>
            </a:avLst>
          </a:prstGeom>
        </p:spPr>
      </p:pic>
    </p:spTree>
    <p:extLst>
      <p:ext uri="{BB962C8B-B14F-4D97-AF65-F5344CB8AC3E}">
        <p14:creationId xmlns:p14="http://schemas.microsoft.com/office/powerpoint/2010/main" val="1983372380"/>
      </p:ext>
    </p:extLst>
  </p:cSld>
</p:sld>
</file>

<file path=ppt/slides/slide2.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91DEA64-270B-46ED-8D00-D7792F660D90}"/>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BE6A"/>
                </a:solidFill>
                <a:latin typeface="Helvetica Neue"/>
                <a:ea typeface="Helvetica Neue"/>
                <a:cs typeface="Helvetica Neue"/>
              </a:defRPr>
            </a:pPr>
            <a:r>
              <a:rPr sz="900" b="1">
                <a:solidFill>
                  <a:srgbClr val="FFBE6A"/>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A7845B02-645B-4FC3-9FE7-E26AFBBB3286}"/>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The campaign-production gap</a:t>
            </a:r>
          </a:p>
        </p:txBody>
      </p:sp>
      <p:sp>
        <p:nvSpPr>
          <p:cNvPr id="3" name="">
            <a:extLst xmlns:a="http://schemas.openxmlformats.org/drawingml/2006/main">
              <a:ext uri="{FF2B5EF4-FFF2-40B4-BE49-F238E27FC236}">
                <a16:creationId xmlns:a16="http://schemas.microsoft.com/office/drawing/2014/main" id="{0B4ECE95-41EF-4577-9D86-891544DF5F67}"/>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25"/>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SMEs want the speed of generative tools without giving up their brand truth or publishing decisions.</a:t>
            </a:r>
          </a:p>
        </p:txBody>
      </p:sp>
      <p:sp>
        <p:nvSpPr>
          <p:cNvPr id="4" name="">
            <a:extLst xmlns:a="http://schemas.openxmlformats.org/drawingml/2006/main">
              <a:ext uri="{FF2B5EF4-FFF2-40B4-BE49-F238E27FC236}">
                <a16:creationId xmlns:a16="http://schemas.microsoft.com/office/drawing/2014/main" id="{176D2696-3214-4434-8D75-E8D08FF23699}"/>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96F6C5-3490-425C-A663-0968F58645DD}"/>
              </a:ext>
            </a:extLst>
          </p:cNvPr>
          <p:cNvSpPr>
            <a:spLocks xmlns:a="http://schemas.openxmlformats.org/drawingml/2006/main" noGrp="1"/>
          </p:cNvSpPr>
          <p:nvPr/>
        </p:nvSpPr>
        <p:spPr>
          <a:xfrm xmlns:a="http://schemas.openxmlformats.org/drawingml/2006/main">
            <a:off x="685800" y="2638425"/>
            <a:ext cx="6572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930"/>
          </a:bodyPr>
          <a:lstStyle xmlns:a="http://schemas.openxmlformats.org/drawingml/2006/main"/>
          <a:p xmlns:a="http://schemas.openxmlformats.org/drawingml/2006/main">
            <a:pPr algn="l">
              <a:lnSpc>
                <a:spcPct val="106000"/>
              </a:lnSpc>
              <a:buNone/>
              <a:defRPr sz="2325" b="1">
                <a:solidFill>
                  <a:srgbClr val="F1F3F8"/>
                </a:solidFill>
                <a:latin typeface="Helvetica Neue"/>
                <a:ea typeface="Helvetica Neue"/>
                <a:cs typeface="Helvetica Neue"/>
              </a:defRPr>
            </a:pPr>
            <a:r>
              <a:rPr sz="2325" b="1">
                <a:solidFill>
                  <a:srgbClr val="F1F3F8"/>
                </a:solidFill>
                <a:latin typeface="Helvetica Neue"/>
                <a:ea typeface="Helvetica Neue"/>
                <a:cs typeface="Helvetica Neue"/>
              </a:rPr>
              <a:t>The hard part is not generating a first draft. It is keeping product claims, campaign context and human judgment attached to the work as it moves toward publication.</a:t>
            </a:r>
          </a:p>
        </p:txBody>
      </p:sp>
      <p:sp>
        <p:nvSpPr>
          <p:cNvPr id="6" name="">
            <a:extLst xmlns:a="http://schemas.openxmlformats.org/drawingml/2006/main">
              <a:ext uri="{FF2B5EF4-FFF2-40B4-BE49-F238E27FC236}">
                <a16:creationId xmlns:a16="http://schemas.microsoft.com/office/drawing/2014/main" id="{0EF7DC73-17A8-4BE5-B1CE-3DF8B3775C52}"/>
              </a:ext>
            </a:extLst>
          </p:cNvPr>
          <p:cNvSpPr>
            <a:spLocks xmlns:a="http://schemas.openxmlformats.org/drawingml/2006/main" noGrp="1"/>
          </p:cNvSpPr>
          <p:nvPr/>
        </p:nvSpPr>
        <p:spPr>
          <a:xfrm xmlns:a="http://schemas.openxmlformats.org/drawingml/2006/main">
            <a:off x="7981950" y="2733675"/>
            <a:ext cx="47625" cy="723900"/>
          </a:xfrm>
          <a:prstGeom xmlns:a="http://schemas.openxmlformats.org/drawingml/2006/main" prst="rect">
            <a:avLst/>
          </a:prstGeom>
          <a:solidFill xmlns:a="http://schemas.openxmlformats.org/drawingml/2006/main">
            <a:srgbClr val="FFBE6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DAE9563-A64F-4B73-BE05-483E798C8E1E}"/>
              </a:ext>
            </a:extLst>
          </p:cNvPr>
          <p:cNvSpPr>
            <a:spLocks xmlns:a="http://schemas.openxmlformats.org/drawingml/2006/main" noGrp="1"/>
          </p:cNvSpPr>
          <p:nvPr/>
        </p:nvSpPr>
        <p:spPr>
          <a:xfrm xmlns:a="http://schemas.openxmlformats.org/drawingml/2006/main">
            <a:off x="8229600" y="27051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Brand truth</a:t>
            </a:r>
          </a:p>
        </p:txBody>
      </p:sp>
      <p:sp>
        <p:nvSpPr>
          <p:cNvPr id="8" name="">
            <a:extLst xmlns:a="http://schemas.openxmlformats.org/drawingml/2006/main">
              <a:ext uri="{FF2B5EF4-FFF2-40B4-BE49-F238E27FC236}">
                <a16:creationId xmlns:a16="http://schemas.microsoft.com/office/drawing/2014/main" id="{7B974545-1A4B-4389-A617-F855208E3901}"/>
              </a:ext>
            </a:extLst>
          </p:cNvPr>
          <p:cNvSpPr>
            <a:spLocks xmlns:a="http://schemas.openxmlformats.org/drawingml/2006/main" noGrp="1"/>
          </p:cNvSpPr>
          <p:nvPr/>
        </p:nvSpPr>
        <p:spPr>
          <a:xfrm xmlns:a="http://schemas.openxmlformats.org/drawingml/2006/main">
            <a:off x="8229600" y="3038475"/>
            <a:ext cx="3000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Product facts and restrictions must govern every concept.</a:t>
            </a:r>
          </a:p>
        </p:txBody>
      </p:sp>
      <p:sp>
        <p:nvSpPr>
          <p:cNvPr id="9" name="">
            <a:extLst xmlns:a="http://schemas.openxmlformats.org/drawingml/2006/main">
              <a:ext uri="{FF2B5EF4-FFF2-40B4-BE49-F238E27FC236}">
                <a16:creationId xmlns:a16="http://schemas.microsoft.com/office/drawing/2014/main" id="{1687C9C6-03E0-43CC-BE9C-510D33F577EA}"/>
              </a:ext>
            </a:extLst>
          </p:cNvPr>
          <p:cNvSpPr>
            <a:spLocks xmlns:a="http://schemas.openxmlformats.org/drawingml/2006/main" noGrp="1"/>
          </p:cNvSpPr>
          <p:nvPr/>
        </p:nvSpPr>
        <p:spPr>
          <a:xfrm xmlns:a="http://schemas.openxmlformats.org/drawingml/2006/main">
            <a:off x="7981950" y="3781425"/>
            <a:ext cx="47625" cy="723900"/>
          </a:xfrm>
          <a:prstGeom xmlns:a="http://schemas.openxmlformats.org/drawingml/2006/main" prst="rect">
            <a:avLst/>
          </a:prstGeom>
          <a:solidFill xmlns:a="http://schemas.openxmlformats.org/drawingml/2006/main">
            <a:srgbClr val="FFBE6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E45C276-9E68-45AA-AD4E-FB6E6E216D9A}"/>
              </a:ext>
            </a:extLst>
          </p:cNvPr>
          <p:cNvSpPr>
            <a:spLocks xmlns:a="http://schemas.openxmlformats.org/drawingml/2006/main" noGrp="1"/>
          </p:cNvSpPr>
          <p:nvPr/>
        </p:nvSpPr>
        <p:spPr>
          <a:xfrm xmlns:a="http://schemas.openxmlformats.org/drawingml/2006/main">
            <a:off x="8229600" y="3752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Local context</a:t>
            </a:r>
          </a:p>
        </p:txBody>
      </p:sp>
      <p:sp>
        <p:nvSpPr>
          <p:cNvPr id="11" name="">
            <a:extLst xmlns:a="http://schemas.openxmlformats.org/drawingml/2006/main">
              <a:ext uri="{FF2B5EF4-FFF2-40B4-BE49-F238E27FC236}">
                <a16:creationId xmlns:a16="http://schemas.microsoft.com/office/drawing/2014/main" id="{885C03F2-3D3F-4EB5-ABEB-021FD5326723}"/>
              </a:ext>
            </a:extLst>
          </p:cNvPr>
          <p:cNvSpPr>
            <a:spLocks xmlns:a="http://schemas.openxmlformats.org/drawingml/2006/main" noGrp="1"/>
          </p:cNvSpPr>
          <p:nvPr/>
        </p:nvSpPr>
        <p:spPr>
          <a:xfrm xmlns:a="http://schemas.openxmlformats.org/drawingml/2006/main">
            <a:off x="8229600" y="4086225"/>
            <a:ext cx="3000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Trend signals can inspire an angle, but they cannot become a product claim.</a:t>
            </a:r>
          </a:p>
        </p:txBody>
      </p:sp>
      <p:sp>
        <p:nvSpPr>
          <p:cNvPr id="12" name="">
            <a:extLst xmlns:a="http://schemas.openxmlformats.org/drawingml/2006/main">
              <a:ext uri="{FF2B5EF4-FFF2-40B4-BE49-F238E27FC236}">
                <a16:creationId xmlns:a16="http://schemas.microsoft.com/office/drawing/2014/main" id="{4BAA5B6C-B75A-437E-A8CD-702F9368D917}"/>
              </a:ext>
            </a:extLst>
          </p:cNvPr>
          <p:cNvSpPr>
            <a:spLocks xmlns:a="http://schemas.openxmlformats.org/drawingml/2006/main" noGrp="1"/>
          </p:cNvSpPr>
          <p:nvPr/>
        </p:nvSpPr>
        <p:spPr>
          <a:xfrm xmlns:a="http://schemas.openxmlformats.org/drawingml/2006/main">
            <a:off x="7981950" y="4829175"/>
            <a:ext cx="47625" cy="723900"/>
          </a:xfrm>
          <a:prstGeom xmlns:a="http://schemas.openxmlformats.org/drawingml/2006/main" prst="rect">
            <a:avLst/>
          </a:prstGeom>
          <a:solidFill xmlns:a="http://schemas.openxmlformats.org/drawingml/2006/main">
            <a:srgbClr val="FFBE6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368FDF6-4580-4077-AB07-ED44FAA856F1}"/>
              </a:ext>
            </a:extLst>
          </p:cNvPr>
          <p:cNvSpPr>
            <a:spLocks xmlns:a="http://schemas.openxmlformats.org/drawingml/2006/main" noGrp="1"/>
          </p:cNvSpPr>
          <p:nvPr/>
        </p:nvSpPr>
        <p:spPr>
          <a:xfrm xmlns:a="http://schemas.openxmlformats.org/drawingml/2006/main">
            <a:off x="8229600" y="4800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Final control</a:t>
            </a:r>
          </a:p>
        </p:txBody>
      </p:sp>
      <p:sp>
        <p:nvSpPr>
          <p:cNvPr id="14" name="">
            <a:extLst xmlns:a="http://schemas.openxmlformats.org/drawingml/2006/main">
              <a:ext uri="{FF2B5EF4-FFF2-40B4-BE49-F238E27FC236}">
                <a16:creationId xmlns:a16="http://schemas.microsoft.com/office/drawing/2014/main" id="{9EDB7C05-6F80-47F1-8221-69BC64B17621}"/>
              </a:ext>
            </a:extLst>
          </p:cNvPr>
          <p:cNvSpPr>
            <a:spLocks xmlns:a="http://schemas.openxmlformats.org/drawingml/2006/main" noGrp="1"/>
          </p:cNvSpPr>
          <p:nvPr/>
        </p:nvSpPr>
        <p:spPr>
          <a:xfrm xmlns:a="http://schemas.openxmlformats.org/drawingml/2006/main">
            <a:off x="8229600" y="5133975"/>
            <a:ext cx="3000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A person must be able to stop, inspect and approve the work.</a:t>
            </a:r>
          </a:p>
        </p:txBody>
      </p:sp>
      <p:sp>
        <p:nvSpPr>
          <p:cNvPr id="15" name="">
            <a:extLst xmlns:a="http://schemas.openxmlformats.org/drawingml/2006/main">
              <a:ext uri="{FF2B5EF4-FFF2-40B4-BE49-F238E27FC236}">
                <a16:creationId xmlns:a16="http://schemas.microsoft.com/office/drawing/2014/main" id="{DBBC8279-3C78-44E0-BD8A-4DBCF1EE884C}"/>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6DC7E5B-493C-4963-8B7A-DBB1252D0330}"/>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7" name="">
            <a:extLst xmlns:a="http://schemas.openxmlformats.org/drawingml/2006/main">
              <a:ext uri="{FF2B5EF4-FFF2-40B4-BE49-F238E27FC236}">
                <a16:creationId xmlns:a16="http://schemas.microsoft.com/office/drawing/2014/main" id="{C1009A8C-F18B-4C21-BCE1-3B5BEFD50164}"/>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02</a:t>
            </a:r>
          </a:p>
        </p:txBody>
      </p:sp>
    </p:spTree>
    <p:extLst>
      <p:ext uri="{BB962C8B-B14F-4D97-AF65-F5344CB8AC3E}">
        <p14:creationId xmlns:p14="http://schemas.microsoft.com/office/powerpoint/2010/main" val="396435756"/>
      </p:ext>
    </p:extLst>
  </p:cSld>
</p:sld>
</file>

<file path=ppt/slides/slide3.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AE2E517-1FB7-49A8-B160-C02D666E5344}"/>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9D8A472D-55BC-4583-A6EF-DA5E9AA1FE06}"/>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A campaign workspace, not a prompt box</a:t>
            </a:r>
          </a:p>
        </p:txBody>
      </p:sp>
      <p:sp>
        <p:nvSpPr>
          <p:cNvPr id="3" name="">
            <a:extLst xmlns:a="http://schemas.openxmlformats.org/drawingml/2006/main">
              <a:ext uri="{FF2B5EF4-FFF2-40B4-BE49-F238E27FC236}">
                <a16:creationId xmlns:a16="http://schemas.microsoft.com/office/drawing/2014/main" id="{458CC35C-0E30-4512-8107-EB1E694B2C24}"/>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Agentcy keeps the brief, agent activity, approval gates and outputs in one visible flow.</a:t>
            </a:r>
          </a:p>
        </p:txBody>
      </p:sp>
      <p:sp>
        <p:nvSpPr>
          <p:cNvPr id="4" name="">
            <a:extLst xmlns:a="http://schemas.openxmlformats.org/drawingml/2006/main">
              <a:ext uri="{FF2B5EF4-FFF2-40B4-BE49-F238E27FC236}">
                <a16:creationId xmlns:a16="http://schemas.microsoft.com/office/drawing/2014/main" id="{98DA4910-E2BD-4F32-8F39-5E5F9C58C353}"/>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3767CBC-E57F-489B-B04E-356803C41E41}"/>
              </a:ext>
            </a:extLst>
          </p:cNvPr>
          <p:cNvSpPr>
            <a:spLocks xmlns:a="http://schemas.openxmlformats.org/drawingml/2006/main" noGrp="1"/>
          </p:cNvSpPr>
          <p:nvPr/>
        </p:nvSpPr>
        <p:spPr>
          <a:xfrm xmlns:a="http://schemas.openxmlformats.org/drawingml/2006/main">
            <a:off x="685800" y="2571750"/>
            <a:ext cx="42291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875" b="0">
                <a:solidFill>
                  <a:srgbClr val="F1F3F8"/>
                </a:solidFill>
                <a:latin typeface="Helvetica Neue"/>
                <a:ea typeface="Helvetica Neue"/>
                <a:cs typeface="Helvetica Neue"/>
              </a:defRPr>
            </a:pPr>
            <a:r>
              <a:rPr sz="1875" b="0">
                <a:solidFill>
                  <a:srgbClr val="F1F3F8"/>
                </a:solidFill>
                <a:latin typeface="Helvetica Neue"/>
                <a:ea typeface="Helvetica Neue"/>
                <a:cs typeface="Helvetica Neue"/>
              </a:rPr>
              <a:t>A planner turns a campaign brief into grounded concepts. A generation crew develops each approved concept. The studio renders the final work only after the relevant human decision.</a:t>
            </a:r>
          </a:p>
        </p:txBody>
      </p:sp>
      <p:sp>
        <p:nvSpPr>
          <p:cNvPr id="6" name="">
            <a:extLst xmlns:a="http://schemas.openxmlformats.org/drawingml/2006/main">
              <a:ext uri="{FF2B5EF4-FFF2-40B4-BE49-F238E27FC236}">
                <a16:creationId xmlns:a16="http://schemas.microsoft.com/office/drawing/2014/main" id="{119D43B7-8122-4040-90D8-921AFE4D48A9}"/>
              </a:ext>
            </a:extLst>
          </p:cNvPr>
          <p:cNvSpPr>
            <a:spLocks xmlns:a="http://schemas.openxmlformats.org/drawingml/2006/main" noGrp="1"/>
          </p:cNvSpPr>
          <p:nvPr/>
        </p:nvSpPr>
        <p:spPr>
          <a:xfrm xmlns:a="http://schemas.openxmlformats.org/drawingml/2006/main">
            <a:off x="685800" y="45339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7A088532-55D9-4B80-876E-E0198686E8D3}"/>
              </a:ext>
            </a:extLst>
          </p:cNvPr>
          <p:cNvSpPr>
            <a:spLocks xmlns:a="http://schemas.openxmlformats.org/drawingml/2006/main" noGrp="1"/>
          </p:cNvSpPr>
          <p:nvPr/>
        </p:nvSpPr>
        <p:spPr>
          <a:xfrm xmlns:a="http://schemas.openxmlformats.org/drawingml/2006/main">
            <a:off x="1171575" y="4514850"/>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Plan</a:t>
            </a:r>
          </a:p>
        </p:txBody>
      </p:sp>
      <p:sp>
        <p:nvSpPr>
          <p:cNvPr id="8" name="">
            <a:extLst xmlns:a="http://schemas.openxmlformats.org/drawingml/2006/main">
              <a:ext uri="{FF2B5EF4-FFF2-40B4-BE49-F238E27FC236}">
                <a16:creationId xmlns:a16="http://schemas.microsoft.com/office/drawing/2014/main" id="{8C1A907E-6D0B-4B12-88F9-6DE55BF7BDC3}"/>
              </a:ext>
            </a:extLst>
          </p:cNvPr>
          <p:cNvSpPr>
            <a:spLocks xmlns:a="http://schemas.openxmlformats.org/drawingml/2006/main" noGrp="1"/>
          </p:cNvSpPr>
          <p:nvPr/>
        </p:nvSpPr>
        <p:spPr>
          <a:xfrm xmlns:a="http://schemas.openxmlformats.org/drawingml/2006/main">
            <a:off x="2333625" y="45339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Brief to cited concepts</a:t>
            </a:r>
          </a:p>
        </p:txBody>
      </p:sp>
      <p:sp>
        <p:nvSpPr>
          <p:cNvPr id="9" name="">
            <a:extLst xmlns:a="http://schemas.openxmlformats.org/drawingml/2006/main">
              <a:ext uri="{FF2B5EF4-FFF2-40B4-BE49-F238E27FC236}">
                <a16:creationId xmlns:a16="http://schemas.microsoft.com/office/drawing/2014/main" id="{6D218448-FC19-4517-9BB2-4BD5960960EC}"/>
              </a:ext>
            </a:extLst>
          </p:cNvPr>
          <p:cNvSpPr>
            <a:spLocks xmlns:a="http://schemas.openxmlformats.org/drawingml/2006/main" noGrp="1"/>
          </p:cNvSpPr>
          <p:nvPr/>
        </p:nvSpPr>
        <p:spPr>
          <a:xfrm xmlns:a="http://schemas.openxmlformats.org/drawingml/2006/main">
            <a:off x="685800" y="49434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3221331B-4FB3-4B4E-93B5-291685915027}"/>
              </a:ext>
            </a:extLst>
          </p:cNvPr>
          <p:cNvSpPr>
            <a:spLocks xmlns:a="http://schemas.openxmlformats.org/drawingml/2006/main" noGrp="1"/>
          </p:cNvSpPr>
          <p:nvPr/>
        </p:nvSpPr>
        <p:spPr>
          <a:xfrm xmlns:a="http://schemas.openxmlformats.org/drawingml/2006/main">
            <a:off x="1171575" y="4924425"/>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Create</a:t>
            </a:r>
          </a:p>
        </p:txBody>
      </p:sp>
      <p:sp>
        <p:nvSpPr>
          <p:cNvPr id="11" name="">
            <a:extLst xmlns:a="http://schemas.openxmlformats.org/drawingml/2006/main">
              <a:ext uri="{FF2B5EF4-FFF2-40B4-BE49-F238E27FC236}">
                <a16:creationId xmlns:a16="http://schemas.microsoft.com/office/drawing/2014/main" id="{F95C7094-E87C-4C6B-8EB4-2A327CCBC057}"/>
              </a:ext>
            </a:extLst>
          </p:cNvPr>
          <p:cNvSpPr>
            <a:spLocks xmlns:a="http://schemas.openxmlformats.org/drawingml/2006/main" noGrp="1"/>
          </p:cNvSpPr>
          <p:nvPr/>
        </p:nvSpPr>
        <p:spPr>
          <a:xfrm xmlns:a="http://schemas.openxmlformats.org/drawingml/2006/main">
            <a:off x="2333625" y="494347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Copy and visual direction</a:t>
            </a:r>
          </a:p>
        </p:txBody>
      </p:sp>
      <p:sp>
        <p:nvSpPr>
          <p:cNvPr id="12" name="">
            <a:extLst xmlns:a="http://schemas.openxmlformats.org/drawingml/2006/main">
              <a:ext uri="{FF2B5EF4-FFF2-40B4-BE49-F238E27FC236}">
                <a16:creationId xmlns:a16="http://schemas.microsoft.com/office/drawing/2014/main" id="{9D82CD49-003A-4902-9342-38025EA181DD}"/>
              </a:ext>
            </a:extLst>
          </p:cNvPr>
          <p:cNvSpPr>
            <a:spLocks xmlns:a="http://schemas.openxmlformats.org/drawingml/2006/main" noGrp="1"/>
          </p:cNvSpPr>
          <p:nvPr/>
        </p:nvSpPr>
        <p:spPr>
          <a:xfrm xmlns:a="http://schemas.openxmlformats.org/drawingml/2006/main">
            <a:off x="685800" y="5353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C8FE1639-6846-4073-AEF0-7DDC306BFF46}"/>
              </a:ext>
            </a:extLst>
          </p:cNvPr>
          <p:cNvSpPr>
            <a:spLocks xmlns:a="http://schemas.openxmlformats.org/drawingml/2006/main" noGrp="1"/>
          </p:cNvSpPr>
          <p:nvPr/>
        </p:nvSpPr>
        <p:spPr>
          <a:xfrm xmlns:a="http://schemas.openxmlformats.org/drawingml/2006/main">
            <a:off x="1171575" y="5334000"/>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Review</a:t>
            </a:r>
          </a:p>
        </p:txBody>
      </p:sp>
      <p:sp>
        <p:nvSpPr>
          <p:cNvPr id="14" name="">
            <a:extLst xmlns:a="http://schemas.openxmlformats.org/drawingml/2006/main">
              <a:ext uri="{FF2B5EF4-FFF2-40B4-BE49-F238E27FC236}">
                <a16:creationId xmlns:a16="http://schemas.microsoft.com/office/drawing/2014/main" id="{D6E152B6-07CF-41A9-AD35-657835AA2BFF}"/>
              </a:ext>
            </a:extLst>
          </p:cNvPr>
          <p:cNvSpPr>
            <a:spLocks xmlns:a="http://schemas.openxmlformats.org/drawingml/2006/main" noGrp="1"/>
          </p:cNvSpPr>
          <p:nvPr/>
        </p:nvSpPr>
        <p:spPr>
          <a:xfrm xmlns:a="http://schemas.openxmlformats.org/drawingml/2006/main">
            <a:off x="2333625" y="53530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Human approval gates</a:t>
            </a:r>
          </a:p>
        </p:txBody>
      </p:sp>
      <p:sp>
        <p:nvSpPr>
          <p:cNvPr id="15" name="">
            <a:extLst xmlns:a="http://schemas.openxmlformats.org/drawingml/2006/main">
              <a:ext uri="{FF2B5EF4-FFF2-40B4-BE49-F238E27FC236}">
                <a16:creationId xmlns:a16="http://schemas.microsoft.com/office/drawing/2014/main" id="{ABE8E473-B898-471B-8467-B8429230A04B}"/>
              </a:ext>
            </a:extLst>
          </p:cNvPr>
          <p:cNvSpPr>
            <a:spLocks xmlns:a="http://schemas.openxmlformats.org/drawingml/2006/main" noGrp="1"/>
          </p:cNvSpPr>
          <p:nvPr/>
        </p:nvSpPr>
        <p:spPr>
          <a:xfrm xmlns:a="http://schemas.openxmlformats.org/drawingml/2006/main">
            <a:off x="685800" y="57626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04</a:t>
            </a:r>
          </a:p>
        </p:txBody>
      </p:sp>
      <p:sp>
        <p:nvSpPr>
          <p:cNvPr id="16" name="">
            <a:extLst xmlns:a="http://schemas.openxmlformats.org/drawingml/2006/main">
              <a:ext uri="{FF2B5EF4-FFF2-40B4-BE49-F238E27FC236}">
                <a16:creationId xmlns:a16="http://schemas.microsoft.com/office/drawing/2014/main" id="{7D78DBD6-8771-4F32-9E86-3689843073A6}"/>
              </a:ext>
            </a:extLst>
          </p:cNvPr>
          <p:cNvSpPr>
            <a:spLocks xmlns:a="http://schemas.openxmlformats.org/drawingml/2006/main" noGrp="1"/>
          </p:cNvSpPr>
          <p:nvPr/>
        </p:nvSpPr>
        <p:spPr>
          <a:xfrm xmlns:a="http://schemas.openxmlformats.org/drawingml/2006/main">
            <a:off x="1171575" y="5743575"/>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Publish</a:t>
            </a:r>
          </a:p>
        </p:txBody>
      </p:sp>
      <p:sp>
        <p:nvSpPr>
          <p:cNvPr id="17" name="">
            <a:extLst xmlns:a="http://schemas.openxmlformats.org/drawingml/2006/main">
              <a:ext uri="{FF2B5EF4-FFF2-40B4-BE49-F238E27FC236}">
                <a16:creationId xmlns:a16="http://schemas.microsoft.com/office/drawing/2014/main" id="{84FBD962-65A2-4B30-9BC3-F94B90A2D216}"/>
              </a:ext>
            </a:extLst>
          </p:cNvPr>
          <p:cNvSpPr>
            <a:spLocks xmlns:a="http://schemas.openxmlformats.org/drawingml/2006/main" noGrp="1"/>
          </p:cNvSpPr>
          <p:nvPr/>
        </p:nvSpPr>
        <p:spPr>
          <a:xfrm xmlns:a="http://schemas.openxmlformats.org/drawingml/2006/main">
            <a:off x="2333625" y="57626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Approved images or video</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25006cda406c4054"/>
          <a:srcRect xmlns:a="http://schemas.openxmlformats.org/drawingml/2006/main" l="0" t="10912" r="0" b="10912"/>
          <a:stretch xmlns:a="http://schemas.openxmlformats.org/drawingml/2006/main">
            <a:fillRect l="0" t="0" r="0" b="0"/>
          </a:stretch>
        </p:blipFill>
        <p:spPr>
          <a:xfrm xmlns:a="http://schemas.openxmlformats.org/drawingml/2006/main">
            <a:off x="5476875" y="2457450"/>
            <a:ext cx="6029325" cy="3390900"/>
          </a:xfrm>
          <a:prstGeom xmlns:a="http://schemas.openxmlformats.org/drawingml/2006/main" prst="roundRect">
            <a:avLst>
              <a:gd name="adj" fmla="val 4494"/>
            </a:avLst>
          </a:prstGeom>
        </p:spPr>
      </p:pic>
      <p:sp>
        <p:nvSpPr>
          <p:cNvPr id="19" name="">
            <a:extLst xmlns:a="http://schemas.openxmlformats.org/drawingml/2006/main">
              <a:ext uri="{FF2B5EF4-FFF2-40B4-BE49-F238E27FC236}">
                <a16:creationId xmlns:a16="http://schemas.microsoft.com/office/drawing/2014/main" id="{54B53087-1623-47E5-BE11-514096F81D4E}"/>
              </a:ext>
            </a:extLst>
          </p:cNvPr>
          <p:cNvSpPr>
            <a:spLocks xmlns:a="http://schemas.openxmlformats.org/drawingml/2006/main" noGrp="1"/>
          </p:cNvSpPr>
          <p:nvPr/>
        </p:nvSpPr>
        <p:spPr>
          <a:xfrm xmlns:a="http://schemas.openxmlformats.org/drawingml/2006/main">
            <a:off x="5476875" y="59626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Image Studio screen from the project</a:t>
            </a:r>
          </a:p>
        </p:txBody>
      </p:sp>
      <p:sp>
        <p:nvSpPr>
          <p:cNvPr id="20" name="">
            <a:extLst xmlns:a="http://schemas.openxmlformats.org/drawingml/2006/main">
              <a:ext uri="{FF2B5EF4-FFF2-40B4-BE49-F238E27FC236}">
                <a16:creationId xmlns:a16="http://schemas.microsoft.com/office/drawing/2014/main" id="{808E8C12-555D-4C14-9CED-C6BEEF2D7805}"/>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E083ABA-444F-4EB8-8C05-2F2E95FDBDB1}"/>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2" name="">
            <a:extLst xmlns:a="http://schemas.openxmlformats.org/drawingml/2006/main">
              <a:ext uri="{FF2B5EF4-FFF2-40B4-BE49-F238E27FC236}">
                <a16:creationId xmlns:a16="http://schemas.microsoft.com/office/drawing/2014/main" id="{7E88A10D-0253-4B63-905A-A5544B8770B7}"/>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03</a:t>
            </a:r>
          </a:p>
        </p:txBody>
      </p:sp>
    </p:spTree>
    <p:extLst>
      <p:ext uri="{BB962C8B-B14F-4D97-AF65-F5344CB8AC3E}">
        <p14:creationId xmlns:p14="http://schemas.microsoft.com/office/powerpoint/2010/main" val="1171258184"/>
      </p:ext>
    </p:extLst>
  </p:cSld>
</p:sld>
</file>

<file path=ppt/slides/slide4.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6C7FD21-07DA-485A-9294-B84E1E73CA91}"/>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B3EF293A-3B80-4697-8A9D-7E569EEA0153}"/>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Grounded planning</a:t>
            </a:r>
          </a:p>
        </p:txBody>
      </p:sp>
      <p:sp>
        <p:nvSpPr>
          <p:cNvPr id="3" name="">
            <a:extLst xmlns:a="http://schemas.openxmlformats.org/drawingml/2006/main">
              <a:ext uri="{FF2B5EF4-FFF2-40B4-BE49-F238E27FC236}">
                <a16:creationId xmlns:a16="http://schemas.microsoft.com/office/drawing/2014/main" id="{5E4754FB-4C8A-424D-9B83-A9E4CA78055A}"/>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The source hierarchy makes a campaign idea traceable before anyone generates an asset.</a:t>
            </a:r>
          </a:p>
        </p:txBody>
      </p:sp>
      <p:sp>
        <p:nvSpPr>
          <p:cNvPr id="4" name="">
            <a:extLst xmlns:a="http://schemas.openxmlformats.org/drawingml/2006/main">
              <a:ext uri="{FF2B5EF4-FFF2-40B4-BE49-F238E27FC236}">
                <a16:creationId xmlns:a16="http://schemas.microsoft.com/office/drawing/2014/main" id="{82559424-88EE-4B47-BDC5-E3C68CF1FF6C}"/>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0ECE536-D555-4DAB-BBA7-DAB240553CCA}"/>
              </a:ext>
            </a:extLst>
          </p:cNvPr>
          <p:cNvSpPr>
            <a:spLocks xmlns:a="http://schemas.openxmlformats.org/drawingml/2006/main" noGrp="1"/>
          </p:cNvSpPr>
          <p:nvPr/>
        </p:nvSpPr>
        <p:spPr>
          <a:xfrm xmlns:a="http://schemas.openxmlformats.org/drawingml/2006/main">
            <a:off x="685800" y="2476500"/>
            <a:ext cx="4857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965"/>
          </a:bodyPr>
          <a:lstStyle xmlns:a="http://schemas.openxmlformats.org/drawingml/2006/main"/>
          <a:p xmlns:a="http://schemas.openxmlformats.org/drawingml/2006/main">
            <a:pPr algn="l">
              <a:lnSpc>
                <a:spcPct val="113000"/>
              </a:lnSpc>
              <a:buNone/>
              <a:defRPr sz="1800" b="0">
                <a:solidFill>
                  <a:srgbClr val="F1F3F8"/>
                </a:solidFill>
                <a:latin typeface="Helvetica Neue"/>
                <a:ea typeface="Helvetica Neue"/>
                <a:cs typeface="Helvetica Neue"/>
              </a:defRPr>
            </a:pPr>
            <a:r>
              <a:rPr sz="1800" b="0">
                <a:solidFill>
                  <a:srgbClr val="F1F3F8"/>
                </a:solidFill>
                <a:latin typeface="Helvetica Neue"/>
                <a:ea typeface="Helvetica Neue"/>
                <a:cs typeface="Helvetica Neue"/>
              </a:rPr>
              <a:t>Every planned concept carries both brand and trend rationales. The planner ranks its inputs so that a useful trend can never override what the company knows to be true.</a:t>
            </a:r>
          </a:p>
        </p:txBody>
      </p:sp>
      <p:sp>
        <p:nvSpPr>
          <p:cNvPr id="6" name="">
            <a:extLst xmlns:a="http://schemas.openxmlformats.org/drawingml/2006/main">
              <a:ext uri="{FF2B5EF4-FFF2-40B4-BE49-F238E27FC236}">
                <a16:creationId xmlns:a16="http://schemas.microsoft.com/office/drawing/2014/main" id="{8A9689FA-56F1-4CF2-B160-673293386163}"/>
              </a:ext>
            </a:extLst>
          </p:cNvPr>
          <p:cNvSpPr>
            <a:spLocks xmlns:a="http://schemas.openxmlformats.org/drawingml/2006/main" noGrp="1"/>
          </p:cNvSpPr>
          <p:nvPr/>
        </p:nvSpPr>
        <p:spPr>
          <a:xfrm xmlns:a="http://schemas.openxmlformats.org/drawingml/2006/main">
            <a:off x="6315075" y="2381250"/>
            <a:ext cx="5191125" cy="895350"/>
          </a:xfrm>
          <a:prstGeom xmlns:a="http://schemas.openxmlformats.org/drawingml/2006/main" prst="roundRect">
            <a:avLst>
              <a:gd name="adj" fmla="val 12766"/>
            </a:avLst>
          </a:prstGeom>
          <a:solidFill xmlns:a="http://schemas.openxmlformats.org/drawingml/2006/main">
            <a:srgbClr val="10131A"/>
          </a:solidFill>
          <a:ln xmlns:a="http://schemas.openxmlformats.org/drawingml/2006/main" w="9525">
            <a:solidFill>
              <a:srgbClr val="2A303C"/>
            </a:solidFill>
            <a:prstDash val="solid"/>
          </a:ln>
        </p:spPr>
      </p:sp>
      <p:sp>
        <p:nvSpPr>
          <p:cNvPr id="7" name="">
            <a:extLst xmlns:a="http://schemas.openxmlformats.org/drawingml/2006/main">
              <a:ext uri="{FF2B5EF4-FFF2-40B4-BE49-F238E27FC236}">
                <a16:creationId xmlns:a16="http://schemas.microsoft.com/office/drawing/2014/main" id="{E687B531-40BE-4521-BB98-3D350A2EAC30}"/>
              </a:ext>
            </a:extLst>
          </p:cNvPr>
          <p:cNvSpPr>
            <a:spLocks xmlns:a="http://schemas.openxmlformats.org/drawingml/2006/main" noGrp="1"/>
          </p:cNvSpPr>
          <p:nvPr/>
        </p:nvSpPr>
        <p:spPr>
          <a:xfrm xmlns:a="http://schemas.openxmlformats.org/drawingml/2006/main">
            <a:off x="6572250" y="26003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F1F3F8"/>
                </a:solidFill>
                <a:latin typeface="Helvetica Neue"/>
                <a:ea typeface="Helvetica Neue"/>
                <a:cs typeface="Helvetica Neue"/>
              </a:defRPr>
            </a:pPr>
            <a:r>
              <a:rPr sz="900" b="1">
                <a:solidFill>
                  <a:srgbClr val="F1F3F8"/>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9EB6BF48-46F5-4BAD-90A4-D9742268F5D0}"/>
              </a:ext>
            </a:extLst>
          </p:cNvPr>
          <p:cNvSpPr>
            <a:spLocks xmlns:a="http://schemas.openxmlformats.org/drawingml/2006/main" noGrp="1"/>
          </p:cNvSpPr>
          <p:nvPr/>
        </p:nvSpPr>
        <p:spPr>
          <a:xfrm xmlns:a="http://schemas.openxmlformats.org/drawingml/2006/main">
            <a:off x="7077075" y="25431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The campaign brief</a:t>
            </a:r>
          </a:p>
        </p:txBody>
      </p:sp>
      <p:sp>
        <p:nvSpPr>
          <p:cNvPr id="9" name="">
            <a:extLst xmlns:a="http://schemas.openxmlformats.org/drawingml/2006/main">
              <a:ext uri="{FF2B5EF4-FFF2-40B4-BE49-F238E27FC236}">
                <a16:creationId xmlns:a16="http://schemas.microsoft.com/office/drawing/2014/main" id="{7C427C15-521A-4325-835E-E6F4B5C02395}"/>
              </a:ext>
            </a:extLst>
          </p:cNvPr>
          <p:cNvSpPr>
            <a:spLocks xmlns:a="http://schemas.openxmlformats.org/drawingml/2006/main" noGrp="1"/>
          </p:cNvSpPr>
          <p:nvPr/>
        </p:nvSpPr>
        <p:spPr>
          <a:xfrm xmlns:a="http://schemas.openxmlformats.org/drawingml/2006/main">
            <a:off x="7077075" y="28289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Sets the goal, product and occasion.</a:t>
            </a:r>
          </a:p>
        </p:txBody>
      </p:sp>
      <p:sp>
        <p:nvSpPr>
          <p:cNvPr id="10" name="">
            <a:extLst xmlns:a="http://schemas.openxmlformats.org/drawingml/2006/main">
              <a:ext uri="{FF2B5EF4-FFF2-40B4-BE49-F238E27FC236}">
                <a16:creationId xmlns:a16="http://schemas.microsoft.com/office/drawing/2014/main" id="{E7915D15-0055-4411-9E00-A4184FB9C037}"/>
              </a:ext>
            </a:extLst>
          </p:cNvPr>
          <p:cNvSpPr>
            <a:spLocks xmlns:a="http://schemas.openxmlformats.org/drawingml/2006/main" noGrp="1"/>
          </p:cNvSpPr>
          <p:nvPr/>
        </p:nvSpPr>
        <p:spPr>
          <a:xfrm xmlns:a="http://schemas.openxmlformats.org/drawingml/2006/main">
            <a:off x="6315075" y="3552825"/>
            <a:ext cx="5191125" cy="895350"/>
          </a:xfrm>
          <a:prstGeom xmlns:a="http://schemas.openxmlformats.org/drawingml/2006/main" prst="roundRect">
            <a:avLst>
              <a:gd name="adj" fmla="val 12766"/>
            </a:avLst>
          </a:prstGeom>
          <a:solidFill xmlns:a="http://schemas.openxmlformats.org/drawingml/2006/main">
            <a:srgbClr val="10131A"/>
          </a:solidFill>
          <a:ln xmlns:a="http://schemas.openxmlformats.org/drawingml/2006/main" w="9525">
            <a:solidFill>
              <a:srgbClr val="2A303C"/>
            </a:solidFill>
            <a:prstDash val="solid"/>
          </a:ln>
        </p:spPr>
      </p:sp>
      <p:sp>
        <p:nvSpPr>
          <p:cNvPr id="11" name="">
            <a:extLst xmlns:a="http://schemas.openxmlformats.org/drawingml/2006/main">
              <a:ext uri="{FF2B5EF4-FFF2-40B4-BE49-F238E27FC236}">
                <a16:creationId xmlns:a16="http://schemas.microsoft.com/office/drawing/2014/main" id="{CF847933-4228-4095-BABB-C8196E7DEC62}"/>
              </a:ext>
            </a:extLst>
          </p:cNvPr>
          <p:cNvSpPr>
            <a:spLocks xmlns:a="http://schemas.openxmlformats.org/drawingml/2006/main" noGrp="1"/>
          </p:cNvSpPr>
          <p:nvPr/>
        </p:nvSpPr>
        <p:spPr>
          <a:xfrm xmlns:a="http://schemas.openxmlformats.org/drawingml/2006/main">
            <a:off x="6572250" y="37719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A9A3A0B0-14A6-4878-B445-4F04D1B4475C}"/>
              </a:ext>
            </a:extLst>
          </p:cNvPr>
          <p:cNvSpPr>
            <a:spLocks xmlns:a="http://schemas.openxmlformats.org/drawingml/2006/main" noGrp="1"/>
          </p:cNvSpPr>
          <p:nvPr/>
        </p:nvSpPr>
        <p:spPr>
          <a:xfrm xmlns:a="http://schemas.openxmlformats.org/drawingml/2006/main">
            <a:off x="7077075" y="37147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Company knowledge</a:t>
            </a:r>
          </a:p>
        </p:txBody>
      </p:sp>
      <p:sp>
        <p:nvSpPr>
          <p:cNvPr id="13" name="">
            <a:extLst xmlns:a="http://schemas.openxmlformats.org/drawingml/2006/main">
              <a:ext uri="{FF2B5EF4-FFF2-40B4-BE49-F238E27FC236}">
                <a16:creationId xmlns:a16="http://schemas.microsoft.com/office/drawing/2014/main" id="{C0C0B61D-201E-43B4-9F65-F109157B38AB}"/>
              </a:ext>
            </a:extLst>
          </p:cNvPr>
          <p:cNvSpPr>
            <a:spLocks xmlns:a="http://schemas.openxmlformats.org/drawingml/2006/main" noGrp="1"/>
          </p:cNvSpPr>
          <p:nvPr/>
        </p:nvSpPr>
        <p:spPr>
          <a:xfrm xmlns:a="http://schemas.openxmlformats.org/drawingml/2006/main">
            <a:off x="7077075" y="400050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8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Product facts, voice and claim restrictions. This is the source of truth.</a:t>
            </a:r>
          </a:p>
        </p:txBody>
      </p:sp>
      <p:sp>
        <p:nvSpPr>
          <p:cNvPr id="14" name="">
            <a:extLst xmlns:a="http://schemas.openxmlformats.org/drawingml/2006/main">
              <a:ext uri="{FF2B5EF4-FFF2-40B4-BE49-F238E27FC236}">
                <a16:creationId xmlns:a16="http://schemas.microsoft.com/office/drawing/2014/main" id="{11D7D1EF-D4FF-489A-9B3A-18E5CA49FC1C}"/>
              </a:ext>
            </a:extLst>
          </p:cNvPr>
          <p:cNvSpPr>
            <a:spLocks xmlns:a="http://schemas.openxmlformats.org/drawingml/2006/main" noGrp="1"/>
          </p:cNvSpPr>
          <p:nvPr/>
        </p:nvSpPr>
        <p:spPr>
          <a:xfrm xmlns:a="http://schemas.openxmlformats.org/drawingml/2006/main">
            <a:off x="6315075" y="4724400"/>
            <a:ext cx="5191125" cy="895350"/>
          </a:xfrm>
          <a:prstGeom xmlns:a="http://schemas.openxmlformats.org/drawingml/2006/main" prst="roundRect">
            <a:avLst>
              <a:gd name="adj" fmla="val 12766"/>
            </a:avLst>
          </a:prstGeom>
          <a:solidFill xmlns:a="http://schemas.openxmlformats.org/drawingml/2006/main">
            <a:srgbClr val="10131A"/>
          </a:solidFill>
          <a:ln xmlns:a="http://schemas.openxmlformats.org/drawingml/2006/main" w="9525">
            <a:solidFill>
              <a:srgbClr val="2A303C"/>
            </a:solidFill>
            <a:prstDash val="solid"/>
          </a:ln>
        </p:spPr>
      </p:sp>
      <p:sp>
        <p:nvSpPr>
          <p:cNvPr id="15" name="">
            <a:extLst xmlns:a="http://schemas.openxmlformats.org/drawingml/2006/main">
              <a:ext uri="{FF2B5EF4-FFF2-40B4-BE49-F238E27FC236}">
                <a16:creationId xmlns:a16="http://schemas.microsoft.com/office/drawing/2014/main" id="{247812B6-A1E5-4A68-817E-675748F2434B}"/>
              </a:ext>
            </a:extLst>
          </p:cNvPr>
          <p:cNvSpPr>
            <a:spLocks xmlns:a="http://schemas.openxmlformats.org/drawingml/2006/main" noGrp="1"/>
          </p:cNvSpPr>
          <p:nvPr/>
        </p:nvSpPr>
        <p:spPr>
          <a:xfrm xmlns:a="http://schemas.openxmlformats.org/drawingml/2006/main">
            <a:off x="6572250" y="49434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5AA02466-D3B8-4DD9-BC9D-8CC0E93B5E44}"/>
              </a:ext>
            </a:extLst>
          </p:cNvPr>
          <p:cNvSpPr>
            <a:spLocks xmlns:a="http://schemas.openxmlformats.org/drawingml/2006/main" noGrp="1"/>
          </p:cNvSpPr>
          <p:nvPr/>
        </p:nvSpPr>
        <p:spPr>
          <a:xfrm xmlns:a="http://schemas.openxmlformats.org/drawingml/2006/main">
            <a:off x="7077075" y="48863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Trend signals</a:t>
            </a:r>
          </a:p>
        </p:txBody>
      </p:sp>
      <p:sp>
        <p:nvSpPr>
          <p:cNvPr id="17" name="">
            <a:extLst xmlns:a="http://schemas.openxmlformats.org/drawingml/2006/main">
              <a:ext uri="{FF2B5EF4-FFF2-40B4-BE49-F238E27FC236}">
                <a16:creationId xmlns:a16="http://schemas.microsoft.com/office/drawing/2014/main" id="{4EF416D7-D484-446C-91EA-3124C7511330}"/>
              </a:ext>
            </a:extLst>
          </p:cNvPr>
          <p:cNvSpPr>
            <a:spLocks xmlns:a="http://schemas.openxmlformats.org/drawingml/2006/main" noGrp="1"/>
          </p:cNvSpPr>
          <p:nvPr/>
        </p:nvSpPr>
        <p:spPr>
          <a:xfrm xmlns:a="http://schemas.openxmlformats.org/drawingml/2006/main">
            <a:off x="7077075" y="517207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8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Inspiration only. A trend can suggest an angle but never justify a claim.</a:t>
            </a:r>
          </a:p>
        </p:txBody>
      </p:sp>
      <p:sp>
        <p:nvSpPr>
          <p:cNvPr id="18" name="">
            <a:extLst xmlns:a="http://schemas.openxmlformats.org/drawingml/2006/main">
              <a:ext uri="{FF2B5EF4-FFF2-40B4-BE49-F238E27FC236}">
                <a16:creationId xmlns:a16="http://schemas.microsoft.com/office/drawing/2014/main" id="{4B3E4A44-F5FB-4369-B625-E12FD1B694CC}"/>
              </a:ext>
            </a:extLst>
          </p:cNvPr>
          <p:cNvSpPr>
            <a:spLocks xmlns:a="http://schemas.openxmlformats.org/drawingml/2006/main" noGrp="1"/>
          </p:cNvSpPr>
          <p:nvPr/>
        </p:nvSpPr>
        <p:spPr>
          <a:xfrm xmlns:a="http://schemas.openxmlformats.org/drawingml/2006/main">
            <a:off x="685800" y="485775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a:solidFill>
                  <a:srgbClr val="98E7C3"/>
                </a:solidFill>
                <a:latin typeface="Helvetica Neue"/>
                <a:ea typeface="Helvetica Neue"/>
                <a:cs typeface="Helvetica Neue"/>
              </a:defRPr>
            </a:pPr>
            <a:r>
              <a:rPr sz="1650" b="1">
                <a:solidFill>
                  <a:srgbClr val="98E7C3"/>
                </a:solidFill>
                <a:latin typeface="Helvetica Neue"/>
                <a:ea typeface="Helvetica Neue"/>
                <a:cs typeface="Helvetica Neue"/>
              </a:rPr>
              <a:t>Result: a reviewer can see where the idea came from before releasing it to production.</a:t>
            </a:r>
          </a:p>
        </p:txBody>
      </p:sp>
      <p:sp>
        <p:nvSpPr>
          <p:cNvPr id="19" name="">
            <a:extLst xmlns:a="http://schemas.openxmlformats.org/drawingml/2006/main">
              <a:ext uri="{FF2B5EF4-FFF2-40B4-BE49-F238E27FC236}">
                <a16:creationId xmlns:a16="http://schemas.microsoft.com/office/drawing/2014/main" id="{E42BAA8C-A915-4BDC-8B5B-2136CEF40E8A}"/>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380EB19-BB4E-4D6E-BC63-29AA2E2977C9}"/>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1" name="">
            <a:extLst xmlns:a="http://schemas.openxmlformats.org/drawingml/2006/main">
              <a:ext uri="{FF2B5EF4-FFF2-40B4-BE49-F238E27FC236}">
                <a16:creationId xmlns:a16="http://schemas.microsoft.com/office/drawing/2014/main" id="{BEA90F6D-524C-4016-AF88-CB6F6A728585}"/>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04</a:t>
            </a:r>
          </a:p>
        </p:txBody>
      </p:sp>
    </p:spTree>
    <p:extLst>
      <p:ext uri="{BB962C8B-B14F-4D97-AF65-F5344CB8AC3E}">
        <p14:creationId xmlns:p14="http://schemas.microsoft.com/office/powerpoint/2010/main" val="1368573447"/>
      </p:ext>
    </p:extLst>
  </p:cSld>
</p:sld>
</file>

<file path=ppt/slides/slide5.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E46198B-587F-4973-A08B-AD2D66509687}"/>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BE6A"/>
                </a:solidFill>
                <a:latin typeface="Helvetica Neue"/>
                <a:ea typeface="Helvetica Neue"/>
                <a:cs typeface="Helvetica Neue"/>
              </a:defRPr>
            </a:pPr>
            <a:r>
              <a:rPr sz="900" b="1">
                <a:solidFill>
                  <a:srgbClr val="FFBE6A"/>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C3F43A8F-42C1-4A15-90EB-712DDDBCFFA2}"/>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Human approval holds the line</a:t>
            </a:r>
          </a:p>
        </p:txBody>
      </p:sp>
      <p:sp>
        <p:nvSpPr>
          <p:cNvPr id="3" name="">
            <a:extLst xmlns:a="http://schemas.openxmlformats.org/drawingml/2006/main">
              <a:ext uri="{FF2B5EF4-FFF2-40B4-BE49-F238E27FC236}">
                <a16:creationId xmlns:a16="http://schemas.microsoft.com/office/drawing/2014/main" id="{16FBAB17-5796-4ECD-89AC-254B8540C023}"/>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825"/>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 campaign moves through one legal path, with the machine stopping where a person needs to decide.</a:t>
            </a:r>
          </a:p>
        </p:txBody>
      </p:sp>
      <p:sp>
        <p:nvSpPr>
          <p:cNvPr id="4" name="">
            <a:extLst xmlns:a="http://schemas.openxmlformats.org/drawingml/2006/main">
              <a:ext uri="{FF2B5EF4-FFF2-40B4-BE49-F238E27FC236}">
                <a16:creationId xmlns:a16="http://schemas.microsoft.com/office/drawing/2014/main" id="{C34C9C2F-AEE5-4971-9FF5-430F6427CDF3}"/>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4AB7EF9-28A6-48A6-8075-0E8AEA0CFCBA}"/>
              </a:ext>
            </a:extLst>
          </p:cNvPr>
          <p:cNvSpPr>
            <a:spLocks xmlns:a="http://schemas.openxmlformats.org/drawingml/2006/main" noGrp="1"/>
          </p:cNvSpPr>
          <p:nvPr/>
        </p:nvSpPr>
        <p:spPr>
          <a:xfrm xmlns:a="http://schemas.openxmlformats.org/drawingml/2006/main">
            <a:off x="68580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687080"/>
            </a:solidFill>
            <a:prstDash val="solid"/>
          </a:ln>
        </p:spPr>
      </p:sp>
      <p:sp>
        <p:nvSpPr>
          <p:cNvPr id="6" name="">
            <a:extLst xmlns:a="http://schemas.openxmlformats.org/drawingml/2006/main">
              <a:ext uri="{FF2B5EF4-FFF2-40B4-BE49-F238E27FC236}">
                <a16:creationId xmlns:a16="http://schemas.microsoft.com/office/drawing/2014/main" id="{5363CCF1-D536-4154-BC39-58472C56CB11}"/>
              </a:ext>
            </a:extLst>
          </p:cNvPr>
          <p:cNvSpPr>
            <a:spLocks xmlns:a="http://schemas.openxmlformats.org/drawingml/2006/main" noGrp="1"/>
          </p:cNvSpPr>
          <p:nvPr/>
        </p:nvSpPr>
        <p:spPr>
          <a:xfrm xmlns:a="http://schemas.openxmlformats.org/drawingml/2006/main">
            <a:off x="81915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Draft</a:t>
            </a:r>
          </a:p>
        </p:txBody>
      </p:sp>
      <p:sp>
        <p:nvSpPr>
          <p:cNvPr id="7" name="">
            <a:extLst xmlns:a="http://schemas.openxmlformats.org/drawingml/2006/main">
              <a:ext uri="{FF2B5EF4-FFF2-40B4-BE49-F238E27FC236}">
                <a16:creationId xmlns:a16="http://schemas.microsoft.com/office/drawing/2014/main" id="{B6FD8A78-4F7A-4F46-A5B1-C863576D06F3}"/>
              </a:ext>
            </a:extLst>
          </p:cNvPr>
          <p:cNvSpPr>
            <a:spLocks xmlns:a="http://schemas.openxmlformats.org/drawingml/2006/main" noGrp="1"/>
          </p:cNvSpPr>
          <p:nvPr/>
        </p:nvSpPr>
        <p:spPr>
          <a:xfrm xmlns:a="http://schemas.openxmlformats.org/drawingml/2006/main">
            <a:off x="194310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AAA31B9-F5B7-42BB-98B2-E1B8E13D26AB}"/>
              </a:ext>
            </a:extLst>
          </p:cNvPr>
          <p:cNvSpPr>
            <a:spLocks xmlns:a="http://schemas.openxmlformats.org/drawingml/2006/main" noGrp="1"/>
          </p:cNvSpPr>
          <p:nvPr/>
        </p:nvSpPr>
        <p:spPr>
          <a:xfrm xmlns:a="http://schemas.openxmlformats.org/drawingml/2006/main">
            <a:off x="215265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6E9BFF"/>
            </a:solidFill>
            <a:prstDash val="solid"/>
          </a:ln>
        </p:spPr>
      </p:sp>
      <p:sp>
        <p:nvSpPr>
          <p:cNvPr id="9" name="">
            <a:extLst xmlns:a="http://schemas.openxmlformats.org/drawingml/2006/main">
              <a:ext uri="{FF2B5EF4-FFF2-40B4-BE49-F238E27FC236}">
                <a16:creationId xmlns:a16="http://schemas.microsoft.com/office/drawing/2014/main" id="{17ECD124-FACA-4E26-9F0F-6EE08E2F4030}"/>
              </a:ext>
            </a:extLst>
          </p:cNvPr>
          <p:cNvSpPr>
            <a:spLocks xmlns:a="http://schemas.openxmlformats.org/drawingml/2006/main" noGrp="1"/>
          </p:cNvSpPr>
          <p:nvPr/>
        </p:nvSpPr>
        <p:spPr>
          <a:xfrm xmlns:a="http://schemas.openxmlformats.org/drawingml/2006/main">
            <a:off x="228600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Planning</a:t>
            </a:r>
          </a:p>
        </p:txBody>
      </p:sp>
      <p:sp>
        <p:nvSpPr>
          <p:cNvPr id="10" name="">
            <a:extLst xmlns:a="http://schemas.openxmlformats.org/drawingml/2006/main">
              <a:ext uri="{FF2B5EF4-FFF2-40B4-BE49-F238E27FC236}">
                <a16:creationId xmlns:a16="http://schemas.microsoft.com/office/drawing/2014/main" id="{79A97ECB-60FB-47F4-A25A-E5CF1F0B6EEA}"/>
              </a:ext>
            </a:extLst>
          </p:cNvPr>
          <p:cNvSpPr>
            <a:spLocks xmlns:a="http://schemas.openxmlformats.org/drawingml/2006/main" noGrp="1"/>
          </p:cNvSpPr>
          <p:nvPr/>
        </p:nvSpPr>
        <p:spPr>
          <a:xfrm xmlns:a="http://schemas.openxmlformats.org/drawingml/2006/main">
            <a:off x="340995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C648B85-570E-41B3-AA76-701B83C73E6D}"/>
              </a:ext>
            </a:extLst>
          </p:cNvPr>
          <p:cNvSpPr>
            <a:spLocks xmlns:a="http://schemas.openxmlformats.org/drawingml/2006/main" noGrp="1"/>
          </p:cNvSpPr>
          <p:nvPr/>
        </p:nvSpPr>
        <p:spPr>
          <a:xfrm xmlns:a="http://schemas.openxmlformats.org/drawingml/2006/main">
            <a:off x="361950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FFBE6A"/>
            </a:solidFill>
            <a:prstDash val="solid"/>
          </a:ln>
        </p:spPr>
      </p:sp>
      <p:sp>
        <p:nvSpPr>
          <p:cNvPr id="12" name="">
            <a:extLst xmlns:a="http://schemas.openxmlformats.org/drawingml/2006/main">
              <a:ext uri="{FF2B5EF4-FFF2-40B4-BE49-F238E27FC236}">
                <a16:creationId xmlns:a16="http://schemas.microsoft.com/office/drawing/2014/main" id="{A5509E1A-5FD6-43CC-A65D-575A0FDEF671}"/>
              </a:ext>
            </a:extLst>
          </p:cNvPr>
          <p:cNvSpPr>
            <a:spLocks xmlns:a="http://schemas.openxmlformats.org/drawingml/2006/main" noGrp="1"/>
          </p:cNvSpPr>
          <p:nvPr/>
        </p:nvSpPr>
        <p:spPr>
          <a:xfrm xmlns:a="http://schemas.openxmlformats.org/drawingml/2006/main">
            <a:off x="375285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Plan approval</a:t>
            </a:r>
          </a:p>
        </p:txBody>
      </p:sp>
      <p:sp>
        <p:nvSpPr>
          <p:cNvPr id="13" name="">
            <a:extLst xmlns:a="http://schemas.openxmlformats.org/drawingml/2006/main">
              <a:ext uri="{FF2B5EF4-FFF2-40B4-BE49-F238E27FC236}">
                <a16:creationId xmlns:a16="http://schemas.microsoft.com/office/drawing/2014/main" id="{77BD8B20-5E8B-4AEE-B5B5-CF593ED5C865}"/>
              </a:ext>
            </a:extLst>
          </p:cNvPr>
          <p:cNvSpPr>
            <a:spLocks xmlns:a="http://schemas.openxmlformats.org/drawingml/2006/main" noGrp="1"/>
          </p:cNvSpPr>
          <p:nvPr/>
        </p:nvSpPr>
        <p:spPr>
          <a:xfrm xmlns:a="http://schemas.openxmlformats.org/drawingml/2006/main">
            <a:off x="487680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6A8D9E4-AF8E-467C-8DA3-377CC445191A}"/>
              </a:ext>
            </a:extLst>
          </p:cNvPr>
          <p:cNvSpPr>
            <a:spLocks xmlns:a="http://schemas.openxmlformats.org/drawingml/2006/main" noGrp="1"/>
          </p:cNvSpPr>
          <p:nvPr/>
        </p:nvSpPr>
        <p:spPr>
          <a:xfrm xmlns:a="http://schemas.openxmlformats.org/drawingml/2006/main">
            <a:off x="508635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6E9BFF"/>
            </a:solidFill>
            <a:prstDash val="solid"/>
          </a:ln>
        </p:spPr>
      </p:sp>
      <p:sp>
        <p:nvSpPr>
          <p:cNvPr id="15" name="">
            <a:extLst xmlns:a="http://schemas.openxmlformats.org/drawingml/2006/main">
              <a:ext uri="{FF2B5EF4-FFF2-40B4-BE49-F238E27FC236}">
                <a16:creationId xmlns:a16="http://schemas.microsoft.com/office/drawing/2014/main" id="{3E31A726-7A79-4857-9292-D25DCFE121EA}"/>
              </a:ext>
            </a:extLst>
          </p:cNvPr>
          <p:cNvSpPr>
            <a:spLocks xmlns:a="http://schemas.openxmlformats.org/drawingml/2006/main" noGrp="1"/>
          </p:cNvSpPr>
          <p:nvPr/>
        </p:nvSpPr>
        <p:spPr>
          <a:xfrm xmlns:a="http://schemas.openxmlformats.org/drawingml/2006/main">
            <a:off x="521970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Generating</a:t>
            </a:r>
          </a:p>
        </p:txBody>
      </p:sp>
      <p:sp>
        <p:nvSpPr>
          <p:cNvPr id="16" name="">
            <a:extLst xmlns:a="http://schemas.openxmlformats.org/drawingml/2006/main">
              <a:ext uri="{FF2B5EF4-FFF2-40B4-BE49-F238E27FC236}">
                <a16:creationId xmlns:a16="http://schemas.microsoft.com/office/drawing/2014/main" id="{80EB12B6-FF51-4BD1-95A1-DF17A3D0EE5F}"/>
              </a:ext>
            </a:extLst>
          </p:cNvPr>
          <p:cNvSpPr>
            <a:spLocks xmlns:a="http://schemas.openxmlformats.org/drawingml/2006/main" noGrp="1"/>
          </p:cNvSpPr>
          <p:nvPr/>
        </p:nvSpPr>
        <p:spPr>
          <a:xfrm xmlns:a="http://schemas.openxmlformats.org/drawingml/2006/main">
            <a:off x="634365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E2001F-A4C9-47A3-8958-9D2BE02618F9}"/>
              </a:ext>
            </a:extLst>
          </p:cNvPr>
          <p:cNvSpPr>
            <a:spLocks xmlns:a="http://schemas.openxmlformats.org/drawingml/2006/main" noGrp="1"/>
          </p:cNvSpPr>
          <p:nvPr/>
        </p:nvSpPr>
        <p:spPr>
          <a:xfrm xmlns:a="http://schemas.openxmlformats.org/drawingml/2006/main">
            <a:off x="655320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FFBE6A"/>
            </a:solidFill>
            <a:prstDash val="solid"/>
          </a:ln>
        </p:spPr>
      </p:sp>
      <p:sp>
        <p:nvSpPr>
          <p:cNvPr id="18" name="">
            <a:extLst xmlns:a="http://schemas.openxmlformats.org/drawingml/2006/main">
              <a:ext uri="{FF2B5EF4-FFF2-40B4-BE49-F238E27FC236}">
                <a16:creationId xmlns:a16="http://schemas.microsoft.com/office/drawing/2014/main" id="{9D544F3C-B342-4DBF-B05A-269ED3D64486}"/>
              </a:ext>
            </a:extLst>
          </p:cNvPr>
          <p:cNvSpPr>
            <a:spLocks xmlns:a="http://schemas.openxmlformats.org/drawingml/2006/main" noGrp="1"/>
          </p:cNvSpPr>
          <p:nvPr/>
        </p:nvSpPr>
        <p:spPr>
          <a:xfrm xmlns:a="http://schemas.openxmlformats.org/drawingml/2006/main">
            <a:off x="668655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Asset review</a:t>
            </a:r>
          </a:p>
        </p:txBody>
      </p:sp>
      <p:sp>
        <p:nvSpPr>
          <p:cNvPr id="19" name="">
            <a:extLst xmlns:a="http://schemas.openxmlformats.org/drawingml/2006/main">
              <a:ext uri="{FF2B5EF4-FFF2-40B4-BE49-F238E27FC236}">
                <a16:creationId xmlns:a16="http://schemas.microsoft.com/office/drawing/2014/main" id="{5E4E6BB1-729E-4B44-94D7-8D05C257BE95}"/>
              </a:ext>
            </a:extLst>
          </p:cNvPr>
          <p:cNvSpPr>
            <a:spLocks xmlns:a="http://schemas.openxmlformats.org/drawingml/2006/main" noGrp="1"/>
          </p:cNvSpPr>
          <p:nvPr/>
        </p:nvSpPr>
        <p:spPr>
          <a:xfrm xmlns:a="http://schemas.openxmlformats.org/drawingml/2006/main">
            <a:off x="781050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1B57EEA-CA7F-4F2F-A166-1B0A78C4FC0C}"/>
              </a:ext>
            </a:extLst>
          </p:cNvPr>
          <p:cNvSpPr>
            <a:spLocks xmlns:a="http://schemas.openxmlformats.org/drawingml/2006/main" noGrp="1"/>
          </p:cNvSpPr>
          <p:nvPr/>
        </p:nvSpPr>
        <p:spPr>
          <a:xfrm xmlns:a="http://schemas.openxmlformats.org/drawingml/2006/main">
            <a:off x="802005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98E7C3"/>
            </a:solidFill>
            <a:prstDash val="solid"/>
          </a:ln>
        </p:spPr>
      </p:sp>
      <p:sp>
        <p:nvSpPr>
          <p:cNvPr id="21" name="">
            <a:extLst xmlns:a="http://schemas.openxmlformats.org/drawingml/2006/main">
              <a:ext uri="{FF2B5EF4-FFF2-40B4-BE49-F238E27FC236}">
                <a16:creationId xmlns:a16="http://schemas.microsoft.com/office/drawing/2014/main" id="{4267A636-7148-4560-8CE0-906FFE55B9C2}"/>
              </a:ext>
            </a:extLst>
          </p:cNvPr>
          <p:cNvSpPr>
            <a:spLocks xmlns:a="http://schemas.openxmlformats.org/drawingml/2006/main" noGrp="1"/>
          </p:cNvSpPr>
          <p:nvPr/>
        </p:nvSpPr>
        <p:spPr>
          <a:xfrm xmlns:a="http://schemas.openxmlformats.org/drawingml/2006/main">
            <a:off x="815340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6643"/>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Ready to publish</a:t>
            </a:r>
          </a:p>
        </p:txBody>
      </p:sp>
      <p:sp>
        <p:nvSpPr>
          <p:cNvPr id="22" name="">
            <a:extLst xmlns:a="http://schemas.openxmlformats.org/drawingml/2006/main">
              <a:ext uri="{FF2B5EF4-FFF2-40B4-BE49-F238E27FC236}">
                <a16:creationId xmlns:a16="http://schemas.microsoft.com/office/drawing/2014/main" id="{3E39951D-868D-4DD6-AD27-4A2C936F4CA7}"/>
              </a:ext>
            </a:extLst>
          </p:cNvPr>
          <p:cNvSpPr>
            <a:spLocks xmlns:a="http://schemas.openxmlformats.org/drawingml/2006/main" noGrp="1"/>
          </p:cNvSpPr>
          <p:nvPr/>
        </p:nvSpPr>
        <p:spPr>
          <a:xfrm xmlns:a="http://schemas.openxmlformats.org/drawingml/2006/main">
            <a:off x="685800" y="3857625"/>
            <a:ext cx="4857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54"/>
          </a:bodyPr>
          <a:lstStyle xmlns:a="http://schemas.openxmlformats.org/drawingml/2006/main"/>
          <a:p xmlns:a="http://schemas.openxmlformats.org/drawingml/2006/main">
            <a:pPr algn="l">
              <a:lnSpc>
                <a:spcPct val="113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The UI makes the handover unmistakable: when a gate opens, the machine recedes and the review work moves forward. The run stays halted until someone releases it.</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98eb26a9284347f8"/>
          <a:srcRect xmlns:a="http://schemas.openxmlformats.org/drawingml/2006/main" l="0" t="15461" r="0" b="15461"/>
          <a:stretch xmlns:a="http://schemas.openxmlformats.org/drawingml/2006/main">
            <a:fillRect l="0" t="0" r="0" b="0"/>
          </a:stretch>
        </p:blipFill>
        <p:spPr>
          <a:xfrm xmlns:a="http://schemas.openxmlformats.org/drawingml/2006/main">
            <a:off x="6343650" y="3667125"/>
            <a:ext cx="5162550" cy="2228850"/>
          </a:xfrm>
          <a:prstGeom xmlns:a="http://schemas.openxmlformats.org/drawingml/2006/main" prst="roundRect">
            <a:avLst>
              <a:gd name="adj" fmla="val 6838"/>
            </a:avLst>
          </a:prstGeom>
        </p:spPr>
      </p:pic>
      <p:sp>
        <p:nvSpPr>
          <p:cNvPr id="24" name="">
            <a:extLst xmlns:a="http://schemas.openxmlformats.org/drawingml/2006/main">
              <a:ext uri="{FF2B5EF4-FFF2-40B4-BE49-F238E27FC236}">
                <a16:creationId xmlns:a16="http://schemas.microsoft.com/office/drawing/2014/main" id="{3DB760A0-DF3D-40A5-A2D4-E4C8A6331B30}"/>
              </a:ext>
            </a:extLst>
          </p:cNvPr>
          <p:cNvSpPr>
            <a:spLocks xmlns:a="http://schemas.openxmlformats.org/drawingml/2006/main" noGrp="1"/>
          </p:cNvSpPr>
          <p:nvPr/>
        </p:nvSpPr>
        <p:spPr>
          <a:xfrm xmlns:a="http://schemas.openxmlformats.org/drawingml/2006/main">
            <a:off x="6343650" y="60007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Campaign Hub screen from the project</a:t>
            </a:r>
          </a:p>
        </p:txBody>
      </p:sp>
      <p:sp>
        <p:nvSpPr>
          <p:cNvPr id="25" name="">
            <a:extLst xmlns:a="http://schemas.openxmlformats.org/drawingml/2006/main">
              <a:ext uri="{FF2B5EF4-FFF2-40B4-BE49-F238E27FC236}">
                <a16:creationId xmlns:a16="http://schemas.microsoft.com/office/drawing/2014/main" id="{1FE20431-17A5-4E33-A927-218A39A15A13}"/>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D11555A-CE6B-40B3-B3A7-B42070627450}"/>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7" name="">
            <a:extLst xmlns:a="http://schemas.openxmlformats.org/drawingml/2006/main">
              <a:ext uri="{FF2B5EF4-FFF2-40B4-BE49-F238E27FC236}">
                <a16:creationId xmlns:a16="http://schemas.microsoft.com/office/drawing/2014/main" id="{AC6D19F6-CAF7-4AB7-8392-45C7A760D857}"/>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05</a:t>
            </a:r>
          </a:p>
        </p:txBody>
      </p:sp>
    </p:spTree>
    <p:extLst>
      <p:ext uri="{BB962C8B-B14F-4D97-AF65-F5344CB8AC3E}">
        <p14:creationId xmlns:p14="http://schemas.microsoft.com/office/powerpoint/2010/main" val="557371754"/>
      </p:ext>
    </p:extLst>
  </p:cSld>
</p:sld>
</file>

<file path=ppt/slides/slide6.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17704A-A58E-49F2-8F5D-46CCF6706065}"/>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F1FE196F-29EC-4FFD-B38E-B34746538946}"/>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Image Studio</a:t>
            </a:r>
          </a:p>
        </p:txBody>
      </p:sp>
      <p:sp>
        <p:nvSpPr>
          <p:cNvPr id="3" name="">
            <a:extLst xmlns:a="http://schemas.openxmlformats.org/drawingml/2006/main">
              <a:ext uri="{FF2B5EF4-FFF2-40B4-BE49-F238E27FC236}">
                <a16:creationId xmlns:a16="http://schemas.microsoft.com/office/drawing/2014/main" id="{1CA2B65F-7B0F-48E9-9D13-857A55331421}"/>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014"/>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Approved concepts become reviewable creative, with a director and quality check before the asset gate.</a:t>
            </a:r>
          </a:p>
        </p:txBody>
      </p:sp>
      <p:sp>
        <p:nvSpPr>
          <p:cNvPr id="4" name="">
            <a:extLst xmlns:a="http://schemas.openxmlformats.org/drawingml/2006/main">
              <a:ext uri="{FF2B5EF4-FFF2-40B4-BE49-F238E27FC236}">
                <a16:creationId xmlns:a16="http://schemas.microsoft.com/office/drawing/2014/main" id="{140DE262-EAD4-4980-8F6A-9E17B683176D}"/>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EA08C45-21FD-47A4-9637-3AA5C8888978}"/>
              </a:ext>
            </a:extLst>
          </p:cNvPr>
          <p:cNvSpPr>
            <a:spLocks xmlns:a="http://schemas.openxmlformats.org/drawingml/2006/main" noGrp="1"/>
          </p:cNvSpPr>
          <p:nvPr/>
        </p:nvSpPr>
        <p:spPr>
          <a:xfrm xmlns:a="http://schemas.openxmlformats.org/drawingml/2006/main">
            <a:off x="685800" y="2476500"/>
            <a:ext cx="48958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50"/>
          </a:bodyPr>
          <a:lstStyle xmlns:a="http://schemas.openxmlformats.org/drawingml/2006/main"/>
          <a:p xmlns:a="http://schemas.openxmlformats.org/drawingml/2006/main">
            <a:pPr algn="l">
              <a:lnSpc>
                <a:spcPct val="112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The crew writes copy, plans visual composition and reviews the pairing against brand ground truth. The renderer keeps the finished type under local control rather than asking an image model to draw it.</a:t>
            </a:r>
          </a:p>
        </p:txBody>
      </p:sp>
      <p:sp>
        <p:nvSpPr>
          <p:cNvPr id="6" name="">
            <a:extLst xmlns:a="http://schemas.openxmlformats.org/drawingml/2006/main">
              <a:ext uri="{FF2B5EF4-FFF2-40B4-BE49-F238E27FC236}">
                <a16:creationId xmlns:a16="http://schemas.microsoft.com/office/drawing/2014/main" id="{B7658A38-6A90-40D8-832B-F7B7535A2088}"/>
              </a:ext>
            </a:extLst>
          </p:cNvPr>
          <p:cNvSpPr>
            <a:spLocks xmlns:a="http://schemas.openxmlformats.org/drawingml/2006/main" noGrp="1"/>
          </p:cNvSpPr>
          <p:nvPr/>
        </p:nvSpPr>
        <p:spPr>
          <a:xfrm xmlns:a="http://schemas.openxmlformats.org/drawingml/2006/main">
            <a:off x="685800" y="396240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70"/>
          </a:bodyPr>
          <a:lstStyle xmlns:a="http://schemas.openxmlformats.org/drawingml/2006/main"/>
          <a:p xmlns:a="http://schemas.openxmlformats.org/drawingml/2006/main">
            <a:pPr algn="l">
              <a:lnSpc>
                <a:spcPct val="113000"/>
              </a:lnSpc>
              <a:buNone/>
              <a:defRPr sz="1500" b="1">
                <a:solidFill>
                  <a:srgbClr val="A5ACB9"/>
                </a:solidFill>
                <a:latin typeface="Helvetica Neue"/>
                <a:ea typeface="Helvetica Neue"/>
                <a:cs typeface="Helvetica Neue"/>
              </a:defRPr>
            </a:pPr>
            <a:r>
              <a:rPr sz="1500" b="1">
                <a:solidFill>
                  <a:srgbClr val="A5ACB9"/>
                </a:solidFill>
                <a:latin typeface="Helvetica Neue"/>
                <a:ea typeface="Helvetica Neue"/>
                <a:cs typeface="Helvetica Neue"/>
              </a:rPr>
              <a:t>A director can send work back for copy or visual changes. The revision budget stops at two passes so a reviewer never waits on an endless loop.</a:t>
            </a:r>
          </a:p>
        </p:txBody>
      </p:sp>
      <p:sp>
        <p:nvSpPr>
          <p:cNvPr id="7" name="">
            <a:extLst xmlns:a="http://schemas.openxmlformats.org/drawingml/2006/main">
              <a:ext uri="{FF2B5EF4-FFF2-40B4-BE49-F238E27FC236}">
                <a16:creationId xmlns:a16="http://schemas.microsoft.com/office/drawing/2014/main" id="{57A8B496-BBE9-472C-8F93-35B8F7CF03D7}"/>
              </a:ext>
            </a:extLst>
          </p:cNvPr>
          <p:cNvSpPr>
            <a:spLocks xmlns:a="http://schemas.openxmlformats.org/drawingml/2006/main" noGrp="1"/>
          </p:cNvSpPr>
          <p:nvPr/>
        </p:nvSpPr>
        <p:spPr>
          <a:xfrm xmlns:a="http://schemas.openxmlformats.org/drawingml/2006/main">
            <a:off x="685800" y="5219700"/>
            <a:ext cx="3733800" cy="28575"/>
          </a:xfrm>
          <a:prstGeom xmlns:a="http://schemas.openxmlformats.org/drawingml/2006/main" prst="rect">
            <a:avLst/>
          </a:prstGeom>
          <a:solidFill xmlns:a="http://schemas.openxmlformats.org/drawingml/2006/main">
            <a:srgbClr val="6E9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E32EEB1-35A3-4E2C-8CA8-8799DF537E6F}"/>
              </a:ext>
            </a:extLst>
          </p:cNvPr>
          <p:cNvSpPr>
            <a:spLocks xmlns:a="http://schemas.openxmlformats.org/drawingml/2006/main" noGrp="1"/>
          </p:cNvSpPr>
          <p:nvPr/>
        </p:nvSpPr>
        <p:spPr>
          <a:xfrm xmlns:a="http://schemas.openxmlformats.org/drawingml/2006/main">
            <a:off x="685800" y="54102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39"/>
          </a:bodyPr>
          <a:lstStyle xmlns:a="http://schemas.openxmlformats.org/drawingml/2006/main"/>
          <a:p xmlns:a="http://schemas.openxmlformats.org/drawingml/2006/main">
            <a:pPr algn="l">
              <a:lnSpc>
                <a:spcPct val="105000"/>
              </a:lnSpc>
              <a:buNone/>
              <a:defRPr sz="1275" b="1">
                <a:solidFill>
                  <a:srgbClr val="6E9BFF"/>
                </a:solidFill>
                <a:latin typeface="Helvetica Neue"/>
                <a:ea typeface="Helvetica Neue"/>
                <a:cs typeface="Helvetica Neue"/>
              </a:defRPr>
            </a:pPr>
            <a:r>
              <a:rPr sz="1275" b="1">
                <a:solidFill>
                  <a:srgbClr val="6E9BFF"/>
                </a:solidFill>
                <a:latin typeface="Helvetica Neue"/>
                <a:ea typeface="Helvetica Neue"/>
                <a:cs typeface="Helvetica Neue"/>
              </a:rPr>
              <a:t>Output remains a decision, not an automatic publish action.</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101489c983c4319"/>
          <a:srcRect xmlns:a="http://schemas.openxmlformats.org/drawingml/2006/main" l="0" t="0" r="0" b="0"/>
          <a:stretch xmlns:a="http://schemas.openxmlformats.org/drawingml/2006/main">
            <a:fillRect l="0" t="0" r="0" b="0"/>
          </a:stretch>
        </p:blipFill>
        <p:spPr>
          <a:xfrm xmlns:a="http://schemas.openxmlformats.org/drawingml/2006/main">
            <a:off x="7277100" y="2400300"/>
            <a:ext cx="3381375" cy="3381375"/>
          </a:xfrm>
          <a:prstGeom xmlns:a="http://schemas.openxmlformats.org/drawingml/2006/main" prst="roundRect">
            <a:avLst>
              <a:gd name="adj" fmla="val 4507"/>
            </a:avLst>
          </a:prstGeom>
        </p:spPr>
      </p:pic>
      <p:sp>
        <p:nvSpPr>
          <p:cNvPr id="10" name="">
            <a:extLst xmlns:a="http://schemas.openxmlformats.org/drawingml/2006/main">
              <a:ext uri="{FF2B5EF4-FFF2-40B4-BE49-F238E27FC236}">
                <a16:creationId xmlns:a16="http://schemas.microsoft.com/office/drawing/2014/main" id="{CC10E6D5-9CCF-423B-B9F2-C6167940E0E4}"/>
              </a:ext>
            </a:extLst>
          </p:cNvPr>
          <p:cNvSpPr>
            <a:spLocks xmlns:a="http://schemas.openxmlformats.org/drawingml/2006/main" noGrp="1"/>
          </p:cNvSpPr>
          <p:nvPr/>
        </p:nvSpPr>
        <p:spPr>
          <a:xfrm xmlns:a="http://schemas.openxmlformats.org/drawingml/2006/main">
            <a:off x="7277100" y="590550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Included seed creative. Example only.</a:t>
            </a:r>
          </a:p>
        </p:txBody>
      </p:sp>
      <p:sp>
        <p:nvSpPr>
          <p:cNvPr id="11" name="">
            <a:extLst xmlns:a="http://schemas.openxmlformats.org/drawingml/2006/main">
              <a:ext uri="{FF2B5EF4-FFF2-40B4-BE49-F238E27FC236}">
                <a16:creationId xmlns:a16="http://schemas.microsoft.com/office/drawing/2014/main" id="{B341CD9A-D92E-4CC0-81EE-4B55B6A3501E}"/>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E36106-7C6D-4CCE-9697-BBF3C5E65E98}"/>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3" name="">
            <a:extLst xmlns:a="http://schemas.openxmlformats.org/drawingml/2006/main">
              <a:ext uri="{FF2B5EF4-FFF2-40B4-BE49-F238E27FC236}">
                <a16:creationId xmlns:a16="http://schemas.microsoft.com/office/drawing/2014/main" id="{149A06F9-81DB-412C-9102-04C95E66D66C}"/>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06</a:t>
            </a:r>
          </a:p>
        </p:txBody>
      </p:sp>
    </p:spTree>
    <p:extLst>
      <p:ext uri="{BB962C8B-B14F-4D97-AF65-F5344CB8AC3E}">
        <p14:creationId xmlns:p14="http://schemas.microsoft.com/office/powerpoint/2010/main" val="1578396252"/>
      </p:ext>
    </p:extLst>
  </p:cSld>
</p:sld>
</file>

<file path=ppt/slides/slide7.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B50331-F3D1-48D4-8E13-D655D43389CC}"/>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B08CFF"/>
                </a:solidFill>
                <a:latin typeface="Helvetica Neue"/>
                <a:ea typeface="Helvetica Neue"/>
                <a:cs typeface="Helvetica Neue"/>
              </a:defRPr>
            </a:pPr>
            <a:r>
              <a:rPr sz="900" b="1">
                <a:solidFill>
                  <a:srgbClr val="B08CFF"/>
                </a:solidFill>
                <a:latin typeface="Helvetica Neue"/>
                <a:ea typeface="Helvetica Neue"/>
                <a:cs typeface="Helvetica Neue"/>
              </a:rPr>
              <a:t>07</a:t>
            </a:r>
          </a:p>
        </p:txBody>
      </p:sp>
      <p:sp>
        <p:nvSpPr>
          <p:cNvPr id="2" name="">
            <a:extLst xmlns:a="http://schemas.openxmlformats.org/drawingml/2006/main">
              <a:ext uri="{FF2B5EF4-FFF2-40B4-BE49-F238E27FC236}">
                <a16:creationId xmlns:a16="http://schemas.microsoft.com/office/drawing/2014/main" id="{BD7EA280-D1E8-45A1-B0A8-12EEF5552B09}"/>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Video and cinematic storytelling</a:t>
            </a:r>
          </a:p>
        </p:txBody>
      </p:sp>
      <p:sp>
        <p:nvSpPr>
          <p:cNvPr id="3" name="">
            <a:extLst xmlns:a="http://schemas.openxmlformats.org/drawingml/2006/main">
              <a:ext uri="{FF2B5EF4-FFF2-40B4-BE49-F238E27FC236}">
                <a16:creationId xmlns:a16="http://schemas.microsoft.com/office/drawing/2014/main" id="{3FD995A1-A73C-4B41-B03E-E61B11D8FCD5}"/>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775"/>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Agentcy supports a reusable vertical marketing-video pipeline alongside a longer-form trailer workflow.</a:t>
            </a:r>
          </a:p>
        </p:txBody>
      </p:sp>
      <p:sp>
        <p:nvSpPr>
          <p:cNvPr id="4" name="">
            <a:extLst xmlns:a="http://schemas.openxmlformats.org/drawingml/2006/main">
              <a:ext uri="{FF2B5EF4-FFF2-40B4-BE49-F238E27FC236}">
                <a16:creationId xmlns:a16="http://schemas.microsoft.com/office/drawing/2014/main" id="{377B1AC2-62D1-46D1-8A59-DD050F91CFFF}"/>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75521C0-3D1A-4825-804F-C73853D2ACC5}"/>
              </a:ext>
            </a:extLst>
          </p:cNvPr>
          <p:cNvSpPr>
            <a:spLocks xmlns:a="http://schemas.openxmlformats.org/drawingml/2006/main" noGrp="1"/>
          </p:cNvSpPr>
          <p:nvPr/>
        </p:nvSpPr>
        <p:spPr>
          <a:xfrm xmlns:a="http://schemas.openxmlformats.org/drawingml/2006/main">
            <a:off x="685800" y="2476500"/>
            <a:ext cx="4714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46"/>
          </a:bodyPr>
          <a:lstStyle xmlns:a="http://schemas.openxmlformats.org/drawingml/2006/main"/>
          <a:p xmlns:a="http://schemas.openxmlformats.org/drawingml/2006/main">
            <a:pPr algn="l">
              <a:lnSpc>
                <a:spcPct val="112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Video Studio saves the brand, product, audience, CTA and a three-to-eight-scene storyboard with each project. It renders the final vertical video locally so captions and product UI remain accurate.</a:t>
            </a:r>
          </a:p>
        </p:txBody>
      </p:sp>
      <p:sp>
        <p:nvSpPr>
          <p:cNvPr id="6" name="">
            <a:extLst xmlns:a="http://schemas.openxmlformats.org/drawingml/2006/main">
              <a:ext uri="{FF2B5EF4-FFF2-40B4-BE49-F238E27FC236}">
                <a16:creationId xmlns:a16="http://schemas.microsoft.com/office/drawing/2014/main" id="{3B336E56-18A1-4595-954A-A24F23F7D504}"/>
              </a:ext>
            </a:extLst>
          </p:cNvPr>
          <p:cNvSpPr>
            <a:spLocks xmlns:a="http://schemas.openxmlformats.org/drawingml/2006/main" noGrp="1"/>
          </p:cNvSpPr>
          <p:nvPr/>
        </p:nvSpPr>
        <p:spPr>
          <a:xfrm xmlns:a="http://schemas.openxmlformats.org/drawingml/2006/main">
            <a:off x="685800" y="409575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1425" b="0">
                <a:solidFill>
                  <a:srgbClr val="A5ACB9"/>
                </a:solidFill>
                <a:latin typeface="Helvetica Neue"/>
                <a:ea typeface="Helvetica Neue"/>
                <a:cs typeface="Helvetica Neue"/>
              </a:defRPr>
            </a:pPr>
            <a:r>
              <a:rPr sz="1425" b="0">
                <a:solidFill>
                  <a:srgbClr val="A5ACB9"/>
                </a:solidFill>
                <a:latin typeface="Helvetica Neue"/>
                <a:ea typeface="Helvetica Neue"/>
                <a:cs typeface="Helvetica Neue"/>
              </a:rPr>
              <a:t>Optional b-roll cannot replace the deterministic composition. If a provider is unavailable, the render falls back instead of failing the project.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70ea7aa11784aff"/>
          <a:srcRect xmlns:a="http://schemas.openxmlformats.org/drawingml/2006/main" l="0" t="10" r="0" b="10"/>
          <a:stretch xmlns:a="http://schemas.openxmlformats.org/drawingml/2006/main">
            <a:fillRect l="0" t="0" r="0" b="0"/>
          </a:stretch>
        </p:blipFill>
        <p:spPr>
          <a:xfrm xmlns:a="http://schemas.openxmlformats.org/drawingml/2006/main">
            <a:off x="6238875" y="2476500"/>
            <a:ext cx="5267325" cy="2962275"/>
          </a:xfrm>
          <a:prstGeom xmlns:a="http://schemas.openxmlformats.org/drawingml/2006/main" prst="roundRect">
            <a:avLst>
              <a:gd name="adj" fmla="val 5145"/>
            </a:avLst>
          </a:prstGeom>
        </p:spPr>
      </p:pic>
      <p:sp>
        <p:nvSpPr>
          <p:cNvPr id="8" name="">
            <a:extLst xmlns:a="http://schemas.openxmlformats.org/drawingml/2006/main">
              <a:ext uri="{FF2B5EF4-FFF2-40B4-BE49-F238E27FC236}">
                <a16:creationId xmlns:a16="http://schemas.microsoft.com/office/drawing/2014/main" id="{ADF0EB43-6E1A-4F43-AC8D-A32FD37F7E28}"/>
              </a:ext>
            </a:extLst>
          </p:cNvPr>
          <p:cNvSpPr>
            <a:spLocks xmlns:a="http://schemas.openxmlformats.org/drawingml/2006/main" noGrp="1"/>
          </p:cNvSpPr>
          <p:nvPr/>
        </p:nvSpPr>
        <p:spPr>
          <a:xfrm xmlns:a="http://schemas.openxmlformats.org/drawingml/2006/main">
            <a:off x="6238875" y="55721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Cinematic Trailer frame from the included project assets</a:t>
            </a:r>
          </a:p>
        </p:txBody>
      </p:sp>
      <p:sp>
        <p:nvSpPr>
          <p:cNvPr id="9" name="">
            <a:extLst xmlns:a="http://schemas.openxmlformats.org/drawingml/2006/main">
              <a:ext uri="{FF2B5EF4-FFF2-40B4-BE49-F238E27FC236}">
                <a16:creationId xmlns:a16="http://schemas.microsoft.com/office/drawing/2014/main" id="{39C8766E-B8BA-442F-85AB-C994F8E25731}"/>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C5C99A-8247-42BF-9F98-6EBD4E5BCB2B}"/>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1" name="">
            <a:extLst xmlns:a="http://schemas.openxmlformats.org/drawingml/2006/main">
              <a:ext uri="{FF2B5EF4-FFF2-40B4-BE49-F238E27FC236}">
                <a16:creationId xmlns:a16="http://schemas.microsoft.com/office/drawing/2014/main" id="{CBC8CF85-F04F-4B56-A9FD-498F0C4CA53A}"/>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07</a:t>
            </a:r>
          </a:p>
        </p:txBody>
      </p:sp>
    </p:spTree>
    <p:extLst>
      <p:ext uri="{BB962C8B-B14F-4D97-AF65-F5344CB8AC3E}">
        <p14:creationId xmlns:p14="http://schemas.microsoft.com/office/powerpoint/2010/main" val="1995933458"/>
      </p:ext>
    </p:extLst>
  </p:cSld>
</p:sld>
</file>

<file path=ppt/slides/slide8.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C79EBAF-6F6D-4BCE-AB10-34FA84B4B563}"/>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08</a:t>
            </a:r>
          </a:p>
        </p:txBody>
      </p:sp>
      <p:sp>
        <p:nvSpPr>
          <p:cNvPr id="2" name="">
            <a:extLst xmlns:a="http://schemas.openxmlformats.org/drawingml/2006/main">
              <a:ext uri="{FF2B5EF4-FFF2-40B4-BE49-F238E27FC236}">
                <a16:creationId xmlns:a16="http://schemas.microsoft.com/office/drawing/2014/main" id="{54EBE720-D179-4562-9CFF-FD18541BED73}"/>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The interface makes control visible</a:t>
            </a:r>
          </a:p>
        </p:txBody>
      </p:sp>
      <p:sp>
        <p:nvSpPr>
          <p:cNvPr id="3" name="">
            <a:extLst xmlns:a="http://schemas.openxmlformats.org/drawingml/2006/main">
              <a:ext uri="{FF2B5EF4-FFF2-40B4-BE49-F238E27FC236}">
                <a16:creationId xmlns:a16="http://schemas.microsoft.com/office/drawing/2014/main" id="{92C7B922-E61A-43D8-910C-D2F9D4BAE10E}"/>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Agentcy frames AI work as an observable production process instead of a black-box answer.</a:t>
            </a:r>
          </a:p>
        </p:txBody>
      </p:sp>
      <p:sp>
        <p:nvSpPr>
          <p:cNvPr id="4" name="">
            <a:extLst xmlns:a="http://schemas.openxmlformats.org/drawingml/2006/main">
              <a:ext uri="{FF2B5EF4-FFF2-40B4-BE49-F238E27FC236}">
                <a16:creationId xmlns:a16="http://schemas.microsoft.com/office/drawing/2014/main" id="{C12865CD-90AB-4FF7-A492-373A5E035D3F}"/>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B8D5D9-4AE8-4181-B0B0-BB454D0201F5}"/>
              </a:ext>
            </a:extLst>
          </p:cNvPr>
          <p:cNvSpPr>
            <a:spLocks xmlns:a="http://schemas.openxmlformats.org/drawingml/2006/main" noGrp="1"/>
          </p:cNvSpPr>
          <p:nvPr/>
        </p:nvSpPr>
        <p:spPr>
          <a:xfrm xmlns:a="http://schemas.openxmlformats.org/drawingml/2006/main">
            <a:off x="685800" y="2457450"/>
            <a:ext cx="40957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959"/>
          </a:bodyPr>
          <a:lstStyle xmlns:a="http://schemas.openxmlformats.org/drawingml/2006/main"/>
          <a:p xmlns:a="http://schemas.openxmlformats.org/drawingml/2006/main">
            <a:pPr algn="l">
              <a:lnSpc>
                <a:spcPct val="112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The agent station shows where work sits. The graph shows the production path and revision loops. The gate moves attention from the machine to the decision. History preserves every planning and crew run so it can be reopened later.</a:t>
            </a:r>
          </a:p>
        </p:txBody>
      </p:sp>
      <p:sp>
        <p:nvSpPr>
          <p:cNvPr id="6" name="">
            <a:extLst xmlns:a="http://schemas.openxmlformats.org/drawingml/2006/main">
              <a:ext uri="{FF2B5EF4-FFF2-40B4-BE49-F238E27FC236}">
                <a16:creationId xmlns:a16="http://schemas.microsoft.com/office/drawing/2014/main" id="{EF0B9E37-CF72-4BE4-B036-F38E2DB97668}"/>
              </a:ext>
            </a:extLst>
          </p:cNvPr>
          <p:cNvSpPr>
            <a:spLocks xmlns:a="http://schemas.openxmlformats.org/drawingml/2006/main" noGrp="1"/>
          </p:cNvSpPr>
          <p:nvPr/>
        </p:nvSpPr>
        <p:spPr>
          <a:xfrm xmlns:a="http://schemas.openxmlformats.org/drawingml/2006/main">
            <a:off x="685800" y="44291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98E7C3"/>
                </a:solidFill>
                <a:latin typeface="Helvetica Neue"/>
                <a:ea typeface="Helvetica Neue"/>
                <a:cs typeface="Helvetica Neue"/>
              </a:defRPr>
            </a:pPr>
            <a:r>
              <a:rPr sz="1125" b="1">
                <a:solidFill>
                  <a:srgbClr val="98E7C3"/>
                </a:solidFill>
                <a:latin typeface="Helvetica Neue"/>
                <a:ea typeface="Helvetica Neue"/>
                <a:cs typeface="Helvetica Neue"/>
              </a:rPr>
              <a:t>Light</a:t>
            </a:r>
          </a:p>
        </p:txBody>
      </p:sp>
      <p:sp>
        <p:nvSpPr>
          <p:cNvPr id="7" name="">
            <a:extLst xmlns:a="http://schemas.openxmlformats.org/drawingml/2006/main">
              <a:ext uri="{FF2B5EF4-FFF2-40B4-BE49-F238E27FC236}">
                <a16:creationId xmlns:a16="http://schemas.microsoft.com/office/drawing/2014/main" id="{65C274BA-1419-449D-A3BF-018701740813}"/>
              </a:ext>
            </a:extLst>
          </p:cNvPr>
          <p:cNvSpPr>
            <a:spLocks xmlns:a="http://schemas.openxmlformats.org/drawingml/2006/main" noGrp="1"/>
          </p:cNvSpPr>
          <p:nvPr/>
        </p:nvSpPr>
        <p:spPr>
          <a:xfrm xmlns:a="http://schemas.openxmlformats.org/drawingml/2006/main">
            <a:off x="1743075" y="44291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An active agent is visible at a glance.</a:t>
            </a:r>
          </a:p>
        </p:txBody>
      </p:sp>
      <p:sp>
        <p:nvSpPr>
          <p:cNvPr id="8" name="">
            <a:extLst xmlns:a="http://schemas.openxmlformats.org/drawingml/2006/main">
              <a:ext uri="{FF2B5EF4-FFF2-40B4-BE49-F238E27FC236}">
                <a16:creationId xmlns:a16="http://schemas.microsoft.com/office/drawing/2014/main" id="{C3085364-0F3C-446A-87BF-F863381712EC}"/>
              </a:ext>
            </a:extLst>
          </p:cNvPr>
          <p:cNvSpPr>
            <a:spLocks xmlns:a="http://schemas.openxmlformats.org/drawingml/2006/main" noGrp="1"/>
          </p:cNvSpPr>
          <p:nvPr/>
        </p:nvSpPr>
        <p:spPr>
          <a:xfrm xmlns:a="http://schemas.openxmlformats.org/drawingml/2006/main">
            <a:off x="685800" y="490537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FFBE6A"/>
                </a:solidFill>
                <a:latin typeface="Helvetica Neue"/>
                <a:ea typeface="Helvetica Neue"/>
                <a:cs typeface="Helvetica Neue"/>
              </a:defRPr>
            </a:pPr>
            <a:r>
              <a:rPr sz="1125" b="1">
                <a:solidFill>
                  <a:srgbClr val="FFBE6A"/>
                </a:solidFill>
                <a:latin typeface="Helvetica Neue"/>
                <a:ea typeface="Helvetica Neue"/>
                <a:cs typeface="Helvetica Neue"/>
              </a:rPr>
              <a:t>Amber</a:t>
            </a:r>
          </a:p>
        </p:txBody>
      </p:sp>
      <p:sp>
        <p:nvSpPr>
          <p:cNvPr id="9" name="">
            <a:extLst xmlns:a="http://schemas.openxmlformats.org/drawingml/2006/main">
              <a:ext uri="{FF2B5EF4-FFF2-40B4-BE49-F238E27FC236}">
                <a16:creationId xmlns:a16="http://schemas.microsoft.com/office/drawing/2014/main" id="{8F767E28-509A-4298-91AA-20EB01EC65CD}"/>
              </a:ext>
            </a:extLst>
          </p:cNvPr>
          <p:cNvSpPr>
            <a:spLocks xmlns:a="http://schemas.openxmlformats.org/drawingml/2006/main" noGrp="1"/>
          </p:cNvSpPr>
          <p:nvPr/>
        </p:nvSpPr>
        <p:spPr>
          <a:xfrm xmlns:a="http://schemas.openxmlformats.org/drawingml/2006/main">
            <a:off x="1743075" y="490537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30"/>
          </a:bodyPr>
          <a:lstStyle xmlns:a="http://schemas.openxmlformats.org/drawingml/2006/main"/>
          <a:p xmlns:a="http://schemas.openxmlformats.org/drawingml/2006/main">
            <a:pPr algn="l">
              <a:lnSpc>
                <a:spcPct val="105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A warm signal means a human decision is required.</a:t>
            </a:r>
          </a:p>
        </p:txBody>
      </p:sp>
      <p:sp>
        <p:nvSpPr>
          <p:cNvPr id="10" name="">
            <a:extLst xmlns:a="http://schemas.openxmlformats.org/drawingml/2006/main">
              <a:ext uri="{FF2B5EF4-FFF2-40B4-BE49-F238E27FC236}">
                <a16:creationId xmlns:a16="http://schemas.microsoft.com/office/drawing/2014/main" id="{CAAB4186-7220-4C3A-A8EF-9395593463B7}"/>
              </a:ext>
            </a:extLst>
          </p:cNvPr>
          <p:cNvSpPr>
            <a:spLocks xmlns:a="http://schemas.openxmlformats.org/drawingml/2006/main" noGrp="1"/>
          </p:cNvSpPr>
          <p:nvPr/>
        </p:nvSpPr>
        <p:spPr>
          <a:xfrm xmlns:a="http://schemas.openxmlformats.org/drawingml/2006/main">
            <a:off x="685800" y="53816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98E7C3"/>
                </a:solidFill>
                <a:latin typeface="Helvetica Neue"/>
                <a:ea typeface="Helvetica Neue"/>
                <a:cs typeface="Helvetica Neue"/>
              </a:defRPr>
            </a:pPr>
            <a:r>
              <a:rPr sz="1125" b="1">
                <a:solidFill>
                  <a:srgbClr val="98E7C3"/>
                </a:solidFill>
                <a:latin typeface="Helvetica Neue"/>
                <a:ea typeface="Helvetica Neue"/>
                <a:cs typeface="Helvetica Neue"/>
              </a:rPr>
              <a:t>History</a:t>
            </a:r>
          </a:p>
        </p:txBody>
      </p:sp>
      <p:sp>
        <p:nvSpPr>
          <p:cNvPr id="11" name="">
            <a:extLst xmlns:a="http://schemas.openxmlformats.org/drawingml/2006/main">
              <a:ext uri="{FF2B5EF4-FFF2-40B4-BE49-F238E27FC236}">
                <a16:creationId xmlns:a16="http://schemas.microsoft.com/office/drawing/2014/main" id="{48E98E80-00FC-4C15-B25A-E64868900048}"/>
              </a:ext>
            </a:extLst>
          </p:cNvPr>
          <p:cNvSpPr>
            <a:spLocks xmlns:a="http://schemas.openxmlformats.org/drawingml/2006/main" noGrp="1"/>
          </p:cNvSpPr>
          <p:nvPr/>
        </p:nvSpPr>
        <p:spPr>
          <a:xfrm xmlns:a="http://schemas.openxmlformats.org/drawingml/2006/main">
            <a:off x="1743075" y="53816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43"/>
          </a:bodyPr>
          <a:lstStyle xmlns:a="http://schemas.openxmlformats.org/drawingml/2006/main"/>
          <a:p xmlns:a="http://schemas.openxmlformats.org/drawingml/2006/main">
            <a:pPr algn="l">
              <a:lnSpc>
                <a:spcPct val="105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Past work can be replayed, not merely summarized.</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0772550385548de"/>
          <a:srcRect xmlns:a="http://schemas.openxmlformats.org/drawingml/2006/main" l="0" t="13291" r="0" b="13291"/>
          <a:stretch xmlns:a="http://schemas.openxmlformats.org/drawingml/2006/main">
            <a:fillRect l="0" t="0" r="0" b="0"/>
          </a:stretch>
        </p:blipFill>
        <p:spPr>
          <a:xfrm xmlns:a="http://schemas.openxmlformats.org/drawingml/2006/main">
            <a:off x="5476875" y="2400300"/>
            <a:ext cx="6029325" cy="3390900"/>
          </a:xfrm>
          <a:prstGeom xmlns:a="http://schemas.openxmlformats.org/drawingml/2006/main" prst="roundRect">
            <a:avLst>
              <a:gd name="adj" fmla="val 4494"/>
            </a:avLst>
          </a:prstGeom>
        </p:spPr>
      </p:pic>
      <p:sp>
        <p:nvSpPr>
          <p:cNvPr id="13" name="">
            <a:extLst xmlns:a="http://schemas.openxmlformats.org/drawingml/2006/main">
              <a:ext uri="{FF2B5EF4-FFF2-40B4-BE49-F238E27FC236}">
                <a16:creationId xmlns:a16="http://schemas.microsoft.com/office/drawing/2014/main" id="{64B66AAE-E860-49B1-A186-00ACA2C8C079}"/>
              </a:ext>
            </a:extLst>
          </p:cNvPr>
          <p:cNvSpPr>
            <a:spLocks xmlns:a="http://schemas.openxmlformats.org/drawingml/2006/main" noGrp="1"/>
          </p:cNvSpPr>
          <p:nvPr/>
        </p:nvSpPr>
        <p:spPr>
          <a:xfrm xmlns:a="http://schemas.openxmlformats.org/drawingml/2006/main">
            <a:off x="5476875" y="59055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History screen from the project</a:t>
            </a:r>
          </a:p>
        </p:txBody>
      </p:sp>
      <p:sp>
        <p:nvSpPr>
          <p:cNvPr id="14" name="">
            <a:extLst xmlns:a="http://schemas.openxmlformats.org/drawingml/2006/main">
              <a:ext uri="{FF2B5EF4-FFF2-40B4-BE49-F238E27FC236}">
                <a16:creationId xmlns:a16="http://schemas.microsoft.com/office/drawing/2014/main" id="{9ADC9903-287C-41CC-B85C-FE21410D3349}"/>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34F7784-FA4F-49B9-AB8B-A8AC6C310869}"/>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6" name="">
            <a:extLst xmlns:a="http://schemas.openxmlformats.org/drawingml/2006/main">
              <a:ext uri="{FF2B5EF4-FFF2-40B4-BE49-F238E27FC236}">
                <a16:creationId xmlns:a16="http://schemas.microsoft.com/office/drawing/2014/main" id="{0CFD4010-A6E8-4071-9F54-537E9067DD2B}"/>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08</a:t>
            </a:r>
          </a:p>
        </p:txBody>
      </p:sp>
    </p:spTree>
    <p:extLst>
      <p:ext uri="{BB962C8B-B14F-4D97-AF65-F5344CB8AC3E}">
        <p14:creationId xmlns:p14="http://schemas.microsoft.com/office/powerpoint/2010/main" val="2106230697"/>
      </p:ext>
    </p:extLst>
  </p:cSld>
</p:sld>
</file>

<file path=ppt/slides/slide9.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8B5D574-76C8-4697-AB3E-EBE2CBB5F93F}"/>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09</a:t>
            </a:r>
          </a:p>
        </p:txBody>
      </p:sp>
      <p:sp>
        <p:nvSpPr>
          <p:cNvPr id="2" name="">
            <a:extLst xmlns:a="http://schemas.openxmlformats.org/drawingml/2006/main">
              <a:ext uri="{FF2B5EF4-FFF2-40B4-BE49-F238E27FC236}">
                <a16:creationId xmlns:a16="http://schemas.microsoft.com/office/drawing/2014/main" id="{1B353186-2A09-483D-AAA2-ED3D87753E33}"/>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A dependable technical foundation</a:t>
            </a:r>
          </a:p>
        </p:txBody>
      </p:sp>
      <p:sp>
        <p:nvSpPr>
          <p:cNvPr id="3" name="">
            <a:extLst xmlns:a="http://schemas.openxmlformats.org/drawingml/2006/main">
              <a:ext uri="{FF2B5EF4-FFF2-40B4-BE49-F238E27FC236}">
                <a16:creationId xmlns:a16="http://schemas.microsoft.com/office/drawing/2014/main" id="{DDA6E47B-A96C-4703-8D56-C368A5090F99}"/>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The architecture keeps the workflow reproducible, inspectable and safe to rehearse offline.</a:t>
            </a:r>
          </a:p>
        </p:txBody>
      </p:sp>
      <p:sp>
        <p:nvSpPr>
          <p:cNvPr id="4" name="">
            <a:extLst xmlns:a="http://schemas.openxmlformats.org/drawingml/2006/main">
              <a:ext uri="{FF2B5EF4-FFF2-40B4-BE49-F238E27FC236}">
                <a16:creationId xmlns:a16="http://schemas.microsoft.com/office/drawing/2014/main" id="{52219D29-1226-4DC5-AD28-F9965E1D2556}"/>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C603A5F-5E69-4492-BEA2-EE3D160C62C8}"/>
              </a:ext>
            </a:extLst>
          </p:cNvPr>
          <p:cNvSpPr>
            <a:spLocks xmlns:a="http://schemas.openxmlformats.org/drawingml/2006/main" noGrp="1"/>
          </p:cNvSpPr>
          <p:nvPr/>
        </p:nvSpPr>
        <p:spPr>
          <a:xfrm xmlns:a="http://schemas.openxmlformats.org/drawingml/2006/main">
            <a:off x="685800" y="26670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BF4475AB-E03F-4D45-B0F0-ACC89DC884C8}"/>
              </a:ext>
            </a:extLst>
          </p:cNvPr>
          <p:cNvSpPr>
            <a:spLocks xmlns:a="http://schemas.openxmlformats.org/drawingml/2006/main" noGrp="1"/>
          </p:cNvSpPr>
          <p:nvPr/>
        </p:nvSpPr>
        <p:spPr>
          <a:xfrm xmlns:a="http://schemas.openxmlformats.org/drawingml/2006/main">
            <a:off x="685800" y="2990850"/>
            <a:ext cx="409575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7743EE-31BD-4309-9760-632F9A8FA90B}"/>
              </a:ext>
            </a:extLst>
          </p:cNvPr>
          <p:cNvSpPr>
            <a:spLocks xmlns:a="http://schemas.openxmlformats.org/drawingml/2006/main" noGrp="1"/>
          </p:cNvSpPr>
          <p:nvPr/>
        </p:nvSpPr>
        <p:spPr>
          <a:xfrm xmlns:a="http://schemas.openxmlformats.org/drawingml/2006/main">
            <a:off x="685800" y="31623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F1F3F8"/>
                </a:solidFill>
                <a:latin typeface="Helvetica Neue"/>
                <a:ea typeface="Helvetica Neue"/>
                <a:cs typeface="Helvetica Neue"/>
              </a:defRPr>
            </a:pPr>
            <a:r>
              <a:rPr sz="1650" b="1">
                <a:solidFill>
                  <a:srgbClr val="F1F3F8"/>
                </a:solidFill>
                <a:latin typeface="Helvetica Neue"/>
                <a:ea typeface="Helvetica Neue"/>
                <a:cs typeface="Helvetica Neue"/>
              </a:rPr>
              <a:t>Workflow</a:t>
            </a:r>
          </a:p>
        </p:txBody>
      </p:sp>
      <p:sp>
        <p:nvSpPr>
          <p:cNvPr id="8" name="">
            <a:extLst xmlns:a="http://schemas.openxmlformats.org/drawingml/2006/main">
              <a:ext uri="{FF2B5EF4-FFF2-40B4-BE49-F238E27FC236}">
                <a16:creationId xmlns:a16="http://schemas.microsoft.com/office/drawing/2014/main" id="{6DC401D4-72DE-4235-9B9C-54250549BCFC}"/>
              </a:ext>
            </a:extLst>
          </p:cNvPr>
          <p:cNvSpPr>
            <a:spLocks xmlns:a="http://schemas.openxmlformats.org/drawingml/2006/main" noGrp="1"/>
          </p:cNvSpPr>
          <p:nvPr/>
        </p:nvSpPr>
        <p:spPr>
          <a:xfrm xmlns:a="http://schemas.openxmlformats.org/drawingml/2006/main">
            <a:off x="685800" y="35623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A5ACB9"/>
                </a:solidFill>
                <a:latin typeface="Helvetica Neue"/>
                <a:ea typeface="Helvetica Neue"/>
                <a:cs typeface="Helvetica Neue"/>
              </a:defRPr>
            </a:pPr>
            <a:r>
              <a:rPr sz="1275" b="0">
                <a:solidFill>
                  <a:srgbClr val="A5ACB9"/>
                </a:solidFill>
                <a:latin typeface="Helvetica Neue"/>
                <a:ea typeface="Helvetica Neue"/>
                <a:cs typeface="Helvetica Neue"/>
              </a:rPr>
              <a:t>FastAPI serves the console and API. A fixed campaign state machine prevents skipped stages.</a:t>
            </a:r>
          </a:p>
        </p:txBody>
      </p:sp>
      <p:sp>
        <p:nvSpPr>
          <p:cNvPr id="9" name="">
            <a:extLst xmlns:a="http://schemas.openxmlformats.org/drawingml/2006/main">
              <a:ext uri="{FF2B5EF4-FFF2-40B4-BE49-F238E27FC236}">
                <a16:creationId xmlns:a16="http://schemas.microsoft.com/office/drawing/2014/main" id="{EFBE7A8D-3497-4C38-B81B-149926082112}"/>
              </a:ext>
            </a:extLst>
          </p:cNvPr>
          <p:cNvSpPr>
            <a:spLocks xmlns:a="http://schemas.openxmlformats.org/drawingml/2006/main" noGrp="1"/>
          </p:cNvSpPr>
          <p:nvPr/>
        </p:nvSpPr>
        <p:spPr>
          <a:xfrm xmlns:a="http://schemas.openxmlformats.org/drawingml/2006/main">
            <a:off x="6067425" y="26670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B49CABEF-5C26-4DF0-BCB8-A2CC48A5ABDE}"/>
              </a:ext>
            </a:extLst>
          </p:cNvPr>
          <p:cNvSpPr>
            <a:spLocks xmlns:a="http://schemas.openxmlformats.org/drawingml/2006/main" noGrp="1"/>
          </p:cNvSpPr>
          <p:nvPr/>
        </p:nvSpPr>
        <p:spPr>
          <a:xfrm xmlns:a="http://schemas.openxmlformats.org/drawingml/2006/main">
            <a:off x="6067425" y="2990850"/>
            <a:ext cx="409575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04D084E-BB09-43F6-BD97-08C13549DF29}"/>
              </a:ext>
            </a:extLst>
          </p:cNvPr>
          <p:cNvSpPr>
            <a:spLocks xmlns:a="http://schemas.openxmlformats.org/drawingml/2006/main" noGrp="1"/>
          </p:cNvSpPr>
          <p:nvPr/>
        </p:nvSpPr>
        <p:spPr>
          <a:xfrm xmlns:a="http://schemas.openxmlformats.org/drawingml/2006/main">
            <a:off x="6067425" y="31623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F1F3F8"/>
                </a:solidFill>
                <a:latin typeface="Helvetica Neue"/>
                <a:ea typeface="Helvetica Neue"/>
                <a:cs typeface="Helvetica Neue"/>
              </a:defRPr>
            </a:pPr>
            <a:r>
              <a:rPr sz="1650" b="1">
                <a:solidFill>
                  <a:srgbClr val="F1F3F8"/>
                </a:solidFill>
                <a:latin typeface="Helvetica Neue"/>
                <a:ea typeface="Helvetica Neue"/>
                <a:cs typeface="Helvetica Neue"/>
              </a:rPr>
              <a:t>Grounding</a:t>
            </a:r>
          </a:p>
        </p:txBody>
      </p:sp>
      <p:sp>
        <p:nvSpPr>
          <p:cNvPr id="12" name="">
            <a:extLst xmlns:a="http://schemas.openxmlformats.org/drawingml/2006/main">
              <a:ext uri="{FF2B5EF4-FFF2-40B4-BE49-F238E27FC236}">
                <a16:creationId xmlns:a16="http://schemas.microsoft.com/office/drawing/2014/main" id="{7231D878-BE17-463F-B19E-F378D053727F}"/>
              </a:ext>
            </a:extLst>
          </p:cNvPr>
          <p:cNvSpPr>
            <a:spLocks xmlns:a="http://schemas.openxmlformats.org/drawingml/2006/main" noGrp="1"/>
          </p:cNvSpPr>
          <p:nvPr/>
        </p:nvSpPr>
        <p:spPr>
          <a:xfrm xmlns:a="http://schemas.openxmlformats.org/drawingml/2006/main">
            <a:off x="6067425" y="35623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A5ACB9"/>
                </a:solidFill>
                <a:latin typeface="Helvetica Neue"/>
                <a:ea typeface="Helvetica Neue"/>
                <a:cs typeface="Helvetica Neue"/>
              </a:defRPr>
            </a:pPr>
            <a:r>
              <a:rPr sz="1275" b="0">
                <a:solidFill>
                  <a:srgbClr val="A5ACB9"/>
                </a:solidFill>
                <a:latin typeface="Helvetica Neue"/>
                <a:ea typeface="Helvetica Neue"/>
                <a:cs typeface="Helvetica Neue"/>
              </a:rPr>
              <a:t>Chroma keeps company knowledge and trend data in separate collections, with different authority.</a:t>
            </a:r>
          </a:p>
        </p:txBody>
      </p:sp>
      <p:sp>
        <p:nvSpPr>
          <p:cNvPr id="13" name="">
            <a:extLst xmlns:a="http://schemas.openxmlformats.org/drawingml/2006/main">
              <a:ext uri="{FF2B5EF4-FFF2-40B4-BE49-F238E27FC236}">
                <a16:creationId xmlns:a16="http://schemas.microsoft.com/office/drawing/2014/main" id="{A63A8537-0B1A-4D25-A142-C36C68947033}"/>
              </a:ext>
            </a:extLst>
          </p:cNvPr>
          <p:cNvSpPr>
            <a:spLocks xmlns:a="http://schemas.openxmlformats.org/drawingml/2006/main" noGrp="1"/>
          </p:cNvSpPr>
          <p:nvPr/>
        </p:nvSpPr>
        <p:spPr>
          <a:xfrm xmlns:a="http://schemas.openxmlformats.org/drawingml/2006/main">
            <a:off x="685800" y="43434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E1745A77-76B7-4EA7-8BCD-FFCED7D0C319}"/>
              </a:ext>
            </a:extLst>
          </p:cNvPr>
          <p:cNvSpPr>
            <a:spLocks xmlns:a="http://schemas.openxmlformats.org/drawingml/2006/main" noGrp="1"/>
          </p:cNvSpPr>
          <p:nvPr/>
        </p:nvSpPr>
        <p:spPr>
          <a:xfrm xmlns:a="http://schemas.openxmlformats.org/drawingml/2006/main">
            <a:off x="685800" y="4667250"/>
            <a:ext cx="409575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353D50F-6269-44EF-A139-7CFE2DE17B1E}"/>
              </a:ext>
            </a:extLst>
          </p:cNvPr>
          <p:cNvSpPr>
            <a:spLocks xmlns:a="http://schemas.openxmlformats.org/drawingml/2006/main" noGrp="1"/>
          </p:cNvSpPr>
          <p:nvPr/>
        </p:nvSpPr>
        <p:spPr>
          <a:xfrm xmlns:a="http://schemas.openxmlformats.org/drawingml/2006/main">
            <a:off x="685800" y="48387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F1F3F8"/>
                </a:solidFill>
                <a:latin typeface="Helvetica Neue"/>
                <a:ea typeface="Helvetica Neue"/>
                <a:cs typeface="Helvetica Neue"/>
              </a:defRPr>
            </a:pPr>
            <a:r>
              <a:rPr sz="1650" b="1">
                <a:solidFill>
                  <a:srgbClr val="F1F3F8"/>
                </a:solidFill>
                <a:latin typeface="Helvetica Neue"/>
                <a:ea typeface="Helvetica Neue"/>
                <a:cs typeface="Helvetica Neue"/>
              </a:rPr>
              <a:t>Generation</a:t>
            </a:r>
          </a:p>
        </p:txBody>
      </p:sp>
      <p:sp>
        <p:nvSpPr>
          <p:cNvPr id="16" name="">
            <a:extLst xmlns:a="http://schemas.openxmlformats.org/drawingml/2006/main">
              <a:ext uri="{FF2B5EF4-FFF2-40B4-BE49-F238E27FC236}">
                <a16:creationId xmlns:a16="http://schemas.microsoft.com/office/drawing/2014/main" id="{517CB92D-39B9-44A8-8909-394E2AD1F053}"/>
              </a:ext>
            </a:extLst>
          </p:cNvPr>
          <p:cNvSpPr>
            <a:spLocks xmlns:a="http://schemas.openxmlformats.org/drawingml/2006/main" noGrp="1"/>
          </p:cNvSpPr>
          <p:nvPr/>
        </p:nvSpPr>
        <p:spPr>
          <a:xfrm xmlns:a="http://schemas.openxmlformats.org/drawingml/2006/main">
            <a:off x="685800" y="52387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A5ACB9"/>
                </a:solidFill>
                <a:latin typeface="Helvetica Neue"/>
                <a:ea typeface="Helvetica Neue"/>
                <a:cs typeface="Helvetica Neue"/>
              </a:defRPr>
            </a:pPr>
            <a:r>
              <a:rPr sz="1275" b="0">
                <a:solidFill>
                  <a:srgbClr val="A5ACB9"/>
                </a:solidFill>
                <a:latin typeface="Helvetica Neue"/>
                <a:ea typeface="Helvetica Neue"/>
                <a:cs typeface="Helvetica Neue"/>
              </a:rPr>
              <a:t>LangGraph models the crew and bounds director revisions. Schema-constrained outputs carry work between agents.</a:t>
            </a:r>
          </a:p>
        </p:txBody>
      </p:sp>
      <p:sp>
        <p:nvSpPr>
          <p:cNvPr id="17" name="">
            <a:extLst xmlns:a="http://schemas.openxmlformats.org/drawingml/2006/main">
              <a:ext uri="{FF2B5EF4-FFF2-40B4-BE49-F238E27FC236}">
                <a16:creationId xmlns:a16="http://schemas.microsoft.com/office/drawing/2014/main" id="{5518E2F4-0023-4BE7-9F72-485FC860FF0C}"/>
              </a:ext>
            </a:extLst>
          </p:cNvPr>
          <p:cNvSpPr>
            <a:spLocks xmlns:a="http://schemas.openxmlformats.org/drawingml/2006/main" noGrp="1"/>
          </p:cNvSpPr>
          <p:nvPr/>
        </p:nvSpPr>
        <p:spPr>
          <a:xfrm xmlns:a="http://schemas.openxmlformats.org/drawingml/2006/main">
            <a:off x="6067425" y="43434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04</a:t>
            </a:r>
          </a:p>
        </p:txBody>
      </p:sp>
      <p:sp>
        <p:nvSpPr>
          <p:cNvPr id="18" name="">
            <a:extLst xmlns:a="http://schemas.openxmlformats.org/drawingml/2006/main">
              <a:ext uri="{FF2B5EF4-FFF2-40B4-BE49-F238E27FC236}">
                <a16:creationId xmlns:a16="http://schemas.microsoft.com/office/drawing/2014/main" id="{2232D62E-16AD-4928-B594-3F941F7BD136}"/>
              </a:ext>
            </a:extLst>
          </p:cNvPr>
          <p:cNvSpPr>
            <a:spLocks xmlns:a="http://schemas.openxmlformats.org/drawingml/2006/main" noGrp="1"/>
          </p:cNvSpPr>
          <p:nvPr/>
        </p:nvSpPr>
        <p:spPr>
          <a:xfrm xmlns:a="http://schemas.openxmlformats.org/drawingml/2006/main">
            <a:off x="6067425" y="4667250"/>
            <a:ext cx="409575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9A4AA3F-98D9-4741-830D-7E81081BEAEF}"/>
              </a:ext>
            </a:extLst>
          </p:cNvPr>
          <p:cNvSpPr>
            <a:spLocks xmlns:a="http://schemas.openxmlformats.org/drawingml/2006/main" noGrp="1"/>
          </p:cNvSpPr>
          <p:nvPr/>
        </p:nvSpPr>
        <p:spPr>
          <a:xfrm xmlns:a="http://schemas.openxmlformats.org/drawingml/2006/main">
            <a:off x="6067425" y="48387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F1F3F8"/>
                </a:solidFill>
                <a:latin typeface="Helvetica Neue"/>
                <a:ea typeface="Helvetica Neue"/>
                <a:cs typeface="Helvetica Neue"/>
              </a:defRPr>
            </a:pPr>
            <a:r>
              <a:rPr sz="1650" b="1">
                <a:solidFill>
                  <a:srgbClr val="F1F3F8"/>
                </a:solidFill>
                <a:latin typeface="Helvetica Neue"/>
                <a:ea typeface="Helvetica Neue"/>
                <a:cs typeface="Helvetica Neue"/>
              </a:rPr>
              <a:t>Rehearsal</a:t>
            </a:r>
          </a:p>
        </p:txBody>
      </p:sp>
      <p:sp>
        <p:nvSpPr>
          <p:cNvPr id="20" name="">
            <a:extLst xmlns:a="http://schemas.openxmlformats.org/drawingml/2006/main">
              <a:ext uri="{FF2B5EF4-FFF2-40B4-BE49-F238E27FC236}">
                <a16:creationId xmlns:a16="http://schemas.microsoft.com/office/drawing/2014/main" id="{10B386F4-3291-4257-A207-5350F0E0E468}"/>
              </a:ext>
            </a:extLst>
          </p:cNvPr>
          <p:cNvSpPr>
            <a:spLocks xmlns:a="http://schemas.openxmlformats.org/drawingml/2006/main" noGrp="1"/>
          </p:cNvSpPr>
          <p:nvPr/>
        </p:nvSpPr>
        <p:spPr>
          <a:xfrm xmlns:a="http://schemas.openxmlformats.org/drawingml/2006/main">
            <a:off x="6067425" y="52387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A5ACB9"/>
                </a:solidFill>
                <a:latin typeface="Helvetica Neue"/>
                <a:ea typeface="Helvetica Neue"/>
                <a:cs typeface="Helvetica Neue"/>
              </a:defRPr>
            </a:pPr>
            <a:r>
              <a:rPr sz="1275" b="0">
                <a:solidFill>
                  <a:srgbClr val="A5ACB9"/>
                </a:solidFill>
                <a:latin typeface="Helvetica Neue"/>
                <a:ea typeface="Helvetica Neue"/>
                <a:cs typeface="Helvetica Neue"/>
              </a:rPr>
              <a:t>Demo providers run the real retrieval, gates and revision loop without API keys. Demo copy carries a [demo] prefix.</a:t>
            </a:r>
          </a:p>
        </p:txBody>
      </p:sp>
      <p:sp>
        <p:nvSpPr>
          <p:cNvPr id="21" name="">
            <a:extLst xmlns:a="http://schemas.openxmlformats.org/drawingml/2006/main">
              <a:ext uri="{FF2B5EF4-FFF2-40B4-BE49-F238E27FC236}">
                <a16:creationId xmlns:a16="http://schemas.microsoft.com/office/drawing/2014/main" id="{EEC73C18-719E-4E3B-B688-B23986FD36A7}"/>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B844D90-3714-4EDD-AEF8-0EC574A3F481}"/>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3" name="">
            <a:extLst xmlns:a="http://schemas.openxmlformats.org/drawingml/2006/main">
              <a:ext uri="{FF2B5EF4-FFF2-40B4-BE49-F238E27FC236}">
                <a16:creationId xmlns:a16="http://schemas.microsoft.com/office/drawing/2014/main" id="{DBDB3457-772B-4133-91B2-51E968160F8E}"/>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09</a:t>
            </a:r>
          </a:p>
        </p:txBody>
      </p:sp>
    </p:spTree>
    <p:extLst>
      <p:ext uri="{BB962C8B-B14F-4D97-AF65-F5344CB8AC3E}">
        <p14:creationId xmlns:p14="http://schemas.microsoft.com/office/powerpoint/2010/main" val="2076651232"/>
      </p:ext>
    </p:extLst>
  </p:cSld>
</p:sld>
</file>

<file path=ppt/slides/slide10.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B81967-3246-4688-88C3-3055BA78E0F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8E7C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D99AC1-0CF8-4A0D-9357-369F5D8850F1}"/>
              </a:ext>
            </a:extLst>
          </p:cNvPr>
          <p:cNvSpPr>
            <a:spLocks xmlns:a="http://schemas.openxmlformats.org/drawingml/2006/main" noGrp="1"/>
          </p:cNvSpPr>
          <p:nvPr/>
        </p:nvSpPr>
        <p:spPr>
          <a:xfrm xmlns:a="http://schemas.openxmlformats.org/drawingml/2006/main">
            <a:off x="685800" y="723900"/>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THE PROJECT THESIS</a:t>
            </a:r>
          </a:p>
        </p:txBody>
      </p:sp>
      <p:sp>
        <p:nvSpPr>
          <p:cNvPr id="3" name="">
            <a:extLst xmlns:a="http://schemas.openxmlformats.org/drawingml/2006/main">
              <a:ext uri="{FF2B5EF4-FFF2-40B4-BE49-F238E27FC236}">
                <a16:creationId xmlns:a16="http://schemas.microsoft.com/office/drawing/2014/main" id="{C46E55EC-826B-405A-B8C9-676084530D90}"/>
              </a:ext>
            </a:extLst>
          </p:cNvPr>
          <p:cNvSpPr>
            <a:spLocks xmlns:a="http://schemas.openxmlformats.org/drawingml/2006/main" noGrp="1"/>
          </p:cNvSpPr>
          <p:nvPr/>
        </p:nvSpPr>
        <p:spPr>
          <a:xfrm xmlns:a="http://schemas.openxmlformats.org/drawingml/2006/main">
            <a:off x="685800" y="1257300"/>
            <a:ext cx="5334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825" b="1">
                <a:solidFill>
                  <a:srgbClr val="F1F3F8"/>
                </a:solidFill>
                <a:latin typeface="Helvetica Neue"/>
                <a:ea typeface="Helvetica Neue"/>
                <a:cs typeface="Helvetica Neue"/>
              </a:defRPr>
            </a:pPr>
            <a:r>
              <a:rPr sz="3825" b="1">
                <a:solidFill>
                  <a:srgbClr val="F1F3F8"/>
                </a:solidFill>
                <a:latin typeface="Helvetica Neue"/>
                <a:ea typeface="Helvetica Neue"/>
                <a:cs typeface="Helvetica Neue"/>
              </a:rPr>
              <a:t>Generative speed</a:t>
            </a:r>
          </a:p>
          <a:p xmlns:a="http://schemas.openxmlformats.org/drawingml/2006/main">
            <a:pPr algn="l">
              <a:lnSpc>
                <a:spcPct val="94000"/>
              </a:lnSpc>
              <a:buNone/>
              <a:defRPr sz="3825" b="1">
                <a:solidFill>
                  <a:srgbClr val="F1F3F8"/>
                </a:solidFill>
                <a:latin typeface="Helvetica Neue"/>
                <a:ea typeface="Helvetica Neue"/>
                <a:cs typeface="Helvetica Neue"/>
              </a:defRPr>
            </a:pPr>
            <a:r>
              <a:rPr sz="3825" b="1">
                <a:solidFill>
                  <a:srgbClr val="F1F3F8"/>
                </a:solidFill>
                <a:latin typeface="Helvetica Neue"/>
                <a:ea typeface="Helvetica Neue"/>
                <a:cs typeface="Helvetica Neue"/>
              </a:rPr>
              <a:t>with a human owner</a:t>
            </a:r>
          </a:p>
        </p:txBody>
      </p:sp>
      <p:sp>
        <p:nvSpPr>
          <p:cNvPr id="4" name="">
            <a:extLst xmlns:a="http://schemas.openxmlformats.org/drawingml/2006/main">
              <a:ext uri="{FF2B5EF4-FFF2-40B4-BE49-F238E27FC236}">
                <a16:creationId xmlns:a16="http://schemas.microsoft.com/office/drawing/2014/main" id="{40929DE4-B9B1-427D-BAAC-FD755780F72A}"/>
              </a:ext>
            </a:extLst>
          </p:cNvPr>
          <p:cNvSpPr>
            <a:spLocks xmlns:a="http://schemas.openxmlformats.org/drawingml/2006/main" noGrp="1"/>
          </p:cNvSpPr>
          <p:nvPr/>
        </p:nvSpPr>
        <p:spPr>
          <a:xfrm xmlns:a="http://schemas.openxmlformats.org/drawingml/2006/main">
            <a:off x="685800" y="3067050"/>
            <a:ext cx="5524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102"/>
          </a:bodyPr>
          <a:lstStyle xmlns:a="http://schemas.openxmlformats.org/drawingml/2006/main"/>
          <a:p xmlns:a="http://schemas.openxmlformats.org/drawingml/2006/main">
            <a:pPr algn="l">
              <a:lnSpc>
                <a:spcPct val="112000"/>
              </a:lnSpc>
              <a:buNone/>
              <a:defRPr sz="1800" b="0">
                <a:solidFill>
                  <a:srgbClr val="A5ACB9"/>
                </a:solidFill>
                <a:latin typeface="Helvetica Neue"/>
                <a:ea typeface="Helvetica Neue"/>
                <a:cs typeface="Helvetica Neue"/>
              </a:defRPr>
            </a:pPr>
            <a:r>
              <a:rPr sz="1800" b="0">
                <a:solidFill>
                  <a:srgbClr val="A5ACB9"/>
                </a:solidFill>
                <a:latin typeface="Helvetica Neue"/>
                <a:ea typeface="Helvetica Neue"/>
                <a:cs typeface="Helvetica Neue"/>
              </a:rPr>
              <a:t>Agentcy treats AI marketing as a controlled production system: grounded in the brand, open to local signals, visibly reviewed, and released by people.</a:t>
            </a:r>
          </a:p>
        </p:txBody>
      </p:sp>
      <p:sp>
        <p:nvSpPr>
          <p:cNvPr id="5" name="">
            <a:extLst xmlns:a="http://schemas.openxmlformats.org/drawingml/2006/main">
              <a:ext uri="{FF2B5EF4-FFF2-40B4-BE49-F238E27FC236}">
                <a16:creationId xmlns:a16="http://schemas.microsoft.com/office/drawing/2014/main" id="{058DAA9D-77B2-447B-B725-0E9813F0203B}"/>
              </a:ext>
            </a:extLst>
          </p:cNvPr>
          <p:cNvSpPr>
            <a:spLocks xmlns:a="http://schemas.openxmlformats.org/drawingml/2006/main" noGrp="1"/>
          </p:cNvSpPr>
          <p:nvPr/>
        </p:nvSpPr>
        <p:spPr>
          <a:xfrm xmlns:a="http://schemas.openxmlformats.org/drawingml/2006/main">
            <a:off x="685800" y="4629150"/>
            <a:ext cx="3810000" cy="28575"/>
          </a:xfrm>
          <a:prstGeom xmlns:a="http://schemas.openxmlformats.org/drawingml/2006/main" prst="rect">
            <a:avLst/>
          </a:prstGeom>
          <a:solidFill xmlns:a="http://schemas.openxmlformats.org/drawingml/2006/main">
            <a:srgbClr val="98E7C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09D6BE0-C602-4116-9C2D-DE7B033147B5}"/>
              </a:ext>
            </a:extLst>
          </p:cNvPr>
          <p:cNvSpPr>
            <a:spLocks xmlns:a="http://schemas.openxmlformats.org/drawingml/2006/main" noGrp="1"/>
          </p:cNvSpPr>
          <p:nvPr/>
        </p:nvSpPr>
        <p:spPr>
          <a:xfrm xmlns:a="http://schemas.openxmlformats.org/drawingml/2006/main">
            <a:off x="685800" y="48577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28"/>
          </a:bodyPr>
          <a:lstStyle xmlns:a="http://schemas.openxmlformats.org/drawingml/2006/main"/>
          <a:p xmlns:a="http://schemas.openxmlformats.org/drawingml/2006/main">
            <a:pPr algn="l">
              <a:lnSpc>
                <a:spcPct val="113000"/>
              </a:lnSpc>
              <a:buNone/>
              <a:defRPr sz="1425" b="0">
                <a:solidFill>
                  <a:srgbClr val="F1F3F8"/>
                </a:solidFill>
                <a:latin typeface="Helvetica Neue"/>
                <a:ea typeface="Helvetica Neue"/>
                <a:cs typeface="Helvetica Neue"/>
              </a:defRPr>
            </a:pPr>
            <a:r>
              <a:rPr sz="1425" b="0">
                <a:solidFill>
                  <a:srgbClr val="F1F3F8"/>
                </a:solidFill>
                <a:latin typeface="Helvetica Neue"/>
                <a:ea typeface="Helvetica Neue"/>
                <a:cs typeface="Helvetica Neue"/>
              </a:rPr>
              <a:t>A useful next evaluation: run one real SME brief through both approval gates and compare the approved output with the team's current production process.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2e3098447e047e6"/>
          <a:stretch xmlns:a="http://schemas.openxmlformats.org/drawingml/2006/main"/>
        </p:blipFill>
        <p:spPr>
          <a:xfrm xmlns:a="http://schemas.openxmlformats.org/drawingml/2006/main">
            <a:off x="7258050" y="1653573"/>
            <a:ext cx="3048000" cy="3207953"/>
          </a:xfrm>
          <a:prstGeom xmlns:a="http://schemas.openxmlformats.org/drawingml/2006/main" prst="roundRect">
            <a:avLst>
              <a:gd name="adj" fmla="val 5000"/>
            </a:avLst>
          </a:prstGeom>
        </p:spPr>
      </p:pic>
      <p:sp>
        <p:nvSpPr>
          <p:cNvPr id="8" name="">
            <a:extLst xmlns:a="http://schemas.openxmlformats.org/drawingml/2006/main">
              <a:ext uri="{FF2B5EF4-FFF2-40B4-BE49-F238E27FC236}">
                <a16:creationId xmlns:a16="http://schemas.microsoft.com/office/drawing/2014/main" id="{18F7B66E-FED1-48AA-9B80-D23542D29F72}"/>
              </a:ext>
            </a:extLst>
          </p:cNvPr>
          <p:cNvSpPr>
            <a:spLocks xmlns:a="http://schemas.openxmlformats.org/drawingml/2006/main" noGrp="1"/>
          </p:cNvSpPr>
          <p:nvPr/>
        </p:nvSpPr>
        <p:spPr>
          <a:xfrm xmlns:a="http://schemas.openxmlformats.org/drawingml/2006/main">
            <a:off x="685800" y="63531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Agentcy</a:t>
            </a:r>
          </a:p>
        </p:txBody>
      </p:sp>
    </p:spTree>
    <p:extLst>
      <p:ext uri="{BB962C8B-B14F-4D97-AF65-F5344CB8AC3E}">
        <p14:creationId xmlns:p14="http://schemas.microsoft.com/office/powerpoint/2010/main" val="4196941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2026-09-07T02:54:36.5380000Z</dcterms:created>
  <dcterms:modified xsi:type="dcterms:W3CDTF">2026-09-07T02:54:36.5380000Z</dcterms:modified>
</coreProperties>
</file>